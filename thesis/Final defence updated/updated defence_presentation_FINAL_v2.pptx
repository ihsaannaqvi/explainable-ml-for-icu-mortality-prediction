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76" r:id="rId6"/>
    <p:sldId id="260" r:id="rId7"/>
    <p:sldId id="261" r:id="rId8"/>
    <p:sldId id="280" r:id="rId9"/>
    <p:sldId id="262" r:id="rId10"/>
    <p:sldId id="263" r:id="rId11"/>
    <p:sldId id="281" r:id="rId12"/>
    <p:sldId id="264" r:id="rId13"/>
    <p:sldId id="275" r:id="rId14"/>
    <p:sldId id="277" r:id="rId15"/>
    <p:sldId id="266" r:id="rId16"/>
    <p:sldId id="273" r:id="rId17"/>
    <p:sldId id="267" r:id="rId18"/>
    <p:sldId id="268" r:id="rId19"/>
    <p:sldId id="269" r:id="rId20"/>
    <p:sldId id="272" r:id="rId21"/>
    <p:sldId id="274" r:id="rId22"/>
    <p:sldId id="271" r:id="rId23"/>
    <p:sldId id="270"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5676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593623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54448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367297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14268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37560" cy="5143500"/>
          </a:xfrm>
          <a:prstGeom prst="rect">
            <a:avLst/>
          </a:prstGeom>
          <a:solidFill>
            <a:srgbClr val="0F2C4F"/>
          </a:solidFill>
          <a:ln w="12700">
            <a:solidFill>
              <a:srgbClr val="0F2C4F"/>
            </a:solidFill>
            <a:prstDash val="solid"/>
          </a:ln>
        </p:spPr>
      </p:sp>
      <p:sp>
        <p:nvSpPr>
          <p:cNvPr id="6" name="Text 4"/>
          <p:cNvSpPr/>
          <p:nvPr/>
        </p:nvSpPr>
        <p:spPr>
          <a:xfrm>
            <a:off x="365760" y="1691640"/>
            <a:ext cx="2926080" cy="274320"/>
          </a:xfrm>
          <a:prstGeom prst="rect">
            <a:avLst/>
          </a:prstGeom>
          <a:noFill/>
          <a:ln/>
        </p:spPr>
        <p:txBody>
          <a:bodyPr wrap="square" rtlCol="0" anchor="ctr"/>
          <a:lstStyle/>
          <a:p>
            <a:pPr marL="0" indent="0">
              <a:buNone/>
            </a:pPr>
            <a:r>
              <a:rPr lang="en-US" sz="1200" b="1" kern="0" spc="200" dirty="0">
                <a:solidFill>
                  <a:srgbClr val="B4C7E7"/>
                </a:solidFill>
              </a:rPr>
              <a:t>NATIONAL RESEARCH</a:t>
            </a:r>
            <a:endParaRPr lang="en-US" sz="1200" b="1" dirty="0"/>
          </a:p>
        </p:txBody>
      </p:sp>
      <p:sp>
        <p:nvSpPr>
          <p:cNvPr id="7" name="Text 5"/>
          <p:cNvSpPr/>
          <p:nvPr/>
        </p:nvSpPr>
        <p:spPr>
          <a:xfrm>
            <a:off x="365760" y="1965960"/>
            <a:ext cx="2926080" cy="777240"/>
          </a:xfrm>
          <a:prstGeom prst="rect">
            <a:avLst/>
          </a:prstGeom>
          <a:noFill/>
          <a:ln/>
        </p:spPr>
        <p:txBody>
          <a:bodyPr wrap="square" rtlCol="0" anchor="ctr"/>
          <a:lstStyle/>
          <a:p>
            <a:pPr marL="0" indent="0">
              <a:lnSpc>
                <a:spcPct val="100000"/>
              </a:lnSpc>
              <a:buNone/>
            </a:pPr>
            <a:r>
              <a:rPr lang="en-US" sz="2000" b="1" dirty="0">
                <a:solidFill>
                  <a:srgbClr val="FFFFFF"/>
                </a:solidFill>
                <a:latin typeface="Georgia" pitchFamily="34" charset="0"/>
                <a:ea typeface="Georgia" pitchFamily="34" charset="-122"/>
                <a:cs typeface="Georgia" pitchFamily="34" charset="-120"/>
              </a:rPr>
              <a:t>TOMSK STATE</a:t>
            </a:r>
            <a:endParaRPr lang="en-US" sz="2000" dirty="0"/>
          </a:p>
          <a:p>
            <a:pPr marL="0" indent="0">
              <a:lnSpc>
                <a:spcPct val="100000"/>
              </a:lnSpc>
              <a:buNone/>
            </a:pPr>
            <a:r>
              <a:rPr lang="en-US" sz="2000" b="1" dirty="0">
                <a:solidFill>
                  <a:srgbClr val="FFFFFF"/>
                </a:solidFill>
                <a:latin typeface="Georgia" pitchFamily="34" charset="0"/>
                <a:ea typeface="Georgia" pitchFamily="34" charset="-122"/>
                <a:cs typeface="Georgia" pitchFamily="34" charset="-120"/>
              </a:rPr>
              <a:t>UNIVERSITY</a:t>
            </a:r>
            <a:endParaRPr lang="en-US" sz="2000" dirty="0"/>
          </a:p>
        </p:txBody>
      </p:sp>
      <p:sp>
        <p:nvSpPr>
          <p:cNvPr id="8" name="Text 6"/>
          <p:cNvSpPr/>
          <p:nvPr/>
        </p:nvSpPr>
        <p:spPr>
          <a:xfrm>
            <a:off x="365760" y="2788920"/>
            <a:ext cx="2926080" cy="457200"/>
          </a:xfrm>
          <a:prstGeom prst="rect">
            <a:avLst/>
          </a:prstGeom>
          <a:noFill/>
          <a:ln/>
        </p:spPr>
        <p:txBody>
          <a:bodyPr wrap="square" rtlCol="0" anchor="ctr"/>
          <a:lstStyle/>
          <a:p>
            <a:pPr marL="0" indent="0">
              <a:lnSpc>
                <a:spcPct val="120000"/>
              </a:lnSpc>
              <a:buNone/>
            </a:pPr>
            <a:r>
              <a:rPr lang="en-US" sz="1200" b="1" i="1" dirty="0">
                <a:solidFill>
                  <a:srgbClr val="B4C7E7"/>
                </a:solidFill>
              </a:rPr>
              <a:t>Faculty of Applied Mathematics</a:t>
            </a:r>
            <a:endParaRPr lang="en-US" sz="1200" b="1" dirty="0"/>
          </a:p>
          <a:p>
            <a:pPr marL="0" indent="0">
              <a:lnSpc>
                <a:spcPct val="120000"/>
              </a:lnSpc>
              <a:buNone/>
            </a:pPr>
            <a:r>
              <a:rPr lang="en-US" sz="1200" b="1" i="1" dirty="0">
                <a:solidFill>
                  <a:srgbClr val="B4C7E7"/>
                </a:solidFill>
              </a:rPr>
              <a:t>&amp; Computer Science</a:t>
            </a:r>
            <a:endParaRPr lang="en-US" sz="1200" b="1" dirty="0"/>
          </a:p>
        </p:txBody>
      </p:sp>
      <p:sp>
        <p:nvSpPr>
          <p:cNvPr id="9" name="Shape 7"/>
          <p:cNvSpPr/>
          <p:nvPr/>
        </p:nvSpPr>
        <p:spPr>
          <a:xfrm>
            <a:off x="365760" y="3383280"/>
            <a:ext cx="1371600" cy="36576"/>
          </a:xfrm>
          <a:prstGeom prst="rect">
            <a:avLst/>
          </a:prstGeom>
          <a:solidFill>
            <a:srgbClr val="2E75B6"/>
          </a:solidFill>
          <a:ln w="12700">
            <a:solidFill>
              <a:srgbClr val="2E75B6"/>
            </a:solidFill>
            <a:prstDash val="solid"/>
          </a:ln>
        </p:spPr>
      </p:sp>
      <p:sp>
        <p:nvSpPr>
          <p:cNvPr id="10" name="Text 8"/>
          <p:cNvSpPr/>
          <p:nvPr/>
        </p:nvSpPr>
        <p:spPr>
          <a:xfrm>
            <a:off x="365760" y="3520440"/>
            <a:ext cx="2926080" cy="274320"/>
          </a:xfrm>
          <a:prstGeom prst="rect">
            <a:avLst/>
          </a:prstGeom>
          <a:noFill/>
          <a:ln/>
        </p:spPr>
        <p:txBody>
          <a:bodyPr wrap="square" rtlCol="0" anchor="ctr"/>
          <a:lstStyle/>
          <a:p>
            <a:pPr marL="0" indent="0">
              <a:buNone/>
            </a:pPr>
            <a:r>
              <a:rPr lang="en-US" sz="1000" b="1" kern="0" spc="150" dirty="0">
                <a:solidFill>
                  <a:srgbClr val="FFFFFF"/>
                </a:solidFill>
              </a:rPr>
              <a:t>MASTER'S THESIS DEFENCE</a:t>
            </a:r>
            <a:endParaRPr lang="en-US" sz="1000" dirty="0"/>
          </a:p>
        </p:txBody>
      </p:sp>
      <p:sp>
        <p:nvSpPr>
          <p:cNvPr id="11" name="Text 9"/>
          <p:cNvSpPr/>
          <p:nvPr/>
        </p:nvSpPr>
        <p:spPr>
          <a:xfrm>
            <a:off x="365760" y="3822192"/>
            <a:ext cx="2926080" cy="457200"/>
          </a:xfrm>
          <a:prstGeom prst="rect">
            <a:avLst/>
          </a:prstGeom>
          <a:noFill/>
          <a:ln/>
        </p:spPr>
        <p:txBody>
          <a:bodyPr wrap="square" rtlCol="0" anchor="ctr"/>
          <a:lstStyle/>
          <a:p>
            <a:pPr marL="0" indent="0">
              <a:lnSpc>
                <a:spcPct val="120000"/>
              </a:lnSpc>
              <a:buNone/>
            </a:pPr>
            <a:r>
              <a:rPr lang="en-US" sz="1200" b="1" dirty="0">
                <a:solidFill>
                  <a:srgbClr val="B4C7E7"/>
                </a:solidFill>
              </a:rPr>
              <a:t>01.04.02 · Applied Mathematics</a:t>
            </a:r>
            <a:endParaRPr lang="en-US" sz="1200" b="1" dirty="0"/>
          </a:p>
          <a:p>
            <a:pPr marL="0" indent="0">
              <a:lnSpc>
                <a:spcPct val="120000"/>
              </a:lnSpc>
              <a:buNone/>
            </a:pPr>
            <a:r>
              <a:rPr lang="en-US" sz="1200" b="1" dirty="0">
                <a:solidFill>
                  <a:srgbClr val="B4C7E7"/>
                </a:solidFill>
              </a:rPr>
              <a:t>and Computer Science </a:t>
            </a:r>
          </a:p>
          <a:p>
            <a:pPr marL="0" indent="0">
              <a:lnSpc>
                <a:spcPct val="120000"/>
              </a:lnSpc>
              <a:buNone/>
            </a:pPr>
            <a:r>
              <a:rPr lang="en-US" sz="1200" b="1" dirty="0">
                <a:solidFill>
                  <a:srgbClr val="B4C7E7"/>
                </a:solidFill>
              </a:rPr>
              <a:t>Master Degree :Data Science </a:t>
            </a:r>
            <a:endParaRPr lang="en-US" sz="1200" b="1" dirty="0"/>
          </a:p>
        </p:txBody>
      </p:sp>
      <p:sp>
        <p:nvSpPr>
          <p:cNvPr id="12" name="Text 10"/>
          <p:cNvSpPr/>
          <p:nvPr/>
        </p:nvSpPr>
        <p:spPr>
          <a:xfrm>
            <a:off x="365760" y="4736592"/>
            <a:ext cx="2926080" cy="274320"/>
          </a:xfrm>
          <a:prstGeom prst="rect">
            <a:avLst/>
          </a:prstGeom>
          <a:noFill/>
          <a:ln/>
        </p:spPr>
        <p:txBody>
          <a:bodyPr wrap="square" rtlCol="0" anchor="ctr"/>
          <a:lstStyle/>
          <a:p>
            <a:pPr marL="0" indent="0">
              <a:buNone/>
            </a:pPr>
            <a:r>
              <a:rPr lang="en-US" sz="1200" b="1" i="1" dirty="0">
                <a:solidFill>
                  <a:srgbClr val="B4C7E7"/>
                </a:solidFill>
              </a:rPr>
              <a:t>Tomsk · 2026</a:t>
            </a:r>
            <a:endParaRPr lang="en-US" sz="1200" b="1" dirty="0"/>
          </a:p>
        </p:txBody>
      </p:sp>
      <p:sp>
        <p:nvSpPr>
          <p:cNvPr id="13" name="Shape 11"/>
          <p:cNvSpPr/>
          <p:nvPr/>
        </p:nvSpPr>
        <p:spPr>
          <a:xfrm>
            <a:off x="3703320" y="411480"/>
            <a:ext cx="1417320" cy="45720"/>
          </a:xfrm>
          <a:prstGeom prst="rect">
            <a:avLst/>
          </a:prstGeom>
          <a:solidFill>
            <a:srgbClr val="2E75B6"/>
          </a:solidFill>
          <a:ln w="12700">
            <a:solidFill>
              <a:srgbClr val="2E75B6"/>
            </a:solidFill>
            <a:prstDash val="solid"/>
          </a:ln>
        </p:spPr>
      </p:sp>
      <p:sp>
        <p:nvSpPr>
          <p:cNvPr id="14" name="Text 12"/>
          <p:cNvSpPr/>
          <p:nvPr/>
        </p:nvSpPr>
        <p:spPr>
          <a:xfrm>
            <a:off x="3703320" y="502920"/>
            <a:ext cx="5029200" cy="274320"/>
          </a:xfrm>
          <a:prstGeom prst="rect">
            <a:avLst/>
          </a:prstGeom>
          <a:noFill/>
          <a:ln/>
        </p:spPr>
        <p:txBody>
          <a:bodyPr wrap="square" rtlCol="0" anchor="ctr"/>
          <a:lstStyle/>
          <a:p>
            <a:pPr marL="0" indent="0">
              <a:buNone/>
            </a:pPr>
            <a:r>
              <a:rPr lang="en-US" sz="1200" b="1" kern="0" spc="200" dirty="0">
                <a:solidFill>
                  <a:srgbClr val="2E75B6"/>
                </a:solidFill>
              </a:rPr>
              <a:t>PHYSIONET 2012  ·  ICU MORTALITY</a:t>
            </a:r>
            <a:endParaRPr lang="en-US" sz="1200" b="1" dirty="0"/>
          </a:p>
        </p:txBody>
      </p:sp>
      <p:sp>
        <p:nvSpPr>
          <p:cNvPr id="15" name="Text 13"/>
          <p:cNvSpPr/>
          <p:nvPr/>
        </p:nvSpPr>
        <p:spPr>
          <a:xfrm>
            <a:off x="3703320" y="1005840"/>
            <a:ext cx="5120640" cy="1714500"/>
          </a:xfrm>
          <a:prstGeom prst="rect">
            <a:avLst/>
          </a:prstGeom>
          <a:noFill/>
          <a:ln/>
        </p:spPr>
        <p:txBody>
          <a:bodyPr wrap="square" rtlCol="0" anchor="ctr"/>
          <a:lstStyle/>
          <a:p>
            <a:pPr>
              <a:lnSpc>
                <a:spcPct val="115000"/>
              </a:lnSpc>
            </a:pPr>
            <a:r>
              <a:rPr lang="en-PK" sz="2800" b="1" dirty="0">
                <a:solidFill>
                  <a:schemeClr val="accent1"/>
                </a:solidFill>
                <a:latin typeface="-apple-system"/>
              </a:rPr>
              <a:t>A method for studying time sequences of clinical indicators of intensive care patients using Shapley values</a:t>
            </a:r>
          </a:p>
          <a:p>
            <a:pPr marL="0" indent="0">
              <a:lnSpc>
                <a:spcPct val="115000"/>
              </a:lnSpc>
              <a:buNone/>
            </a:pPr>
            <a:endParaRPr lang="en-US" sz="2600" b="1" dirty="0">
              <a:solidFill>
                <a:schemeClr val="accent1"/>
              </a:solidFill>
            </a:endParaRPr>
          </a:p>
        </p:txBody>
      </p:sp>
      <p:sp>
        <p:nvSpPr>
          <p:cNvPr id="16" name="Text 14"/>
          <p:cNvSpPr/>
          <p:nvPr/>
        </p:nvSpPr>
        <p:spPr>
          <a:xfrm>
            <a:off x="3703320" y="2697480"/>
            <a:ext cx="5120640" cy="731520"/>
          </a:xfrm>
          <a:prstGeom prst="rect">
            <a:avLst/>
          </a:prstGeom>
          <a:noFill/>
          <a:ln/>
        </p:spPr>
        <p:txBody>
          <a:bodyPr wrap="square" rtlCol="0" anchor="ctr"/>
          <a:lstStyle/>
          <a:p>
            <a:pPr marL="0" indent="0">
              <a:lnSpc>
                <a:spcPct val="130000"/>
              </a:lnSpc>
              <a:buNone/>
            </a:pPr>
            <a:r>
              <a:rPr lang="en-US" sz="1300" b="1" i="1" dirty="0">
                <a:solidFill>
                  <a:srgbClr val="2E75B6"/>
                </a:solidFill>
              </a:rPr>
              <a:t>A Time-Step SHAP Attribution Approach</a:t>
            </a:r>
            <a:endParaRPr lang="en-US" sz="1300" b="1" dirty="0"/>
          </a:p>
          <a:p>
            <a:pPr marL="0" indent="0">
              <a:lnSpc>
                <a:spcPct val="130000"/>
              </a:lnSpc>
              <a:buNone/>
            </a:pPr>
            <a:r>
              <a:rPr lang="en-US" sz="1300" b="1" i="1" dirty="0">
                <a:solidFill>
                  <a:srgbClr val="2E75B6"/>
                </a:solidFill>
              </a:rPr>
              <a:t>on the PhysioNet 2012 Challenge Cohort</a:t>
            </a:r>
            <a:endParaRPr lang="en-US" sz="1300" b="1" dirty="0"/>
          </a:p>
        </p:txBody>
      </p:sp>
      <p:sp>
        <p:nvSpPr>
          <p:cNvPr id="17" name="Shape 15"/>
          <p:cNvSpPr/>
          <p:nvPr/>
        </p:nvSpPr>
        <p:spPr>
          <a:xfrm>
            <a:off x="3703320" y="3611880"/>
            <a:ext cx="5074920" cy="18288"/>
          </a:xfrm>
          <a:prstGeom prst="rect">
            <a:avLst/>
          </a:prstGeom>
          <a:solidFill>
            <a:srgbClr val="E5E7EB"/>
          </a:solidFill>
          <a:ln w="12700">
            <a:solidFill>
              <a:srgbClr val="E5E7EB"/>
            </a:solidFill>
            <a:prstDash val="solid"/>
          </a:ln>
        </p:spPr>
      </p:sp>
      <p:sp>
        <p:nvSpPr>
          <p:cNvPr id="18" name="Text 16"/>
          <p:cNvSpPr/>
          <p:nvPr/>
        </p:nvSpPr>
        <p:spPr>
          <a:xfrm>
            <a:off x="3703320" y="3794760"/>
            <a:ext cx="5029200" cy="201168"/>
          </a:xfrm>
          <a:prstGeom prst="rect">
            <a:avLst/>
          </a:prstGeom>
          <a:noFill/>
          <a:ln/>
        </p:spPr>
        <p:txBody>
          <a:bodyPr wrap="square" rtlCol="0" anchor="ctr"/>
          <a:lstStyle/>
          <a:p>
            <a:pPr marL="0" indent="0">
              <a:buNone/>
            </a:pPr>
            <a:r>
              <a:rPr lang="en-US" sz="1200" b="1" kern="0" spc="150" dirty="0"/>
              <a:t>PRESENTED BY</a:t>
            </a:r>
            <a:endParaRPr lang="en-US" sz="1200" b="1" dirty="0"/>
          </a:p>
        </p:txBody>
      </p:sp>
      <p:sp>
        <p:nvSpPr>
          <p:cNvPr id="19" name="Text 17"/>
          <p:cNvSpPr/>
          <p:nvPr/>
        </p:nvSpPr>
        <p:spPr>
          <a:xfrm>
            <a:off x="3703320" y="4023360"/>
            <a:ext cx="5029200" cy="365760"/>
          </a:xfrm>
          <a:prstGeom prst="rect">
            <a:avLst/>
          </a:prstGeom>
          <a:noFill/>
          <a:ln/>
        </p:spPr>
        <p:txBody>
          <a:bodyPr wrap="square" rtlCol="0" anchor="ctr"/>
          <a:lstStyle/>
          <a:p>
            <a:pPr marL="0" indent="0">
              <a:buNone/>
            </a:pPr>
            <a:r>
              <a:rPr lang="en-US" sz="1700" b="1" dirty="0">
                <a:solidFill>
                  <a:srgbClr val="0F2C4F"/>
                </a:solidFill>
                <a:latin typeface="Georgia" pitchFamily="34" charset="0"/>
                <a:ea typeface="Georgia" pitchFamily="34" charset="-122"/>
                <a:cs typeface="Georgia" pitchFamily="34" charset="-120"/>
              </a:rPr>
              <a:t>Ihsan Naqvi</a:t>
            </a:r>
            <a:endParaRPr lang="en-US" sz="1700" dirty="0"/>
          </a:p>
        </p:txBody>
      </p:sp>
      <p:sp>
        <p:nvSpPr>
          <p:cNvPr id="20" name="Text 18"/>
          <p:cNvSpPr/>
          <p:nvPr/>
        </p:nvSpPr>
        <p:spPr>
          <a:xfrm>
            <a:off x="3703320" y="4498848"/>
            <a:ext cx="5029200" cy="201168"/>
          </a:xfrm>
          <a:prstGeom prst="rect">
            <a:avLst/>
          </a:prstGeom>
          <a:noFill/>
          <a:ln/>
        </p:spPr>
        <p:txBody>
          <a:bodyPr wrap="square" rtlCol="0" anchor="ctr"/>
          <a:lstStyle/>
          <a:p>
            <a:pPr marL="0" indent="0">
              <a:buNone/>
            </a:pPr>
            <a:r>
              <a:rPr lang="en-US" sz="1200" b="1" kern="0" spc="150" dirty="0"/>
              <a:t>SUPERVISOR</a:t>
            </a:r>
            <a:endParaRPr lang="en-US" sz="1200" b="1" dirty="0"/>
          </a:p>
        </p:txBody>
      </p:sp>
      <p:sp>
        <p:nvSpPr>
          <p:cNvPr id="21" name="Text 19"/>
          <p:cNvSpPr/>
          <p:nvPr/>
        </p:nvSpPr>
        <p:spPr>
          <a:xfrm>
            <a:off x="3703320" y="4709160"/>
            <a:ext cx="5029200" cy="292608"/>
          </a:xfrm>
          <a:prstGeom prst="rect">
            <a:avLst/>
          </a:prstGeom>
          <a:noFill/>
          <a:ln/>
        </p:spPr>
        <p:txBody>
          <a:bodyPr wrap="square" rtlCol="0" anchor="ctr"/>
          <a:lstStyle/>
          <a:p>
            <a:pPr marL="0" indent="0">
              <a:buNone/>
            </a:pPr>
            <a:r>
              <a:rPr lang="en-US" sz="1200" b="1" dirty="0"/>
              <a:t>Associate Professor Sergey </a:t>
            </a:r>
            <a:r>
              <a:rPr lang="en-US" sz="1200" b="1" dirty="0" err="1"/>
              <a:t>Axynov</a:t>
            </a:r>
            <a:endParaRPr lang="en-US" sz="1200" b="1" dirty="0"/>
          </a:p>
        </p:txBody>
      </p:sp>
      <p:sp>
        <p:nvSpPr>
          <p:cNvPr id="23" name="Freeform 7">
            <a:extLst>
              <a:ext uri="{FF2B5EF4-FFF2-40B4-BE49-F238E27FC236}">
                <a16:creationId xmlns:a16="http://schemas.microsoft.com/office/drawing/2014/main" id="{2AFA4677-C1CE-49D7-9347-EEE7940AD966}"/>
              </a:ext>
            </a:extLst>
          </p:cNvPr>
          <p:cNvSpPr/>
          <p:nvPr/>
        </p:nvSpPr>
        <p:spPr>
          <a:xfrm>
            <a:off x="0" y="0"/>
            <a:ext cx="3337560" cy="1645920"/>
          </a:xfrm>
          <a:custGeom>
            <a:avLst/>
            <a:gdLst/>
            <a:ahLst/>
            <a:cxnLst/>
            <a:rect l="l" t="t" r="r" b="b"/>
            <a:pathLst>
              <a:path w="11504162" h="4913478">
                <a:moveTo>
                  <a:pt x="0" y="0"/>
                </a:moveTo>
                <a:lnTo>
                  <a:pt x="11504162" y="0"/>
                </a:lnTo>
                <a:lnTo>
                  <a:pt x="11504162" y="4913479"/>
                </a:lnTo>
                <a:lnTo>
                  <a:pt x="0" y="4913479"/>
                </a:lnTo>
                <a:lnTo>
                  <a:pt x="0" y="0"/>
                </a:lnTo>
                <a:close/>
              </a:path>
            </a:pathLst>
          </a:custGeom>
          <a:blipFill>
            <a:blip r:embed="rId3"/>
            <a:stretch>
              <a:fillRect t="-777" b="-777"/>
            </a:stretch>
          </a:blipFill>
        </p:spPr>
        <p:txBody>
          <a:bodyPr/>
          <a:lstStyle/>
          <a:p>
            <a:endParaRPr lang="zh-CN" altLang="en-US" dirty="0"/>
          </a:p>
        </p:txBody>
      </p:sp>
      <p:sp>
        <p:nvSpPr>
          <p:cNvPr id="24" name="Freeform 11">
            <a:extLst>
              <a:ext uri="{FF2B5EF4-FFF2-40B4-BE49-F238E27FC236}">
                <a16:creationId xmlns:a16="http://schemas.microsoft.com/office/drawing/2014/main" id="{32A6F518-4AF4-CD99-E24B-30A57854D465}"/>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02</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6" name="Text 4"/>
          <p:cNvSpPr/>
          <p:nvPr/>
        </p:nvSpPr>
        <p:spPr>
          <a:xfrm>
            <a:off x="8275320" y="566928"/>
            <a:ext cx="658368" cy="201168"/>
          </a:xfrm>
          <a:prstGeom prst="rect">
            <a:avLst/>
          </a:prstGeom>
          <a:noFill/>
          <a:ln/>
        </p:spPr>
        <p:txBody>
          <a:bodyPr wrap="square" rtlCol="0" anchor="ctr"/>
          <a:lstStyle/>
          <a:p>
            <a:pPr marL="0" indent="0" algn="ctr">
              <a:buNone/>
            </a:pPr>
            <a:r>
              <a:rPr lang="en-US" sz="600" b="1" kern="0" spc="100" dirty="0">
                <a:solidFill>
                  <a:srgbClr val="FFFFFF"/>
                </a:solidFill>
              </a:rPr>
              <a:t>TOMSK · 1878</a:t>
            </a:r>
            <a:endParaRPr lang="en-US" sz="6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Relevance &amp; Motivation</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9" name="Text 7"/>
          <p:cNvSpPr/>
          <p:nvPr/>
        </p:nvSpPr>
        <p:spPr>
          <a:xfrm>
            <a:off x="661987" y="784373"/>
            <a:ext cx="7680960" cy="365760"/>
          </a:xfrm>
          <a:prstGeom prst="rect">
            <a:avLst/>
          </a:prstGeom>
          <a:noFill/>
          <a:ln/>
        </p:spPr>
        <p:txBody>
          <a:bodyPr wrap="square" rtlCol="0" anchor="ctr"/>
          <a:lstStyle/>
          <a:p>
            <a:pPr marL="171450" indent="-171450">
              <a:buFont typeface="Arial" panose="020B0604020202020204" pitchFamily="34" charset="0"/>
              <a:buChar char="•"/>
            </a:pPr>
            <a:r>
              <a:rPr lang="en-US" sz="1100" b="1" i="1" dirty="0"/>
              <a:t>An intensive-care-unit (ICU) model must both predict mortality and defend that prediction on clinical rounds</a:t>
            </a:r>
          </a:p>
          <a:p>
            <a:r>
              <a:rPr lang="en-US" sz="1100" b="1" i="1" dirty="0"/>
              <a:t>.</a:t>
            </a:r>
            <a:endParaRPr lang="en-US" sz="1100" dirty="0"/>
          </a:p>
        </p:txBody>
      </p:sp>
      <p:sp>
        <p:nvSpPr>
          <p:cNvPr id="10" name="Shape 8"/>
          <p:cNvSpPr/>
          <p:nvPr/>
        </p:nvSpPr>
        <p:spPr>
          <a:xfrm>
            <a:off x="640080" y="1778595"/>
            <a:ext cx="2468880" cy="2866557"/>
          </a:xfrm>
          <a:prstGeom prst="rect">
            <a:avLst/>
          </a:prstGeom>
          <a:solidFill>
            <a:srgbClr val="FFFFFF"/>
          </a:solidFill>
          <a:ln w="12700">
            <a:solidFill>
              <a:srgbClr val="D9E2F3"/>
            </a:solidFill>
            <a:prstDash val="solid"/>
          </a:ln>
        </p:spPr>
      </p:sp>
      <p:sp>
        <p:nvSpPr>
          <p:cNvPr id="11" name="Shape 9"/>
          <p:cNvSpPr/>
          <p:nvPr/>
        </p:nvSpPr>
        <p:spPr>
          <a:xfrm>
            <a:off x="640078" y="1737535"/>
            <a:ext cx="2468880" cy="73152"/>
          </a:xfrm>
          <a:prstGeom prst="rect">
            <a:avLst/>
          </a:prstGeom>
          <a:solidFill>
            <a:srgbClr val="2E75B6"/>
          </a:solidFill>
          <a:ln w="12700">
            <a:solidFill>
              <a:srgbClr val="2E75B6"/>
            </a:solidFill>
            <a:prstDash val="solid"/>
          </a:ln>
        </p:spPr>
      </p:sp>
      <p:sp>
        <p:nvSpPr>
          <p:cNvPr id="12" name="Shape 10"/>
          <p:cNvSpPr/>
          <p:nvPr/>
        </p:nvSpPr>
        <p:spPr>
          <a:xfrm>
            <a:off x="781812" y="1815345"/>
            <a:ext cx="411480" cy="286893"/>
          </a:xfrm>
          <a:prstGeom prst="roundRect">
            <a:avLst>
              <a:gd name="adj" fmla="val 12500"/>
            </a:avLst>
          </a:prstGeom>
          <a:solidFill>
            <a:srgbClr val="1F4E79"/>
          </a:solidFill>
          <a:ln w="12700">
            <a:solidFill>
              <a:srgbClr val="1F4E79"/>
            </a:solidFill>
            <a:prstDash val="solid"/>
          </a:ln>
        </p:spPr>
      </p:sp>
      <p:sp>
        <p:nvSpPr>
          <p:cNvPr id="13" name="Text 11"/>
          <p:cNvSpPr/>
          <p:nvPr/>
        </p:nvSpPr>
        <p:spPr>
          <a:xfrm>
            <a:off x="781812" y="1856145"/>
            <a:ext cx="411480" cy="155448"/>
          </a:xfrm>
          <a:prstGeom prst="rect">
            <a:avLst/>
          </a:prstGeom>
          <a:noFill/>
          <a:ln/>
        </p:spPr>
        <p:txBody>
          <a:bodyPr wrap="square" rtlCol="0" anchor="ctr"/>
          <a:lstStyle/>
          <a:p>
            <a:pPr marL="0" indent="0" algn="ctr">
              <a:buNone/>
            </a:pPr>
            <a:r>
              <a:rPr lang="en-US" sz="1000" b="1" dirty="0">
                <a:solidFill>
                  <a:srgbClr val="FFFFFF"/>
                </a:solidFill>
              </a:rPr>
              <a:t>01</a:t>
            </a:r>
            <a:endParaRPr lang="en-US" sz="1000" dirty="0"/>
          </a:p>
        </p:txBody>
      </p:sp>
      <p:sp>
        <p:nvSpPr>
          <p:cNvPr id="14" name="Text 12"/>
          <p:cNvSpPr/>
          <p:nvPr/>
        </p:nvSpPr>
        <p:spPr>
          <a:xfrm>
            <a:off x="640080" y="2011680"/>
            <a:ext cx="2468880" cy="548640"/>
          </a:xfrm>
          <a:prstGeom prst="rect">
            <a:avLst/>
          </a:prstGeom>
          <a:noFill/>
          <a:ln/>
        </p:spPr>
        <p:txBody>
          <a:bodyPr wrap="square" rtlCol="0" anchor="ctr"/>
          <a:lstStyle/>
          <a:p>
            <a:pPr marL="0" indent="0" algn="ctr">
              <a:buNone/>
            </a:pPr>
            <a:r>
              <a:rPr lang="en-US" sz="3200" b="1" dirty="0">
                <a:solidFill>
                  <a:srgbClr val="0F2C4F"/>
                </a:solidFill>
                <a:latin typeface="Georgia" pitchFamily="34" charset="0"/>
                <a:ea typeface="Georgia" pitchFamily="34" charset="-122"/>
                <a:cs typeface="Georgia" pitchFamily="34" charset="-120"/>
              </a:rPr>
              <a:t>13–20%</a:t>
            </a:r>
            <a:endParaRPr lang="en-US" sz="3200" dirty="0"/>
          </a:p>
        </p:txBody>
      </p:sp>
      <p:sp>
        <p:nvSpPr>
          <p:cNvPr id="15" name="Text 13"/>
          <p:cNvSpPr/>
          <p:nvPr/>
        </p:nvSpPr>
        <p:spPr>
          <a:xfrm>
            <a:off x="640080" y="2578608"/>
            <a:ext cx="2468880" cy="256032"/>
          </a:xfrm>
          <a:prstGeom prst="rect">
            <a:avLst/>
          </a:prstGeom>
          <a:noFill/>
          <a:ln/>
        </p:spPr>
        <p:txBody>
          <a:bodyPr wrap="square" rtlCol="0" anchor="ctr"/>
          <a:lstStyle/>
          <a:p>
            <a:pPr marL="0" indent="0" algn="ctr">
              <a:buNone/>
            </a:pPr>
            <a:r>
              <a:rPr lang="en-US" sz="1200" b="1" i="1" dirty="0"/>
              <a:t>of inpatient hospital costs</a:t>
            </a:r>
            <a:endParaRPr lang="en-US" sz="1200" b="1" dirty="0"/>
          </a:p>
        </p:txBody>
      </p:sp>
      <p:sp>
        <p:nvSpPr>
          <p:cNvPr id="16" name="Shape 14"/>
          <p:cNvSpPr/>
          <p:nvPr/>
        </p:nvSpPr>
        <p:spPr>
          <a:xfrm>
            <a:off x="1005840" y="2907792"/>
            <a:ext cx="1737360" cy="18288"/>
          </a:xfrm>
          <a:prstGeom prst="rect">
            <a:avLst/>
          </a:prstGeom>
          <a:solidFill>
            <a:srgbClr val="E5E7EB"/>
          </a:solidFill>
          <a:ln w="12700">
            <a:solidFill>
              <a:srgbClr val="E5E7EB"/>
            </a:solidFill>
            <a:prstDash val="solid"/>
          </a:ln>
        </p:spPr>
      </p:sp>
      <p:sp>
        <p:nvSpPr>
          <p:cNvPr id="17" name="Text 15"/>
          <p:cNvSpPr/>
          <p:nvPr/>
        </p:nvSpPr>
        <p:spPr>
          <a:xfrm>
            <a:off x="777240" y="3017520"/>
            <a:ext cx="2194560" cy="320040"/>
          </a:xfrm>
          <a:prstGeom prst="rect">
            <a:avLst/>
          </a:prstGeom>
          <a:noFill/>
          <a:ln/>
        </p:spPr>
        <p:txBody>
          <a:bodyPr wrap="square" rtlCol="0" anchor="ctr"/>
          <a:lstStyle/>
          <a:p>
            <a:pPr marL="0" indent="0" algn="ctr">
              <a:buNone/>
            </a:pPr>
            <a:r>
              <a:rPr lang="en-US" sz="1300" b="1" dirty="0">
                <a:solidFill>
                  <a:srgbClr val="0F2C4F"/>
                </a:solidFill>
                <a:latin typeface="Georgia" pitchFamily="34" charset="0"/>
                <a:ea typeface="Georgia" pitchFamily="34" charset="-122"/>
                <a:cs typeface="Georgia" pitchFamily="34" charset="-120"/>
              </a:rPr>
              <a:t>ICU is critical &amp; costly</a:t>
            </a:r>
            <a:endParaRPr lang="en-US" sz="1300" dirty="0"/>
          </a:p>
        </p:txBody>
      </p:sp>
      <p:sp>
        <p:nvSpPr>
          <p:cNvPr id="18" name="Text 16"/>
          <p:cNvSpPr/>
          <p:nvPr/>
        </p:nvSpPr>
        <p:spPr>
          <a:xfrm>
            <a:off x="804672" y="3383280"/>
            <a:ext cx="2139696" cy="1188720"/>
          </a:xfrm>
          <a:prstGeom prst="rect">
            <a:avLst/>
          </a:prstGeom>
          <a:noFill/>
          <a:ln/>
        </p:spPr>
        <p:txBody>
          <a:bodyPr wrap="square" rtlCol="0" anchor="ctr"/>
          <a:lstStyle/>
          <a:p>
            <a:pPr marL="0" indent="0">
              <a:lnSpc>
                <a:spcPct val="135000"/>
              </a:lnSpc>
              <a:buNone/>
            </a:pPr>
            <a:r>
              <a:rPr lang="en-US" sz="1100" b="1" dirty="0"/>
              <a:t>ICUs consume up to 20% of hospital budgets while caring for under 10% of admissions. A delayed escalation or missed septic shock carries irreversible cost.</a:t>
            </a:r>
          </a:p>
        </p:txBody>
      </p:sp>
      <p:sp>
        <p:nvSpPr>
          <p:cNvPr id="19" name="Shape 17"/>
          <p:cNvSpPr/>
          <p:nvPr/>
        </p:nvSpPr>
        <p:spPr>
          <a:xfrm>
            <a:off x="3246120" y="1837944"/>
            <a:ext cx="2743200" cy="2779776"/>
          </a:xfrm>
          <a:prstGeom prst="rect">
            <a:avLst/>
          </a:prstGeom>
          <a:solidFill>
            <a:srgbClr val="FFFFFF"/>
          </a:solidFill>
          <a:ln w="12700">
            <a:solidFill>
              <a:srgbClr val="D9E2F3"/>
            </a:solidFill>
            <a:prstDash val="solid"/>
          </a:ln>
        </p:spPr>
        <p:txBody>
          <a:bodyPr/>
          <a:lstStyle/>
          <a:p>
            <a:endParaRPr lang="en-PK" dirty="0"/>
          </a:p>
        </p:txBody>
      </p:sp>
      <p:sp>
        <p:nvSpPr>
          <p:cNvPr id="20" name="Shape 18"/>
          <p:cNvSpPr/>
          <p:nvPr/>
        </p:nvSpPr>
        <p:spPr>
          <a:xfrm>
            <a:off x="3209538" y="1710102"/>
            <a:ext cx="2743200" cy="91440"/>
          </a:xfrm>
          <a:prstGeom prst="rect">
            <a:avLst/>
          </a:prstGeom>
          <a:solidFill>
            <a:srgbClr val="2E75B6"/>
          </a:solidFill>
          <a:ln w="12700">
            <a:solidFill>
              <a:srgbClr val="2E75B6"/>
            </a:solidFill>
            <a:prstDash val="solid"/>
          </a:ln>
        </p:spPr>
      </p:sp>
      <p:sp>
        <p:nvSpPr>
          <p:cNvPr id="21" name="Shape 19"/>
          <p:cNvSpPr/>
          <p:nvPr/>
        </p:nvSpPr>
        <p:spPr>
          <a:xfrm>
            <a:off x="3291841" y="1871353"/>
            <a:ext cx="411480" cy="230886"/>
          </a:xfrm>
          <a:prstGeom prst="roundRect">
            <a:avLst>
              <a:gd name="adj" fmla="val 12500"/>
            </a:avLst>
          </a:prstGeom>
          <a:solidFill>
            <a:srgbClr val="1F4E79"/>
          </a:solidFill>
          <a:ln w="12700">
            <a:solidFill>
              <a:srgbClr val="1F4E79"/>
            </a:solidFill>
            <a:prstDash val="solid"/>
          </a:ln>
        </p:spPr>
      </p:sp>
      <p:sp>
        <p:nvSpPr>
          <p:cNvPr id="22" name="Text 20"/>
          <p:cNvSpPr/>
          <p:nvPr/>
        </p:nvSpPr>
        <p:spPr>
          <a:xfrm>
            <a:off x="3311939" y="1809630"/>
            <a:ext cx="411480" cy="292608"/>
          </a:xfrm>
          <a:prstGeom prst="rect">
            <a:avLst/>
          </a:prstGeom>
          <a:noFill/>
          <a:ln/>
        </p:spPr>
        <p:txBody>
          <a:bodyPr wrap="square" rtlCol="0" anchor="ctr"/>
          <a:lstStyle/>
          <a:p>
            <a:pPr marL="0" indent="0" algn="ctr">
              <a:buNone/>
            </a:pPr>
            <a:r>
              <a:rPr lang="en-US" sz="1000" b="1" dirty="0">
                <a:solidFill>
                  <a:srgbClr val="FFFFFF"/>
                </a:solidFill>
              </a:rPr>
              <a:t>02</a:t>
            </a:r>
            <a:endParaRPr lang="en-US" sz="1000" dirty="0"/>
          </a:p>
        </p:txBody>
      </p:sp>
      <p:sp>
        <p:nvSpPr>
          <p:cNvPr id="23" name="Text 21"/>
          <p:cNvSpPr/>
          <p:nvPr/>
        </p:nvSpPr>
        <p:spPr>
          <a:xfrm>
            <a:off x="3246120" y="2011680"/>
            <a:ext cx="2468880" cy="548640"/>
          </a:xfrm>
          <a:prstGeom prst="rect">
            <a:avLst/>
          </a:prstGeom>
          <a:noFill/>
          <a:ln/>
        </p:spPr>
        <p:txBody>
          <a:bodyPr wrap="square" rtlCol="0" anchor="ctr"/>
          <a:lstStyle/>
          <a:p>
            <a:pPr marL="0" indent="0" algn="ctr">
              <a:buNone/>
            </a:pPr>
            <a:r>
              <a:rPr lang="en-US" sz="3200" b="1" dirty="0">
                <a:solidFill>
                  <a:srgbClr val="0F2C4F"/>
                </a:solidFill>
                <a:latin typeface="Georgia" pitchFamily="34" charset="0"/>
                <a:ea typeface="Georgia" pitchFamily="34" charset="-122"/>
                <a:cs typeface="Georgia" pitchFamily="34" charset="-120"/>
              </a:rPr>
              <a:t>1981</a:t>
            </a:r>
            <a:endParaRPr lang="en-US" sz="3200" dirty="0"/>
          </a:p>
        </p:txBody>
      </p:sp>
      <p:sp>
        <p:nvSpPr>
          <p:cNvPr id="24" name="Text 22"/>
          <p:cNvSpPr/>
          <p:nvPr/>
        </p:nvSpPr>
        <p:spPr>
          <a:xfrm>
            <a:off x="3246120" y="2578608"/>
            <a:ext cx="2468880" cy="256032"/>
          </a:xfrm>
          <a:prstGeom prst="rect">
            <a:avLst/>
          </a:prstGeom>
          <a:noFill/>
          <a:ln/>
        </p:spPr>
        <p:txBody>
          <a:bodyPr wrap="square" rtlCol="0" anchor="ctr"/>
          <a:lstStyle/>
          <a:p>
            <a:pPr marL="0" indent="0" algn="ctr">
              <a:buNone/>
            </a:pPr>
            <a:r>
              <a:rPr lang="en-US" sz="1200" b="1" i="1" dirty="0"/>
              <a:t>APACHE I  →  still in use</a:t>
            </a:r>
            <a:endParaRPr lang="en-US" sz="1200" b="1" dirty="0"/>
          </a:p>
        </p:txBody>
      </p:sp>
      <p:sp>
        <p:nvSpPr>
          <p:cNvPr id="25" name="Shape 23"/>
          <p:cNvSpPr/>
          <p:nvPr/>
        </p:nvSpPr>
        <p:spPr>
          <a:xfrm>
            <a:off x="3611880" y="2907792"/>
            <a:ext cx="1737360" cy="18288"/>
          </a:xfrm>
          <a:prstGeom prst="rect">
            <a:avLst/>
          </a:prstGeom>
          <a:solidFill>
            <a:srgbClr val="E5E7EB"/>
          </a:solidFill>
          <a:ln w="12700">
            <a:solidFill>
              <a:srgbClr val="E5E7EB"/>
            </a:solidFill>
            <a:prstDash val="solid"/>
          </a:ln>
        </p:spPr>
      </p:sp>
      <p:sp>
        <p:nvSpPr>
          <p:cNvPr id="26" name="Text 24"/>
          <p:cNvSpPr/>
          <p:nvPr/>
        </p:nvSpPr>
        <p:spPr>
          <a:xfrm>
            <a:off x="3383280" y="3017520"/>
            <a:ext cx="2194560" cy="320040"/>
          </a:xfrm>
          <a:prstGeom prst="rect">
            <a:avLst/>
          </a:prstGeom>
          <a:noFill/>
          <a:ln/>
        </p:spPr>
        <p:txBody>
          <a:bodyPr wrap="square" rtlCol="0" anchor="ctr"/>
          <a:lstStyle/>
          <a:p>
            <a:pPr marL="0" indent="0" algn="ctr">
              <a:buNone/>
            </a:pPr>
            <a:r>
              <a:rPr lang="en-US" sz="1300" b="1" dirty="0">
                <a:solidFill>
                  <a:srgbClr val="0F2C4F"/>
                </a:solidFill>
                <a:latin typeface="Georgia" pitchFamily="34" charset="0"/>
                <a:ea typeface="Georgia" pitchFamily="34" charset="-122"/>
                <a:cs typeface="Georgia" pitchFamily="34" charset="-120"/>
              </a:rPr>
              <a:t>Severity scores are dated</a:t>
            </a:r>
            <a:endParaRPr lang="en-US" sz="1300" dirty="0"/>
          </a:p>
        </p:txBody>
      </p:sp>
      <p:sp>
        <p:nvSpPr>
          <p:cNvPr id="27" name="Text 25"/>
          <p:cNvSpPr/>
          <p:nvPr/>
        </p:nvSpPr>
        <p:spPr>
          <a:xfrm>
            <a:off x="3410712" y="3383280"/>
            <a:ext cx="2670048" cy="1188720"/>
          </a:xfrm>
          <a:prstGeom prst="rect">
            <a:avLst/>
          </a:prstGeom>
          <a:noFill/>
          <a:ln/>
        </p:spPr>
        <p:txBody>
          <a:bodyPr wrap="square" rtlCol="0" anchor="ctr"/>
          <a:lstStyle/>
          <a:p>
            <a:pPr marL="0" indent="0">
              <a:lnSpc>
                <a:spcPct val="135000"/>
              </a:lnSpc>
              <a:buNone/>
            </a:pPr>
            <a:r>
              <a:rPr lang="en-US" sz="1100" b="1" dirty="0"/>
              <a:t>Introduced in 1981, APACHE is still used today (as APACHE II/III/IV) — a 40-year-old methodology. Like SAPS-I, it collapses 24 h into one worst-value vector and treats missingness as random.</a:t>
            </a:r>
          </a:p>
        </p:txBody>
      </p:sp>
      <p:sp>
        <p:nvSpPr>
          <p:cNvPr id="28" name="Shape 26"/>
          <p:cNvSpPr/>
          <p:nvPr/>
        </p:nvSpPr>
        <p:spPr>
          <a:xfrm>
            <a:off x="6035042" y="1837944"/>
            <a:ext cx="2468880" cy="2807208"/>
          </a:xfrm>
          <a:prstGeom prst="rect">
            <a:avLst/>
          </a:prstGeom>
          <a:solidFill>
            <a:srgbClr val="FFFFFF"/>
          </a:solidFill>
          <a:ln w="12700">
            <a:solidFill>
              <a:srgbClr val="D9E2F3"/>
            </a:solidFill>
            <a:prstDash val="solid"/>
          </a:ln>
        </p:spPr>
      </p:sp>
      <p:sp>
        <p:nvSpPr>
          <p:cNvPr id="29" name="Shape 27"/>
          <p:cNvSpPr/>
          <p:nvPr/>
        </p:nvSpPr>
        <p:spPr>
          <a:xfrm>
            <a:off x="6035042" y="1714674"/>
            <a:ext cx="2468880" cy="73152"/>
          </a:xfrm>
          <a:prstGeom prst="rect">
            <a:avLst/>
          </a:prstGeom>
          <a:solidFill>
            <a:srgbClr val="2E75B6"/>
          </a:solidFill>
          <a:ln w="12700">
            <a:solidFill>
              <a:srgbClr val="2E75B6"/>
            </a:solidFill>
            <a:prstDash val="solid"/>
          </a:ln>
        </p:spPr>
      </p:sp>
      <p:sp>
        <p:nvSpPr>
          <p:cNvPr id="30" name="Shape 28"/>
          <p:cNvSpPr/>
          <p:nvPr/>
        </p:nvSpPr>
        <p:spPr>
          <a:xfrm>
            <a:off x="6119147" y="1879266"/>
            <a:ext cx="411480" cy="232998"/>
          </a:xfrm>
          <a:prstGeom prst="roundRect">
            <a:avLst>
              <a:gd name="adj" fmla="val 12500"/>
            </a:avLst>
          </a:prstGeom>
          <a:solidFill>
            <a:srgbClr val="1F4E79"/>
          </a:solidFill>
          <a:ln w="12700">
            <a:solidFill>
              <a:srgbClr val="1F4E79"/>
            </a:solidFill>
            <a:prstDash val="solid"/>
          </a:ln>
        </p:spPr>
      </p:sp>
      <p:sp>
        <p:nvSpPr>
          <p:cNvPr id="31" name="Text 29"/>
          <p:cNvSpPr/>
          <p:nvPr/>
        </p:nvSpPr>
        <p:spPr>
          <a:xfrm>
            <a:off x="6055139" y="1856406"/>
            <a:ext cx="411480" cy="292608"/>
          </a:xfrm>
          <a:prstGeom prst="rect">
            <a:avLst/>
          </a:prstGeom>
          <a:noFill/>
          <a:ln/>
        </p:spPr>
        <p:txBody>
          <a:bodyPr wrap="square" rtlCol="0" anchor="ctr"/>
          <a:lstStyle/>
          <a:p>
            <a:pPr marL="0" indent="0" algn="ctr">
              <a:buNone/>
            </a:pPr>
            <a:r>
              <a:rPr lang="en-US" sz="1000" b="1" dirty="0">
                <a:solidFill>
                  <a:srgbClr val="FFFFFF"/>
                </a:solidFill>
              </a:rPr>
              <a:t>03</a:t>
            </a:r>
            <a:endParaRPr lang="en-US" sz="1000" dirty="0"/>
          </a:p>
        </p:txBody>
      </p:sp>
      <p:sp>
        <p:nvSpPr>
          <p:cNvPr id="32" name="Text 30"/>
          <p:cNvSpPr/>
          <p:nvPr/>
        </p:nvSpPr>
        <p:spPr>
          <a:xfrm>
            <a:off x="5852160" y="2011680"/>
            <a:ext cx="2468880" cy="548640"/>
          </a:xfrm>
          <a:prstGeom prst="rect">
            <a:avLst/>
          </a:prstGeom>
          <a:noFill/>
          <a:ln/>
        </p:spPr>
        <p:txBody>
          <a:bodyPr wrap="square" rtlCol="0" anchor="ctr"/>
          <a:lstStyle/>
          <a:p>
            <a:pPr marL="0" indent="0" algn="ctr">
              <a:buNone/>
            </a:pPr>
            <a:r>
              <a:rPr lang="en-US" sz="3200" b="1" dirty="0">
                <a:solidFill>
                  <a:srgbClr val="0F2C4F"/>
                </a:solidFill>
                <a:latin typeface="Georgia" pitchFamily="34" charset="0"/>
                <a:ea typeface="Georgia" pitchFamily="34" charset="-122"/>
                <a:cs typeface="Georgia" pitchFamily="34" charset="-120"/>
              </a:rPr>
              <a:t>0.74</a:t>
            </a:r>
            <a:endParaRPr lang="en-US" sz="3200" dirty="0"/>
          </a:p>
        </p:txBody>
      </p:sp>
      <p:sp>
        <p:nvSpPr>
          <p:cNvPr id="33" name="Text 31"/>
          <p:cNvSpPr/>
          <p:nvPr/>
        </p:nvSpPr>
        <p:spPr>
          <a:xfrm>
            <a:off x="5852160" y="2578608"/>
            <a:ext cx="2468880" cy="256032"/>
          </a:xfrm>
          <a:prstGeom prst="rect">
            <a:avLst/>
          </a:prstGeom>
          <a:noFill/>
          <a:ln/>
        </p:spPr>
        <p:txBody>
          <a:bodyPr wrap="square" rtlCol="0" anchor="ctr"/>
          <a:lstStyle/>
          <a:p>
            <a:pPr marL="0" indent="0" algn="ctr">
              <a:buNone/>
            </a:pPr>
            <a:r>
              <a:rPr lang="en-US" sz="1200" b="1" i="1" dirty="0"/>
              <a:t>AUROC, no reason given</a:t>
            </a:r>
            <a:endParaRPr lang="en-US" sz="1200" b="1" dirty="0"/>
          </a:p>
        </p:txBody>
      </p:sp>
      <p:sp>
        <p:nvSpPr>
          <p:cNvPr id="34" name="Shape 32"/>
          <p:cNvSpPr/>
          <p:nvPr/>
        </p:nvSpPr>
        <p:spPr>
          <a:xfrm>
            <a:off x="6217920" y="2907792"/>
            <a:ext cx="1737360" cy="18288"/>
          </a:xfrm>
          <a:prstGeom prst="rect">
            <a:avLst/>
          </a:prstGeom>
          <a:solidFill>
            <a:srgbClr val="E5E7EB"/>
          </a:solidFill>
          <a:ln w="12700">
            <a:solidFill>
              <a:srgbClr val="E5E7EB"/>
            </a:solidFill>
            <a:prstDash val="solid"/>
          </a:ln>
        </p:spPr>
      </p:sp>
      <p:sp>
        <p:nvSpPr>
          <p:cNvPr id="35" name="Text 33"/>
          <p:cNvSpPr/>
          <p:nvPr/>
        </p:nvSpPr>
        <p:spPr>
          <a:xfrm>
            <a:off x="5989320" y="3017520"/>
            <a:ext cx="2194560" cy="320040"/>
          </a:xfrm>
          <a:prstGeom prst="rect">
            <a:avLst/>
          </a:prstGeom>
          <a:noFill/>
          <a:ln/>
        </p:spPr>
        <p:txBody>
          <a:bodyPr wrap="square" rtlCol="0" anchor="ctr"/>
          <a:lstStyle/>
          <a:p>
            <a:pPr marL="0" indent="0" algn="ctr">
              <a:buNone/>
            </a:pPr>
            <a:r>
              <a:rPr lang="en-US" sz="1300" b="1" dirty="0">
                <a:solidFill>
                  <a:srgbClr val="0F2C4F"/>
                </a:solidFill>
                <a:latin typeface="Georgia" pitchFamily="34" charset="0"/>
                <a:ea typeface="Georgia" pitchFamily="34" charset="-122"/>
                <a:cs typeface="Georgia" pitchFamily="34" charset="-120"/>
              </a:rPr>
              <a:t>Deep models are opaque</a:t>
            </a:r>
            <a:endParaRPr lang="en-US" sz="1300" dirty="0"/>
          </a:p>
        </p:txBody>
      </p:sp>
      <p:sp>
        <p:nvSpPr>
          <p:cNvPr id="36" name="Text 34"/>
          <p:cNvSpPr/>
          <p:nvPr/>
        </p:nvSpPr>
        <p:spPr>
          <a:xfrm>
            <a:off x="6016752" y="3383280"/>
            <a:ext cx="2395728" cy="1188720"/>
          </a:xfrm>
          <a:prstGeom prst="rect">
            <a:avLst/>
          </a:prstGeom>
          <a:noFill/>
          <a:ln/>
        </p:spPr>
        <p:txBody>
          <a:bodyPr wrap="square" rtlCol="0" anchor="ctr"/>
          <a:lstStyle/>
          <a:p>
            <a:pPr marL="0" indent="0">
              <a:lnSpc>
                <a:spcPct val="135000"/>
              </a:lnSpc>
              <a:buNone/>
            </a:pPr>
            <a:r>
              <a:rPr lang="en-US" sz="1100" b="1" dirty="0"/>
              <a:t>Deep nets often match clinicians on metrics but cannot defend a prediction. Trust is the bottleneck for bedside adoption — not accuracy.</a:t>
            </a:r>
          </a:p>
        </p:txBody>
      </p:sp>
      <p:sp>
        <p:nvSpPr>
          <p:cNvPr id="37" name="Shape 35"/>
          <p:cNvSpPr/>
          <p:nvPr/>
        </p:nvSpPr>
        <p:spPr>
          <a:xfrm>
            <a:off x="640080" y="4754880"/>
            <a:ext cx="7680960" cy="36576"/>
          </a:xfrm>
          <a:prstGeom prst="rect">
            <a:avLst/>
          </a:prstGeom>
          <a:solidFill>
            <a:srgbClr val="2E75B6"/>
          </a:solidFill>
          <a:ln w="12700">
            <a:solidFill>
              <a:srgbClr val="2E75B6"/>
            </a:solidFill>
            <a:prstDash val="solid"/>
          </a:ln>
        </p:spPr>
      </p:sp>
      <p:sp>
        <p:nvSpPr>
          <p:cNvPr id="38" name="Freeform 11">
            <a:extLst>
              <a:ext uri="{FF2B5EF4-FFF2-40B4-BE49-F238E27FC236}">
                <a16:creationId xmlns:a16="http://schemas.microsoft.com/office/drawing/2014/main" id="{95F973A9-06F9-DD65-5EA2-40FDC9573571}"/>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sp>
        <p:nvSpPr>
          <p:cNvPr id="39" name="TextBox 38">
            <a:extLst>
              <a:ext uri="{FF2B5EF4-FFF2-40B4-BE49-F238E27FC236}">
                <a16:creationId xmlns:a16="http://schemas.microsoft.com/office/drawing/2014/main" id="{C757B1F9-910C-7ECB-C3EF-478C7A647493}"/>
              </a:ext>
            </a:extLst>
          </p:cNvPr>
          <p:cNvSpPr txBox="1"/>
          <p:nvPr/>
        </p:nvSpPr>
        <p:spPr>
          <a:xfrm>
            <a:off x="638175" y="1045397"/>
            <a:ext cx="7637145" cy="769441"/>
          </a:xfrm>
          <a:prstGeom prst="rect">
            <a:avLst/>
          </a:prstGeom>
          <a:noFill/>
        </p:spPr>
        <p:txBody>
          <a:bodyPr wrap="square">
            <a:spAutoFit/>
          </a:bodyPr>
          <a:lstStyle/>
          <a:p>
            <a:pPr marL="171450" indent="-171450">
              <a:buFont typeface="Arial" panose="020B0604020202020204" pitchFamily="34" charset="0"/>
              <a:buChar char="•"/>
            </a:pPr>
            <a:r>
              <a:rPr lang="en-US" sz="1100" b="1" dirty="0"/>
              <a:t>The Acute Physiology and Chronic Health Evaluation (APACHE) system, introduced by Knaus and colleagues.</a:t>
            </a:r>
          </a:p>
          <a:p>
            <a:endParaRPr lang="en-US" sz="1100" b="1" dirty="0"/>
          </a:p>
          <a:p>
            <a:pPr marL="171450" indent="-171450">
              <a:buFont typeface="Arial" panose="020B0604020202020204" pitchFamily="34" charset="0"/>
              <a:buChar char="•"/>
            </a:pPr>
            <a:r>
              <a:rPr lang="en-US" sz="1100" b="1" dirty="0"/>
              <a:t> Simplified Acute Physiology Score (</a:t>
            </a:r>
            <a:r>
              <a:rPr lang="en-US" sz="1100" b="1" kern="1200" dirty="0">
                <a:solidFill>
                  <a:srgbClr val="000000"/>
                </a:solidFill>
                <a:effectLst/>
                <a:latin typeface="Calibri" panose="020F0502020204030204" pitchFamily="34" charset="0"/>
                <a:ea typeface="+mn-ea"/>
                <a:cs typeface="+mn-cs"/>
              </a:rPr>
              <a:t>SAPS)</a:t>
            </a:r>
            <a:r>
              <a:rPr lang="en-US" sz="1100" b="1" dirty="0"/>
              <a:t>, developed in parallel by Le Gall and colleagues in France.</a:t>
            </a:r>
          </a:p>
          <a:p>
            <a:pPr marL="171450" indent="-171450">
              <a:buFont typeface="Arial" panose="020B0604020202020204" pitchFamily="34" charset="0"/>
              <a:buChar char="•"/>
            </a:pPr>
            <a:endParaRPr lang="en-PK" sz="1100" b="1"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03</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6" name="Text 4"/>
          <p:cNvSpPr/>
          <p:nvPr/>
        </p:nvSpPr>
        <p:spPr>
          <a:xfrm>
            <a:off x="8275320" y="566928"/>
            <a:ext cx="658368" cy="201168"/>
          </a:xfrm>
          <a:prstGeom prst="rect">
            <a:avLst/>
          </a:prstGeom>
          <a:noFill/>
          <a:ln/>
        </p:spPr>
        <p:txBody>
          <a:bodyPr wrap="square" rtlCol="0" anchor="ctr"/>
          <a:lstStyle/>
          <a:p>
            <a:pPr marL="0" indent="0" algn="ctr">
              <a:buNone/>
            </a:pPr>
            <a:r>
              <a:rPr lang="en-US" sz="600" b="1" kern="0" spc="100" dirty="0">
                <a:solidFill>
                  <a:srgbClr val="FFFFFF"/>
                </a:solidFill>
              </a:rPr>
              <a:t>TOMSK · 1878</a:t>
            </a:r>
            <a:endParaRPr lang="en-US" sz="6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Problem  ·  Hypothesis  ·  Scope</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9" name="Shape 7"/>
          <p:cNvSpPr/>
          <p:nvPr/>
        </p:nvSpPr>
        <p:spPr>
          <a:xfrm>
            <a:off x="640080" y="1051560"/>
            <a:ext cx="1508760" cy="1097280"/>
          </a:xfrm>
          <a:prstGeom prst="rect">
            <a:avLst/>
          </a:prstGeom>
          <a:solidFill>
            <a:srgbClr val="1F4E79"/>
          </a:solidFill>
          <a:ln w="12700">
            <a:solidFill>
              <a:srgbClr val="1F4E79"/>
            </a:solidFill>
            <a:prstDash val="solid"/>
          </a:ln>
        </p:spPr>
      </p:sp>
      <p:sp>
        <p:nvSpPr>
          <p:cNvPr id="10" name="Text 8"/>
          <p:cNvSpPr/>
          <p:nvPr/>
        </p:nvSpPr>
        <p:spPr>
          <a:xfrm>
            <a:off x="640080" y="1051560"/>
            <a:ext cx="1508760" cy="1097280"/>
          </a:xfrm>
          <a:prstGeom prst="rect">
            <a:avLst/>
          </a:prstGeom>
          <a:noFill/>
          <a:ln/>
        </p:spPr>
        <p:txBody>
          <a:bodyPr wrap="square" rtlCol="0" anchor="ctr"/>
          <a:lstStyle/>
          <a:p>
            <a:pPr marL="0" indent="0" algn="ctr">
              <a:buNone/>
            </a:pPr>
            <a:r>
              <a:rPr lang="en-US" sz="1200" b="1" kern="0" spc="100" dirty="0">
                <a:solidFill>
                  <a:srgbClr val="FFFFFF"/>
                </a:solidFill>
                <a:latin typeface="Georgia" pitchFamily="34" charset="0"/>
                <a:ea typeface="Georgia" pitchFamily="34" charset="-122"/>
                <a:cs typeface="Georgia" pitchFamily="34" charset="-120"/>
              </a:rPr>
              <a:t>PROBLEM</a:t>
            </a:r>
            <a:endParaRPr lang="en-US" sz="1200" dirty="0"/>
          </a:p>
        </p:txBody>
      </p:sp>
      <p:sp>
        <p:nvSpPr>
          <p:cNvPr id="11" name="Shape 9"/>
          <p:cNvSpPr/>
          <p:nvPr/>
        </p:nvSpPr>
        <p:spPr>
          <a:xfrm>
            <a:off x="2194560" y="1051560"/>
            <a:ext cx="6126480" cy="1097280"/>
          </a:xfrm>
          <a:prstGeom prst="rect">
            <a:avLst/>
          </a:prstGeom>
          <a:solidFill>
            <a:srgbClr val="F5F8FC"/>
          </a:solidFill>
          <a:ln w="12700">
            <a:solidFill>
              <a:srgbClr val="D9E2F3"/>
            </a:solidFill>
            <a:prstDash val="solid"/>
          </a:ln>
        </p:spPr>
      </p:sp>
      <p:sp>
        <p:nvSpPr>
          <p:cNvPr id="12" name="Text 10"/>
          <p:cNvSpPr/>
          <p:nvPr/>
        </p:nvSpPr>
        <p:spPr>
          <a:xfrm>
            <a:off x="2377440" y="1143000"/>
            <a:ext cx="5852160" cy="274320"/>
          </a:xfrm>
          <a:prstGeom prst="rect">
            <a:avLst/>
          </a:prstGeom>
          <a:noFill/>
          <a:ln/>
        </p:spPr>
        <p:txBody>
          <a:bodyPr wrap="square" rtlCol="0" anchor="ctr"/>
          <a:lstStyle/>
          <a:p>
            <a:pPr marL="0" indent="0">
              <a:buNone/>
            </a:pPr>
            <a:r>
              <a:rPr lang="en-US" sz="1300" b="1" i="1" dirty="0">
                <a:solidFill>
                  <a:srgbClr val="1F4E79"/>
                </a:solidFill>
              </a:rPr>
              <a:t>What we set out to solve</a:t>
            </a:r>
            <a:endParaRPr lang="en-US" sz="1300" b="1" dirty="0"/>
          </a:p>
        </p:txBody>
      </p:sp>
      <p:sp>
        <p:nvSpPr>
          <p:cNvPr id="13" name="Text 11"/>
          <p:cNvSpPr/>
          <p:nvPr/>
        </p:nvSpPr>
        <p:spPr>
          <a:xfrm>
            <a:off x="2377440" y="1435608"/>
            <a:ext cx="5852160" cy="640080"/>
          </a:xfrm>
          <a:prstGeom prst="rect">
            <a:avLst/>
          </a:prstGeom>
          <a:noFill/>
          <a:ln/>
        </p:spPr>
        <p:txBody>
          <a:bodyPr wrap="square" rtlCol="0" anchor="ctr"/>
          <a:lstStyle/>
          <a:p>
            <a:pPr marL="0" indent="0">
              <a:lnSpc>
                <a:spcPct val="135000"/>
              </a:lnSpc>
              <a:buNone/>
            </a:pPr>
            <a:r>
              <a:rPr lang="en-US" sz="1200" b="1" dirty="0"/>
              <a:t>Build a model on PhysioNet 2012 Set-A that (a) outperforms classical severity scores AND (b) explains every prediction on the (hour × variable) axis a clinician already uses to reason about patients.</a:t>
            </a:r>
          </a:p>
        </p:txBody>
      </p:sp>
      <p:sp>
        <p:nvSpPr>
          <p:cNvPr id="14" name="Shape 12"/>
          <p:cNvSpPr/>
          <p:nvPr/>
        </p:nvSpPr>
        <p:spPr>
          <a:xfrm>
            <a:off x="640080" y="2331720"/>
            <a:ext cx="1508760" cy="1097280"/>
          </a:xfrm>
          <a:prstGeom prst="rect">
            <a:avLst/>
          </a:prstGeom>
          <a:solidFill>
            <a:srgbClr val="2E75B6"/>
          </a:solidFill>
          <a:ln w="12700">
            <a:solidFill>
              <a:srgbClr val="2E75B6"/>
            </a:solidFill>
            <a:prstDash val="solid"/>
          </a:ln>
        </p:spPr>
      </p:sp>
      <p:sp>
        <p:nvSpPr>
          <p:cNvPr id="15" name="Text 13"/>
          <p:cNvSpPr/>
          <p:nvPr/>
        </p:nvSpPr>
        <p:spPr>
          <a:xfrm>
            <a:off x="640080" y="2331720"/>
            <a:ext cx="1508760" cy="1097280"/>
          </a:xfrm>
          <a:prstGeom prst="rect">
            <a:avLst/>
          </a:prstGeom>
          <a:noFill/>
          <a:ln/>
        </p:spPr>
        <p:txBody>
          <a:bodyPr wrap="square" rtlCol="0" anchor="ctr"/>
          <a:lstStyle/>
          <a:p>
            <a:pPr marL="0" indent="0" algn="ctr">
              <a:buNone/>
            </a:pPr>
            <a:r>
              <a:rPr lang="en-US" sz="1200" b="1" kern="0" spc="100" dirty="0">
                <a:solidFill>
                  <a:srgbClr val="FFFFFF"/>
                </a:solidFill>
                <a:latin typeface="Georgia" pitchFamily="34" charset="0"/>
                <a:ea typeface="Georgia" pitchFamily="34" charset="-122"/>
                <a:cs typeface="Georgia" pitchFamily="34" charset="-120"/>
              </a:rPr>
              <a:t>HYPOTHESIS</a:t>
            </a:r>
            <a:endParaRPr lang="en-US" sz="1200" dirty="0"/>
          </a:p>
        </p:txBody>
      </p:sp>
      <p:sp>
        <p:nvSpPr>
          <p:cNvPr id="16" name="Shape 14"/>
          <p:cNvSpPr/>
          <p:nvPr/>
        </p:nvSpPr>
        <p:spPr>
          <a:xfrm>
            <a:off x="2194560" y="2331720"/>
            <a:ext cx="6126480" cy="1097280"/>
          </a:xfrm>
          <a:prstGeom prst="rect">
            <a:avLst/>
          </a:prstGeom>
          <a:solidFill>
            <a:srgbClr val="F5F8FC"/>
          </a:solidFill>
          <a:ln w="12700">
            <a:solidFill>
              <a:srgbClr val="D9E2F3"/>
            </a:solidFill>
            <a:prstDash val="solid"/>
          </a:ln>
        </p:spPr>
      </p:sp>
      <p:sp>
        <p:nvSpPr>
          <p:cNvPr id="17" name="Text 15"/>
          <p:cNvSpPr/>
          <p:nvPr/>
        </p:nvSpPr>
        <p:spPr>
          <a:xfrm>
            <a:off x="2377440" y="2423160"/>
            <a:ext cx="5852160" cy="274320"/>
          </a:xfrm>
          <a:prstGeom prst="rect">
            <a:avLst/>
          </a:prstGeom>
          <a:noFill/>
          <a:ln/>
        </p:spPr>
        <p:txBody>
          <a:bodyPr wrap="square" rtlCol="0" anchor="ctr"/>
          <a:lstStyle/>
          <a:p>
            <a:pPr marL="0" indent="0">
              <a:buNone/>
            </a:pPr>
            <a:r>
              <a:rPr lang="en-US" sz="1300" b="1" i="1" dirty="0">
                <a:solidFill>
                  <a:srgbClr val="1F4E79"/>
                </a:solidFill>
              </a:rPr>
              <a:t>What we expect to find</a:t>
            </a:r>
            <a:endParaRPr lang="en-US" sz="1300" b="1" dirty="0"/>
          </a:p>
        </p:txBody>
      </p:sp>
      <p:sp>
        <p:nvSpPr>
          <p:cNvPr id="18" name="Text 16"/>
          <p:cNvSpPr/>
          <p:nvPr/>
        </p:nvSpPr>
        <p:spPr>
          <a:xfrm>
            <a:off x="2377440" y="2715768"/>
            <a:ext cx="5852160" cy="640080"/>
          </a:xfrm>
          <a:prstGeom prst="rect">
            <a:avLst/>
          </a:prstGeom>
          <a:noFill/>
          <a:ln/>
        </p:spPr>
        <p:txBody>
          <a:bodyPr wrap="square" rtlCol="0" anchor="ctr"/>
          <a:lstStyle/>
          <a:p>
            <a:pPr>
              <a:lnSpc>
                <a:spcPct val="135000"/>
              </a:lnSpc>
            </a:pPr>
            <a:r>
              <a:rPr lang="en-US" sz="1200" b="1" dirty="0"/>
              <a:t>If we encode WHEN a measurement was taken — adding missingness as a parallel channel — and REDISTRIBUTE Shapley values onto the tempo SAPS-</a:t>
            </a:r>
            <a:r>
              <a:rPr lang="en-US" sz="1200" b="1" dirty="0" err="1"/>
              <a:t>Iral</a:t>
            </a:r>
            <a:r>
              <a:rPr lang="en-US" sz="1200" b="1" dirty="0"/>
              <a:t> axis, the resulting attributions will agree with established clinical severity scores (SOFA,).</a:t>
            </a:r>
          </a:p>
        </p:txBody>
      </p:sp>
      <p:sp>
        <p:nvSpPr>
          <p:cNvPr id="19" name="Shape 17"/>
          <p:cNvSpPr/>
          <p:nvPr/>
        </p:nvSpPr>
        <p:spPr>
          <a:xfrm>
            <a:off x="640080" y="3611880"/>
            <a:ext cx="1508760" cy="1097280"/>
          </a:xfrm>
          <a:prstGeom prst="rect">
            <a:avLst/>
          </a:prstGeom>
          <a:solidFill>
            <a:srgbClr val="5B9BD5"/>
          </a:solidFill>
          <a:ln w="12700">
            <a:solidFill>
              <a:srgbClr val="5B9BD5"/>
            </a:solidFill>
            <a:prstDash val="solid"/>
          </a:ln>
        </p:spPr>
      </p:sp>
      <p:sp>
        <p:nvSpPr>
          <p:cNvPr id="20" name="Text 18"/>
          <p:cNvSpPr/>
          <p:nvPr/>
        </p:nvSpPr>
        <p:spPr>
          <a:xfrm>
            <a:off x="640080" y="3611880"/>
            <a:ext cx="1508760" cy="1097280"/>
          </a:xfrm>
          <a:prstGeom prst="rect">
            <a:avLst/>
          </a:prstGeom>
          <a:noFill/>
          <a:ln/>
        </p:spPr>
        <p:txBody>
          <a:bodyPr wrap="square" rtlCol="0" anchor="ctr"/>
          <a:lstStyle/>
          <a:p>
            <a:pPr marL="0" indent="0" algn="ctr">
              <a:buNone/>
            </a:pPr>
            <a:r>
              <a:rPr lang="en-US" sz="1200" b="1" kern="0" spc="100" dirty="0">
                <a:solidFill>
                  <a:srgbClr val="FFFFFF"/>
                </a:solidFill>
                <a:latin typeface="Georgia" pitchFamily="34" charset="0"/>
                <a:ea typeface="Georgia" pitchFamily="34" charset="-122"/>
                <a:cs typeface="Georgia" pitchFamily="34" charset="-120"/>
              </a:rPr>
              <a:t>SCOPE</a:t>
            </a:r>
            <a:endParaRPr lang="en-US" sz="1200" dirty="0"/>
          </a:p>
        </p:txBody>
      </p:sp>
      <p:sp>
        <p:nvSpPr>
          <p:cNvPr id="21" name="Shape 19"/>
          <p:cNvSpPr/>
          <p:nvPr/>
        </p:nvSpPr>
        <p:spPr>
          <a:xfrm>
            <a:off x="2194560" y="3611880"/>
            <a:ext cx="6126480" cy="1097280"/>
          </a:xfrm>
          <a:prstGeom prst="rect">
            <a:avLst/>
          </a:prstGeom>
          <a:solidFill>
            <a:srgbClr val="F5F8FC"/>
          </a:solidFill>
          <a:ln w="12700">
            <a:solidFill>
              <a:srgbClr val="D9E2F3"/>
            </a:solidFill>
            <a:prstDash val="solid"/>
          </a:ln>
        </p:spPr>
      </p:sp>
      <p:sp>
        <p:nvSpPr>
          <p:cNvPr id="22" name="Text 20"/>
          <p:cNvSpPr/>
          <p:nvPr/>
        </p:nvSpPr>
        <p:spPr>
          <a:xfrm>
            <a:off x="2377440" y="3703320"/>
            <a:ext cx="5852160" cy="274320"/>
          </a:xfrm>
          <a:prstGeom prst="rect">
            <a:avLst/>
          </a:prstGeom>
          <a:noFill/>
          <a:ln/>
        </p:spPr>
        <p:txBody>
          <a:bodyPr wrap="square" rtlCol="0" anchor="ctr"/>
          <a:lstStyle/>
          <a:p>
            <a:pPr marL="0" indent="0">
              <a:buNone/>
            </a:pPr>
            <a:r>
              <a:rPr lang="en-US" sz="1300" b="1" i="1" dirty="0">
                <a:solidFill>
                  <a:srgbClr val="1F4E79"/>
                </a:solidFill>
              </a:rPr>
              <a:t>What we cover</a:t>
            </a:r>
            <a:endParaRPr lang="en-US" sz="1300" b="1" dirty="0"/>
          </a:p>
        </p:txBody>
      </p:sp>
      <p:sp>
        <p:nvSpPr>
          <p:cNvPr id="23" name="Text 21"/>
          <p:cNvSpPr/>
          <p:nvPr/>
        </p:nvSpPr>
        <p:spPr>
          <a:xfrm>
            <a:off x="2377440" y="3995928"/>
            <a:ext cx="5852160" cy="640080"/>
          </a:xfrm>
          <a:prstGeom prst="rect">
            <a:avLst/>
          </a:prstGeom>
          <a:noFill/>
          <a:ln/>
        </p:spPr>
        <p:txBody>
          <a:bodyPr wrap="square" rtlCol="0" anchor="ctr"/>
          <a:lstStyle/>
          <a:p>
            <a:pPr marL="0" indent="0">
              <a:lnSpc>
                <a:spcPct val="135000"/>
              </a:lnSpc>
              <a:buNone/>
            </a:pPr>
            <a:r>
              <a:rPr lang="en-US" sz="1200" b="1" dirty="0"/>
              <a:t>PhysioNet 2012 Challenge · Set-A  ·  4,000 adult ICU patients  ·  first 48 hours after admission  ·  37 physiological + 6 descriptor variables  ·  in-hospital mortality (13.9% positive rate).</a:t>
            </a:r>
          </a:p>
        </p:txBody>
      </p:sp>
      <p:sp>
        <p:nvSpPr>
          <p:cNvPr id="24" name="Freeform 11">
            <a:extLst>
              <a:ext uri="{FF2B5EF4-FFF2-40B4-BE49-F238E27FC236}">
                <a16:creationId xmlns:a16="http://schemas.microsoft.com/office/drawing/2014/main" id="{4D32A36B-40B9-C361-DE69-51C57F8425B7}"/>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04</a:t>
            </a:r>
            <a:endParaRPr lang="en-US" sz="1100" b="1"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6" name="Text 4"/>
          <p:cNvSpPr/>
          <p:nvPr/>
        </p:nvSpPr>
        <p:spPr>
          <a:xfrm>
            <a:off x="8275320" y="566928"/>
            <a:ext cx="658368" cy="201168"/>
          </a:xfrm>
          <a:prstGeom prst="rect">
            <a:avLst/>
          </a:prstGeom>
          <a:noFill/>
          <a:ln/>
        </p:spPr>
        <p:txBody>
          <a:bodyPr wrap="square" rtlCol="0" anchor="ctr"/>
          <a:lstStyle/>
          <a:p>
            <a:pPr marL="0" indent="0" algn="ctr">
              <a:buNone/>
            </a:pPr>
            <a:r>
              <a:rPr lang="en-US" sz="600" b="1" kern="0" spc="100" dirty="0">
                <a:solidFill>
                  <a:srgbClr val="FFFFFF"/>
                </a:solidFill>
              </a:rPr>
              <a:t>TOMSK · 1878</a:t>
            </a:r>
            <a:endParaRPr lang="en-US" sz="6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Object  ·  Subject  ·  Aim  ·  Tasks</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9" name="Shape 7"/>
          <p:cNvSpPr/>
          <p:nvPr/>
        </p:nvSpPr>
        <p:spPr>
          <a:xfrm>
            <a:off x="640080" y="1005840"/>
            <a:ext cx="64008" cy="1143000"/>
          </a:xfrm>
          <a:prstGeom prst="rect">
            <a:avLst/>
          </a:prstGeom>
          <a:solidFill>
            <a:srgbClr val="2E75B6"/>
          </a:solidFill>
          <a:ln w="12700">
            <a:solidFill>
              <a:srgbClr val="2E75B6"/>
            </a:solidFill>
            <a:prstDash val="solid"/>
          </a:ln>
        </p:spPr>
      </p:sp>
      <p:sp>
        <p:nvSpPr>
          <p:cNvPr id="10" name="Text 8"/>
          <p:cNvSpPr/>
          <p:nvPr/>
        </p:nvSpPr>
        <p:spPr>
          <a:xfrm>
            <a:off x="777240" y="1005840"/>
            <a:ext cx="1371600" cy="292608"/>
          </a:xfrm>
          <a:prstGeom prst="rect">
            <a:avLst/>
          </a:prstGeom>
          <a:noFill/>
          <a:ln/>
        </p:spPr>
        <p:txBody>
          <a:bodyPr wrap="square" rtlCol="0" anchor="ctr"/>
          <a:lstStyle/>
          <a:p>
            <a:pPr marL="0" indent="0">
              <a:buNone/>
            </a:pPr>
            <a:r>
              <a:rPr lang="en-US" sz="1300" b="1" kern="0" spc="150" dirty="0">
                <a:solidFill>
                  <a:srgbClr val="0F2C4F"/>
                </a:solidFill>
                <a:latin typeface="Georgia" pitchFamily="34" charset="0"/>
                <a:ea typeface="Georgia" pitchFamily="34" charset="-122"/>
                <a:cs typeface="Georgia" pitchFamily="34" charset="-120"/>
              </a:rPr>
              <a:t>OBJECT</a:t>
            </a:r>
            <a:endParaRPr lang="en-US" sz="1300" dirty="0"/>
          </a:p>
        </p:txBody>
      </p:sp>
      <p:sp>
        <p:nvSpPr>
          <p:cNvPr id="11" name="Text 9"/>
          <p:cNvSpPr/>
          <p:nvPr/>
        </p:nvSpPr>
        <p:spPr>
          <a:xfrm>
            <a:off x="777240" y="1335024"/>
            <a:ext cx="3931920" cy="868680"/>
          </a:xfrm>
          <a:prstGeom prst="rect">
            <a:avLst/>
          </a:prstGeom>
          <a:noFill/>
          <a:ln/>
        </p:spPr>
        <p:txBody>
          <a:bodyPr wrap="square" rtlCol="0" anchor="ctr"/>
          <a:lstStyle/>
          <a:p>
            <a:pPr marL="0" indent="0">
              <a:lnSpc>
                <a:spcPct val="135000"/>
              </a:lnSpc>
              <a:buNone/>
            </a:pPr>
            <a:r>
              <a:rPr lang="en-US" sz="1200" b="1" dirty="0">
                <a:solidFill>
                  <a:srgbClr val="374151"/>
                </a:solidFill>
              </a:rPr>
              <a:t>In-hospital mortality prediction for adult ICU patients during the first 48 hours of admission.</a:t>
            </a:r>
            <a:endParaRPr lang="en-US" sz="1200" b="1" dirty="0"/>
          </a:p>
        </p:txBody>
      </p:sp>
      <p:sp>
        <p:nvSpPr>
          <p:cNvPr id="12" name="Shape 10"/>
          <p:cNvSpPr/>
          <p:nvPr/>
        </p:nvSpPr>
        <p:spPr>
          <a:xfrm>
            <a:off x="640080" y="2286000"/>
            <a:ext cx="64008" cy="1143000"/>
          </a:xfrm>
          <a:prstGeom prst="rect">
            <a:avLst/>
          </a:prstGeom>
          <a:solidFill>
            <a:srgbClr val="2E75B6"/>
          </a:solidFill>
          <a:ln w="12700">
            <a:solidFill>
              <a:srgbClr val="2E75B6"/>
            </a:solidFill>
            <a:prstDash val="solid"/>
          </a:ln>
        </p:spPr>
      </p:sp>
      <p:sp>
        <p:nvSpPr>
          <p:cNvPr id="13" name="Text 11"/>
          <p:cNvSpPr/>
          <p:nvPr/>
        </p:nvSpPr>
        <p:spPr>
          <a:xfrm>
            <a:off x="777240" y="2286000"/>
            <a:ext cx="1371600" cy="292608"/>
          </a:xfrm>
          <a:prstGeom prst="rect">
            <a:avLst/>
          </a:prstGeom>
          <a:noFill/>
          <a:ln/>
        </p:spPr>
        <p:txBody>
          <a:bodyPr wrap="square" rtlCol="0" anchor="ctr"/>
          <a:lstStyle/>
          <a:p>
            <a:pPr marL="0" indent="0">
              <a:buNone/>
            </a:pPr>
            <a:r>
              <a:rPr lang="en-US" sz="1300" b="1" kern="0" spc="150" dirty="0">
                <a:solidFill>
                  <a:srgbClr val="0F2C4F"/>
                </a:solidFill>
                <a:latin typeface="Georgia" pitchFamily="34" charset="0"/>
                <a:ea typeface="Georgia" pitchFamily="34" charset="-122"/>
                <a:cs typeface="Georgia" pitchFamily="34" charset="-120"/>
              </a:rPr>
              <a:t>SUBJECT</a:t>
            </a:r>
            <a:endParaRPr lang="en-US" sz="1300" dirty="0"/>
          </a:p>
        </p:txBody>
      </p:sp>
      <p:sp>
        <p:nvSpPr>
          <p:cNvPr id="14" name="Text 12"/>
          <p:cNvSpPr/>
          <p:nvPr/>
        </p:nvSpPr>
        <p:spPr>
          <a:xfrm>
            <a:off x="777240" y="2615184"/>
            <a:ext cx="3931920" cy="868680"/>
          </a:xfrm>
          <a:prstGeom prst="rect">
            <a:avLst/>
          </a:prstGeom>
          <a:noFill/>
          <a:ln/>
        </p:spPr>
        <p:txBody>
          <a:bodyPr wrap="square" rtlCol="0" anchor="ctr"/>
          <a:lstStyle/>
          <a:p>
            <a:pPr marL="0" indent="0">
              <a:lnSpc>
                <a:spcPct val="135000"/>
              </a:lnSpc>
              <a:buNone/>
            </a:pPr>
            <a:r>
              <a:rPr lang="en-US" sz="1200" b="1" dirty="0">
                <a:solidFill>
                  <a:srgbClr val="374151"/>
                </a:solidFill>
              </a:rPr>
              <a:t>Time-resolved Shapley-value attribution that maps model evidence onto the (hour × variable) axis and agrees with established clinical severity scores.</a:t>
            </a:r>
            <a:endParaRPr lang="en-US" sz="1200" b="1" dirty="0"/>
          </a:p>
        </p:txBody>
      </p:sp>
      <p:sp>
        <p:nvSpPr>
          <p:cNvPr id="15" name="Shape 13"/>
          <p:cNvSpPr/>
          <p:nvPr/>
        </p:nvSpPr>
        <p:spPr>
          <a:xfrm>
            <a:off x="640080" y="3566160"/>
            <a:ext cx="64008" cy="1143000"/>
          </a:xfrm>
          <a:prstGeom prst="rect">
            <a:avLst/>
          </a:prstGeom>
          <a:solidFill>
            <a:srgbClr val="2E75B6"/>
          </a:solidFill>
          <a:ln w="12700">
            <a:solidFill>
              <a:srgbClr val="2E75B6"/>
            </a:solidFill>
            <a:prstDash val="solid"/>
          </a:ln>
        </p:spPr>
      </p:sp>
      <p:sp>
        <p:nvSpPr>
          <p:cNvPr id="16" name="Text 14"/>
          <p:cNvSpPr/>
          <p:nvPr/>
        </p:nvSpPr>
        <p:spPr>
          <a:xfrm>
            <a:off x="777240" y="3566160"/>
            <a:ext cx="1371600" cy="292608"/>
          </a:xfrm>
          <a:prstGeom prst="rect">
            <a:avLst/>
          </a:prstGeom>
          <a:noFill/>
          <a:ln/>
        </p:spPr>
        <p:txBody>
          <a:bodyPr wrap="square" rtlCol="0" anchor="ctr"/>
          <a:lstStyle/>
          <a:p>
            <a:pPr marL="0" indent="0">
              <a:buNone/>
            </a:pPr>
            <a:r>
              <a:rPr lang="en-US" sz="1300" b="1" kern="0" spc="150" dirty="0">
                <a:solidFill>
                  <a:srgbClr val="0F2C4F"/>
                </a:solidFill>
                <a:latin typeface="Georgia" pitchFamily="34" charset="0"/>
                <a:ea typeface="Georgia" pitchFamily="34" charset="-122"/>
                <a:cs typeface="Georgia" pitchFamily="34" charset="-120"/>
              </a:rPr>
              <a:t>AIM</a:t>
            </a:r>
            <a:endParaRPr lang="en-US" sz="1300" dirty="0"/>
          </a:p>
        </p:txBody>
      </p:sp>
      <p:sp>
        <p:nvSpPr>
          <p:cNvPr id="17" name="Text 15"/>
          <p:cNvSpPr/>
          <p:nvPr/>
        </p:nvSpPr>
        <p:spPr>
          <a:xfrm>
            <a:off x="777240" y="3895344"/>
            <a:ext cx="3931920" cy="868680"/>
          </a:xfrm>
          <a:prstGeom prst="rect">
            <a:avLst/>
          </a:prstGeom>
          <a:noFill/>
          <a:ln/>
        </p:spPr>
        <p:txBody>
          <a:bodyPr wrap="square" rtlCol="0" anchor="ctr"/>
          <a:lstStyle/>
          <a:p>
            <a:pPr marL="0" indent="0">
              <a:lnSpc>
                <a:spcPct val="135000"/>
              </a:lnSpc>
              <a:buNone/>
            </a:pPr>
            <a:r>
              <a:rPr lang="en-US" sz="1200" b="1" dirty="0">
                <a:solidFill>
                  <a:srgbClr val="374151"/>
                </a:solidFill>
              </a:rPr>
              <a:t>Develop, evaluate, and clinically validate an explainable deep-learning predictor that matches tree-ensemble discrimination while restoring temporal interpretability.</a:t>
            </a:r>
            <a:endParaRPr lang="en-US" sz="1200" b="1" dirty="0"/>
          </a:p>
        </p:txBody>
      </p:sp>
      <p:sp>
        <p:nvSpPr>
          <p:cNvPr id="18" name="Shape 16"/>
          <p:cNvSpPr/>
          <p:nvPr/>
        </p:nvSpPr>
        <p:spPr>
          <a:xfrm>
            <a:off x="4937760" y="1005840"/>
            <a:ext cx="3429000" cy="3657600"/>
          </a:xfrm>
          <a:prstGeom prst="rect">
            <a:avLst/>
          </a:prstGeom>
          <a:solidFill>
            <a:srgbClr val="F5F8FC"/>
          </a:solidFill>
          <a:ln w="12700">
            <a:solidFill>
              <a:srgbClr val="D9E2F3"/>
            </a:solidFill>
            <a:prstDash val="solid"/>
          </a:ln>
        </p:spPr>
      </p:sp>
      <p:sp>
        <p:nvSpPr>
          <p:cNvPr id="19" name="Text 17"/>
          <p:cNvSpPr/>
          <p:nvPr/>
        </p:nvSpPr>
        <p:spPr>
          <a:xfrm>
            <a:off x="5074920" y="1097280"/>
            <a:ext cx="3200400" cy="274320"/>
          </a:xfrm>
          <a:prstGeom prst="rect">
            <a:avLst/>
          </a:prstGeom>
          <a:noFill/>
          <a:ln/>
        </p:spPr>
        <p:txBody>
          <a:bodyPr wrap="square" rtlCol="0" anchor="ctr"/>
          <a:lstStyle/>
          <a:p>
            <a:pPr marL="0" indent="0">
              <a:buNone/>
            </a:pPr>
            <a:r>
              <a:rPr lang="en-US" sz="1300" b="1" kern="0" spc="150" dirty="0">
                <a:solidFill>
                  <a:srgbClr val="0F2C4F"/>
                </a:solidFill>
              </a:rPr>
              <a:t>RESEARCH TASKS</a:t>
            </a:r>
            <a:endParaRPr lang="en-US" sz="1300" dirty="0"/>
          </a:p>
        </p:txBody>
      </p:sp>
      <p:sp>
        <p:nvSpPr>
          <p:cNvPr id="20" name="Shape 18"/>
          <p:cNvSpPr/>
          <p:nvPr/>
        </p:nvSpPr>
        <p:spPr>
          <a:xfrm>
            <a:off x="5074920" y="1371600"/>
            <a:ext cx="457200" cy="27432"/>
          </a:xfrm>
          <a:prstGeom prst="rect">
            <a:avLst/>
          </a:prstGeom>
          <a:solidFill>
            <a:srgbClr val="2E75B6"/>
          </a:solidFill>
          <a:ln w="12700">
            <a:solidFill>
              <a:srgbClr val="2E75B6"/>
            </a:solidFill>
            <a:prstDash val="solid"/>
          </a:ln>
        </p:spPr>
      </p:sp>
      <p:sp>
        <p:nvSpPr>
          <p:cNvPr id="21" name="Shape 19"/>
          <p:cNvSpPr/>
          <p:nvPr/>
        </p:nvSpPr>
        <p:spPr>
          <a:xfrm>
            <a:off x="5074920" y="1600200"/>
            <a:ext cx="365760" cy="365760"/>
          </a:xfrm>
          <a:prstGeom prst="ellipse">
            <a:avLst/>
          </a:prstGeom>
          <a:solidFill>
            <a:srgbClr val="2E75B6"/>
          </a:solidFill>
          <a:ln w="12700">
            <a:solidFill>
              <a:srgbClr val="2E75B6"/>
            </a:solidFill>
            <a:prstDash val="solid"/>
          </a:ln>
        </p:spPr>
      </p:sp>
      <p:sp>
        <p:nvSpPr>
          <p:cNvPr id="22" name="Text 20"/>
          <p:cNvSpPr/>
          <p:nvPr/>
        </p:nvSpPr>
        <p:spPr>
          <a:xfrm>
            <a:off x="5074920" y="1600200"/>
            <a:ext cx="365760" cy="365760"/>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23" name="Text 21"/>
          <p:cNvSpPr/>
          <p:nvPr/>
        </p:nvSpPr>
        <p:spPr>
          <a:xfrm>
            <a:off x="5532120" y="1581912"/>
            <a:ext cx="2743200" cy="640080"/>
          </a:xfrm>
          <a:prstGeom prst="rect">
            <a:avLst/>
          </a:prstGeom>
          <a:noFill/>
          <a:ln/>
        </p:spPr>
        <p:txBody>
          <a:bodyPr wrap="square" rtlCol="0" anchor="ctr"/>
          <a:lstStyle/>
          <a:p>
            <a:pPr marL="0" indent="0">
              <a:lnSpc>
                <a:spcPct val="130000"/>
              </a:lnSpc>
              <a:buNone/>
            </a:pPr>
            <a:r>
              <a:rPr lang="en-US" sz="1200" b="1" dirty="0">
                <a:solidFill>
                  <a:srgbClr val="374151"/>
                </a:solidFill>
              </a:rPr>
              <a:t>Build a (4000 × 48 × 37) tensor with explicit missingness encoding.</a:t>
            </a:r>
            <a:endParaRPr lang="en-US" sz="1200" b="1" dirty="0"/>
          </a:p>
        </p:txBody>
      </p:sp>
      <p:sp>
        <p:nvSpPr>
          <p:cNvPr id="24" name="Shape 22"/>
          <p:cNvSpPr/>
          <p:nvPr/>
        </p:nvSpPr>
        <p:spPr>
          <a:xfrm>
            <a:off x="5074920" y="2313432"/>
            <a:ext cx="365760" cy="365760"/>
          </a:xfrm>
          <a:prstGeom prst="ellipse">
            <a:avLst/>
          </a:prstGeom>
          <a:solidFill>
            <a:srgbClr val="2E75B6"/>
          </a:solidFill>
          <a:ln w="12700">
            <a:solidFill>
              <a:srgbClr val="2E75B6"/>
            </a:solidFill>
            <a:prstDash val="solid"/>
          </a:ln>
        </p:spPr>
      </p:sp>
      <p:sp>
        <p:nvSpPr>
          <p:cNvPr id="25" name="Text 23"/>
          <p:cNvSpPr/>
          <p:nvPr/>
        </p:nvSpPr>
        <p:spPr>
          <a:xfrm>
            <a:off x="5074920" y="2313432"/>
            <a:ext cx="365760" cy="365760"/>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26" name="Text 24"/>
          <p:cNvSpPr/>
          <p:nvPr/>
        </p:nvSpPr>
        <p:spPr>
          <a:xfrm>
            <a:off x="5532120" y="2295144"/>
            <a:ext cx="2743200" cy="640080"/>
          </a:xfrm>
          <a:prstGeom prst="rect">
            <a:avLst/>
          </a:prstGeom>
          <a:noFill/>
          <a:ln/>
        </p:spPr>
        <p:txBody>
          <a:bodyPr wrap="square" rtlCol="0" anchor="ctr"/>
          <a:lstStyle/>
          <a:p>
            <a:pPr marL="0" indent="0">
              <a:lnSpc>
                <a:spcPct val="130000"/>
              </a:lnSpc>
              <a:buNone/>
            </a:pPr>
            <a:r>
              <a:rPr lang="en-US" sz="1200" b="1" dirty="0">
                <a:solidFill>
                  <a:srgbClr val="374151"/>
                </a:solidFill>
              </a:rPr>
              <a:t>Train and compare XGBoost, TCN, and Time-Aware Transformer under identical protocol.</a:t>
            </a:r>
            <a:endParaRPr lang="en-US" sz="1200" b="1" dirty="0"/>
          </a:p>
        </p:txBody>
      </p:sp>
      <p:sp>
        <p:nvSpPr>
          <p:cNvPr id="27" name="Shape 25"/>
          <p:cNvSpPr/>
          <p:nvPr/>
        </p:nvSpPr>
        <p:spPr>
          <a:xfrm>
            <a:off x="5074920" y="3026664"/>
            <a:ext cx="365760" cy="365760"/>
          </a:xfrm>
          <a:prstGeom prst="ellipse">
            <a:avLst/>
          </a:prstGeom>
          <a:solidFill>
            <a:srgbClr val="2E75B6"/>
          </a:solidFill>
          <a:ln w="12700">
            <a:solidFill>
              <a:srgbClr val="2E75B6"/>
            </a:solidFill>
            <a:prstDash val="solid"/>
          </a:ln>
        </p:spPr>
      </p:sp>
      <p:sp>
        <p:nvSpPr>
          <p:cNvPr id="28" name="Text 26"/>
          <p:cNvSpPr/>
          <p:nvPr/>
        </p:nvSpPr>
        <p:spPr>
          <a:xfrm>
            <a:off x="5074920" y="3026664"/>
            <a:ext cx="365760" cy="365760"/>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29" name="Text 27"/>
          <p:cNvSpPr/>
          <p:nvPr/>
        </p:nvSpPr>
        <p:spPr>
          <a:xfrm>
            <a:off x="5532120" y="3008376"/>
            <a:ext cx="2743200" cy="640080"/>
          </a:xfrm>
          <a:prstGeom prst="rect">
            <a:avLst/>
          </a:prstGeom>
          <a:noFill/>
          <a:ln/>
        </p:spPr>
        <p:txBody>
          <a:bodyPr wrap="square" rtlCol="0" anchor="ctr"/>
          <a:lstStyle/>
          <a:p>
            <a:pPr marL="0" indent="0">
              <a:lnSpc>
                <a:spcPct val="130000"/>
              </a:lnSpc>
              <a:buNone/>
            </a:pPr>
            <a:r>
              <a:rPr lang="en-US" sz="1200" b="1" dirty="0">
                <a:solidFill>
                  <a:srgbClr val="374151"/>
                </a:solidFill>
              </a:rPr>
              <a:t>Derive a time-step SHAP procedure returning attributions on the (hour × variable) axis.</a:t>
            </a:r>
            <a:endParaRPr lang="en-US" sz="1200" b="1" dirty="0"/>
          </a:p>
        </p:txBody>
      </p:sp>
      <p:sp>
        <p:nvSpPr>
          <p:cNvPr id="30" name="Shape 28"/>
          <p:cNvSpPr/>
          <p:nvPr/>
        </p:nvSpPr>
        <p:spPr>
          <a:xfrm>
            <a:off x="5074920" y="3739896"/>
            <a:ext cx="365760" cy="365760"/>
          </a:xfrm>
          <a:prstGeom prst="ellipse">
            <a:avLst/>
          </a:prstGeom>
          <a:solidFill>
            <a:srgbClr val="2E75B6"/>
          </a:solidFill>
          <a:ln w="12700">
            <a:solidFill>
              <a:srgbClr val="2E75B6"/>
            </a:solidFill>
            <a:prstDash val="solid"/>
          </a:ln>
        </p:spPr>
      </p:sp>
      <p:sp>
        <p:nvSpPr>
          <p:cNvPr id="31" name="Text 29"/>
          <p:cNvSpPr/>
          <p:nvPr/>
        </p:nvSpPr>
        <p:spPr>
          <a:xfrm>
            <a:off x="5074920" y="3739896"/>
            <a:ext cx="365760" cy="365760"/>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32" name="Text 30"/>
          <p:cNvSpPr/>
          <p:nvPr/>
        </p:nvSpPr>
        <p:spPr>
          <a:xfrm>
            <a:off x="5532120" y="3721608"/>
            <a:ext cx="2743200" cy="640080"/>
          </a:xfrm>
          <a:prstGeom prst="rect">
            <a:avLst/>
          </a:prstGeom>
          <a:noFill/>
          <a:ln/>
        </p:spPr>
        <p:txBody>
          <a:bodyPr wrap="square" rtlCol="0" anchor="ctr"/>
          <a:lstStyle/>
          <a:p>
            <a:pPr marL="0" indent="0">
              <a:lnSpc>
                <a:spcPct val="130000"/>
              </a:lnSpc>
              <a:buNone/>
            </a:pPr>
            <a:r>
              <a:rPr lang="en-US" sz="1200" b="1" dirty="0">
                <a:solidFill>
                  <a:srgbClr val="374151"/>
                </a:solidFill>
              </a:rPr>
              <a:t>Validate attributions against SOFA / SAPS-I and run a four-variant ablation study.</a:t>
            </a:r>
            <a:endParaRPr lang="en-US" sz="1200" b="1" dirty="0"/>
          </a:p>
        </p:txBody>
      </p:sp>
      <p:sp>
        <p:nvSpPr>
          <p:cNvPr id="33" name="Freeform 11">
            <a:extLst>
              <a:ext uri="{FF2B5EF4-FFF2-40B4-BE49-F238E27FC236}">
                <a16:creationId xmlns:a16="http://schemas.microsoft.com/office/drawing/2014/main" id="{DEC9A3CE-9AAA-FD34-1537-703FD161AC1B}"/>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5" name="Text 3"/>
          <p:cNvSpPr/>
          <p:nvPr/>
        </p:nvSpPr>
        <p:spPr>
          <a:xfrm>
            <a:off x="8275320" y="566928"/>
            <a:ext cx="658368" cy="201168"/>
          </a:xfrm>
          <a:prstGeom prst="rect">
            <a:avLst/>
          </a:prstGeom>
          <a:noFill/>
          <a:ln/>
        </p:spPr>
        <p:txBody>
          <a:bodyPr wrap="square" rtlCol="0" anchor="ctr"/>
          <a:lstStyle/>
          <a:p>
            <a:pPr marL="0" indent="0" algn="ctr">
              <a:buNone/>
            </a:pPr>
            <a:r>
              <a:rPr lang="en-US" sz="600" b="1" kern="0" spc="100" dirty="0">
                <a:solidFill>
                  <a:srgbClr val="FFFFFF"/>
                </a:solidFill>
              </a:rPr>
              <a:t>TOMSK · 187</a:t>
            </a:r>
            <a:endParaRPr lang="en-US" sz="600" dirty="0"/>
          </a:p>
        </p:txBody>
      </p:sp>
      <p:sp>
        <p:nvSpPr>
          <p:cNvPr id="6" name="Text 4"/>
          <p:cNvSpPr/>
          <p:nvPr/>
        </p:nvSpPr>
        <p:spPr>
          <a:xfrm>
            <a:off x="640080" y="201168"/>
            <a:ext cx="7406640" cy="475488"/>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Dataset  —  PhysioNet / CinC Challenge 2012</a:t>
            </a:r>
            <a:endParaRPr lang="en-US" sz="2200" dirty="0"/>
          </a:p>
        </p:txBody>
      </p:sp>
      <p:sp>
        <p:nvSpPr>
          <p:cNvPr id="7" name="Shape 5"/>
          <p:cNvSpPr/>
          <p:nvPr/>
        </p:nvSpPr>
        <p:spPr>
          <a:xfrm>
            <a:off x="640080" y="722376"/>
            <a:ext cx="1005840" cy="45720"/>
          </a:xfrm>
          <a:prstGeom prst="rect">
            <a:avLst/>
          </a:prstGeom>
          <a:solidFill>
            <a:srgbClr val="2E75B6"/>
          </a:solidFill>
          <a:ln w="12700">
            <a:solidFill>
              <a:srgbClr val="2E75B6"/>
            </a:solidFill>
            <a:prstDash val="solid"/>
          </a:ln>
        </p:spPr>
      </p:sp>
      <p:sp>
        <p:nvSpPr>
          <p:cNvPr id="8" name="Text 6"/>
          <p:cNvSpPr/>
          <p:nvPr/>
        </p:nvSpPr>
        <p:spPr>
          <a:xfrm>
            <a:off x="8700516" y="4821936"/>
            <a:ext cx="411480" cy="256032"/>
          </a:xfrm>
          <a:prstGeom prst="rect">
            <a:avLst/>
          </a:prstGeom>
          <a:noFill/>
          <a:ln/>
        </p:spPr>
        <p:txBody>
          <a:bodyPr wrap="square" rtlCol="0" anchor="ctr"/>
          <a:lstStyle/>
          <a:p>
            <a:pPr marL="0" indent="0" algn="r">
              <a:buNone/>
            </a:pPr>
            <a:r>
              <a:rPr lang="en-US" sz="1100" b="1" dirty="0">
                <a:solidFill>
                  <a:srgbClr val="000000"/>
                </a:solidFill>
              </a:rPr>
              <a:t>05</a:t>
            </a:r>
            <a:endParaRPr lang="en-US" sz="1100" dirty="0"/>
          </a:p>
        </p:txBody>
      </p:sp>
      <p:sp>
        <p:nvSpPr>
          <p:cNvPr id="9" name="Shape 7"/>
          <p:cNvSpPr/>
          <p:nvPr/>
        </p:nvSpPr>
        <p:spPr>
          <a:xfrm>
            <a:off x="384048" y="841248"/>
            <a:ext cx="1600200" cy="731520"/>
          </a:xfrm>
          <a:prstGeom prst="rect">
            <a:avLst/>
          </a:prstGeom>
          <a:solidFill>
            <a:srgbClr val="F5F8FC"/>
          </a:solidFill>
          <a:ln w="6350">
            <a:solidFill>
              <a:srgbClr val="D9E2F3"/>
            </a:solidFill>
            <a:prstDash val="solid"/>
          </a:ln>
        </p:spPr>
      </p:sp>
      <p:sp>
        <p:nvSpPr>
          <p:cNvPr id="10" name="Shape 8"/>
          <p:cNvSpPr/>
          <p:nvPr/>
        </p:nvSpPr>
        <p:spPr>
          <a:xfrm>
            <a:off x="384048" y="841248"/>
            <a:ext cx="1600200" cy="36576"/>
          </a:xfrm>
          <a:prstGeom prst="rect">
            <a:avLst/>
          </a:prstGeom>
          <a:solidFill>
            <a:srgbClr val="1F4E79"/>
          </a:solidFill>
          <a:ln w="12700">
            <a:solidFill>
              <a:srgbClr val="1F4E79"/>
            </a:solidFill>
            <a:prstDash val="solid"/>
          </a:ln>
        </p:spPr>
      </p:sp>
      <p:sp>
        <p:nvSpPr>
          <p:cNvPr id="11" name="Text 9"/>
          <p:cNvSpPr/>
          <p:nvPr/>
        </p:nvSpPr>
        <p:spPr>
          <a:xfrm>
            <a:off x="384048" y="877824"/>
            <a:ext cx="1600200" cy="384048"/>
          </a:xfrm>
          <a:prstGeom prst="rect">
            <a:avLst/>
          </a:prstGeom>
          <a:noFill/>
          <a:ln/>
        </p:spPr>
        <p:txBody>
          <a:bodyPr wrap="square" rtlCol="0" anchor="ctr"/>
          <a:lstStyle/>
          <a:p>
            <a:pPr marL="0" indent="0" algn="ctr">
              <a:buNone/>
            </a:pPr>
            <a:r>
              <a:rPr lang="en-US" sz="2200" b="1" dirty="0">
                <a:solidFill>
                  <a:srgbClr val="1F4E79"/>
                </a:solidFill>
                <a:latin typeface="Georgia" pitchFamily="34" charset="0"/>
                <a:ea typeface="Georgia" pitchFamily="34" charset="-122"/>
                <a:cs typeface="Georgia" pitchFamily="34" charset="-120"/>
              </a:rPr>
              <a:t>12,000</a:t>
            </a:r>
            <a:endParaRPr lang="en-US" sz="2200" dirty="0"/>
          </a:p>
        </p:txBody>
      </p:sp>
      <p:sp>
        <p:nvSpPr>
          <p:cNvPr id="12" name="Text 10"/>
          <p:cNvSpPr/>
          <p:nvPr/>
        </p:nvSpPr>
        <p:spPr>
          <a:xfrm>
            <a:off x="384048" y="1261872"/>
            <a:ext cx="1600200" cy="274320"/>
          </a:xfrm>
          <a:prstGeom prst="rect">
            <a:avLst/>
          </a:prstGeom>
          <a:noFill/>
          <a:ln/>
        </p:spPr>
        <p:txBody>
          <a:bodyPr wrap="square" rtlCol="0" anchor="ctr"/>
          <a:lstStyle/>
          <a:p>
            <a:pPr marL="0" indent="0" algn="ctr">
              <a:buNone/>
            </a:pPr>
            <a:r>
              <a:rPr lang="en-US" sz="1200" b="1" dirty="0"/>
              <a:t>Total ICU records</a:t>
            </a:r>
          </a:p>
        </p:txBody>
      </p:sp>
      <p:sp>
        <p:nvSpPr>
          <p:cNvPr id="13" name="Shape 11"/>
          <p:cNvSpPr/>
          <p:nvPr/>
        </p:nvSpPr>
        <p:spPr>
          <a:xfrm>
            <a:off x="2103120" y="841248"/>
            <a:ext cx="1600200" cy="731520"/>
          </a:xfrm>
          <a:prstGeom prst="rect">
            <a:avLst/>
          </a:prstGeom>
          <a:solidFill>
            <a:srgbClr val="F5F8FC"/>
          </a:solidFill>
          <a:ln w="6350">
            <a:solidFill>
              <a:srgbClr val="D9E2F3"/>
            </a:solidFill>
            <a:prstDash val="solid"/>
          </a:ln>
        </p:spPr>
      </p:sp>
      <p:sp>
        <p:nvSpPr>
          <p:cNvPr id="14" name="Shape 12"/>
          <p:cNvSpPr/>
          <p:nvPr/>
        </p:nvSpPr>
        <p:spPr>
          <a:xfrm>
            <a:off x="2103120" y="841248"/>
            <a:ext cx="1600200" cy="36576"/>
          </a:xfrm>
          <a:prstGeom prst="rect">
            <a:avLst/>
          </a:prstGeom>
          <a:solidFill>
            <a:srgbClr val="2E75B6"/>
          </a:solidFill>
          <a:ln w="12700">
            <a:solidFill>
              <a:srgbClr val="2E75B6"/>
            </a:solidFill>
            <a:prstDash val="solid"/>
          </a:ln>
        </p:spPr>
      </p:sp>
      <p:sp>
        <p:nvSpPr>
          <p:cNvPr id="15" name="Text 13"/>
          <p:cNvSpPr/>
          <p:nvPr/>
        </p:nvSpPr>
        <p:spPr>
          <a:xfrm>
            <a:off x="2103120" y="877824"/>
            <a:ext cx="1600200" cy="384048"/>
          </a:xfrm>
          <a:prstGeom prst="rect">
            <a:avLst/>
          </a:prstGeom>
          <a:noFill/>
          <a:ln/>
        </p:spPr>
        <p:txBody>
          <a:bodyPr wrap="square" rtlCol="0" anchor="ctr"/>
          <a:lstStyle/>
          <a:p>
            <a:pPr marL="0" indent="0" algn="ctr">
              <a:buNone/>
            </a:pPr>
            <a:r>
              <a:rPr lang="en-US" sz="2200" b="1" dirty="0">
                <a:solidFill>
                  <a:srgbClr val="2E75B6"/>
                </a:solidFill>
                <a:latin typeface="Georgia" pitchFamily="34" charset="0"/>
                <a:ea typeface="Georgia" pitchFamily="34" charset="-122"/>
                <a:cs typeface="Georgia" pitchFamily="34" charset="-120"/>
              </a:rPr>
              <a:t>4,000</a:t>
            </a:r>
            <a:endParaRPr lang="en-US" sz="2200" dirty="0"/>
          </a:p>
        </p:txBody>
      </p:sp>
      <p:sp>
        <p:nvSpPr>
          <p:cNvPr id="16" name="Text 14"/>
          <p:cNvSpPr/>
          <p:nvPr/>
        </p:nvSpPr>
        <p:spPr>
          <a:xfrm>
            <a:off x="2103120" y="1261872"/>
            <a:ext cx="1600200" cy="274320"/>
          </a:xfrm>
          <a:prstGeom prst="rect">
            <a:avLst/>
          </a:prstGeom>
          <a:noFill/>
          <a:ln/>
        </p:spPr>
        <p:txBody>
          <a:bodyPr wrap="square" rtlCol="0" anchor="ctr"/>
          <a:lstStyle/>
          <a:p>
            <a:pPr marL="0" indent="0" algn="ctr">
              <a:buNone/>
            </a:pPr>
            <a:r>
              <a:rPr lang="en-US" sz="1200" b="1" dirty="0"/>
              <a:t>Labelled Set-A used</a:t>
            </a:r>
          </a:p>
        </p:txBody>
      </p:sp>
      <p:sp>
        <p:nvSpPr>
          <p:cNvPr id="17" name="Shape 15"/>
          <p:cNvSpPr/>
          <p:nvPr/>
        </p:nvSpPr>
        <p:spPr>
          <a:xfrm>
            <a:off x="3822192" y="841248"/>
            <a:ext cx="1600200" cy="731520"/>
          </a:xfrm>
          <a:prstGeom prst="rect">
            <a:avLst/>
          </a:prstGeom>
          <a:solidFill>
            <a:srgbClr val="F5F8FC"/>
          </a:solidFill>
          <a:ln w="6350">
            <a:solidFill>
              <a:srgbClr val="D9E2F3"/>
            </a:solidFill>
            <a:prstDash val="solid"/>
          </a:ln>
        </p:spPr>
      </p:sp>
      <p:sp>
        <p:nvSpPr>
          <p:cNvPr id="18" name="Shape 16"/>
          <p:cNvSpPr/>
          <p:nvPr/>
        </p:nvSpPr>
        <p:spPr>
          <a:xfrm>
            <a:off x="3822192" y="841248"/>
            <a:ext cx="1600200" cy="36576"/>
          </a:xfrm>
          <a:prstGeom prst="rect">
            <a:avLst/>
          </a:prstGeom>
          <a:solidFill>
            <a:srgbClr val="0E7C7B"/>
          </a:solidFill>
          <a:ln w="12700">
            <a:solidFill>
              <a:srgbClr val="0E7C7B"/>
            </a:solidFill>
            <a:prstDash val="solid"/>
          </a:ln>
        </p:spPr>
      </p:sp>
      <p:sp>
        <p:nvSpPr>
          <p:cNvPr id="19" name="Text 17"/>
          <p:cNvSpPr/>
          <p:nvPr/>
        </p:nvSpPr>
        <p:spPr>
          <a:xfrm>
            <a:off x="3822192" y="877824"/>
            <a:ext cx="1600200" cy="384048"/>
          </a:xfrm>
          <a:prstGeom prst="rect">
            <a:avLst/>
          </a:prstGeom>
          <a:noFill/>
          <a:ln/>
        </p:spPr>
        <p:txBody>
          <a:bodyPr wrap="square" rtlCol="0" anchor="ctr"/>
          <a:lstStyle/>
          <a:p>
            <a:pPr marL="0" indent="0" algn="ctr">
              <a:buNone/>
            </a:pPr>
            <a:r>
              <a:rPr lang="en-US" sz="2200" b="1" dirty="0">
                <a:solidFill>
                  <a:srgbClr val="0E7C7B"/>
                </a:solidFill>
                <a:latin typeface="Georgia" pitchFamily="34" charset="0"/>
                <a:ea typeface="Georgia" pitchFamily="34" charset="-122"/>
                <a:cs typeface="Georgia" pitchFamily="34" charset="-120"/>
              </a:rPr>
              <a:t>48 h</a:t>
            </a:r>
            <a:endParaRPr lang="en-US" sz="2200" dirty="0"/>
          </a:p>
        </p:txBody>
      </p:sp>
      <p:sp>
        <p:nvSpPr>
          <p:cNvPr id="20" name="Text 18"/>
          <p:cNvSpPr/>
          <p:nvPr/>
        </p:nvSpPr>
        <p:spPr>
          <a:xfrm>
            <a:off x="3822192" y="1261872"/>
            <a:ext cx="1600200" cy="274320"/>
          </a:xfrm>
          <a:prstGeom prst="rect">
            <a:avLst/>
          </a:prstGeom>
          <a:noFill/>
          <a:ln/>
        </p:spPr>
        <p:txBody>
          <a:bodyPr wrap="square" rtlCol="0" anchor="ctr"/>
          <a:lstStyle/>
          <a:p>
            <a:pPr marL="0" indent="0" algn="ctr">
              <a:buNone/>
            </a:pPr>
            <a:r>
              <a:rPr lang="en-US" sz="1200" b="1" dirty="0"/>
              <a:t>Observation window</a:t>
            </a:r>
          </a:p>
        </p:txBody>
      </p:sp>
      <p:sp>
        <p:nvSpPr>
          <p:cNvPr id="21" name="Shape 19"/>
          <p:cNvSpPr/>
          <p:nvPr/>
        </p:nvSpPr>
        <p:spPr>
          <a:xfrm>
            <a:off x="5541264" y="841248"/>
            <a:ext cx="1600200" cy="731520"/>
          </a:xfrm>
          <a:prstGeom prst="rect">
            <a:avLst/>
          </a:prstGeom>
          <a:solidFill>
            <a:srgbClr val="F5F8FC"/>
          </a:solidFill>
          <a:ln w="6350">
            <a:solidFill>
              <a:srgbClr val="D9E2F3"/>
            </a:solidFill>
            <a:prstDash val="solid"/>
          </a:ln>
        </p:spPr>
      </p:sp>
      <p:sp>
        <p:nvSpPr>
          <p:cNvPr id="22" name="Shape 20"/>
          <p:cNvSpPr/>
          <p:nvPr/>
        </p:nvSpPr>
        <p:spPr>
          <a:xfrm>
            <a:off x="5541264" y="841248"/>
            <a:ext cx="1600200" cy="36576"/>
          </a:xfrm>
          <a:prstGeom prst="rect">
            <a:avLst/>
          </a:prstGeom>
          <a:solidFill>
            <a:srgbClr val="C77700"/>
          </a:solidFill>
          <a:ln w="12700">
            <a:solidFill>
              <a:srgbClr val="C77700"/>
            </a:solidFill>
            <a:prstDash val="solid"/>
          </a:ln>
        </p:spPr>
      </p:sp>
      <p:sp>
        <p:nvSpPr>
          <p:cNvPr id="23" name="Text 21"/>
          <p:cNvSpPr/>
          <p:nvPr/>
        </p:nvSpPr>
        <p:spPr>
          <a:xfrm>
            <a:off x="5541264" y="877824"/>
            <a:ext cx="1600200" cy="384048"/>
          </a:xfrm>
          <a:prstGeom prst="rect">
            <a:avLst/>
          </a:prstGeom>
          <a:noFill/>
          <a:ln/>
        </p:spPr>
        <p:txBody>
          <a:bodyPr wrap="square" rtlCol="0" anchor="ctr"/>
          <a:lstStyle/>
          <a:p>
            <a:pPr marL="0" indent="0" algn="ctr">
              <a:buNone/>
            </a:pPr>
            <a:r>
              <a:rPr lang="en-US" sz="2200" b="1" dirty="0">
                <a:solidFill>
                  <a:srgbClr val="C77700"/>
                </a:solidFill>
                <a:latin typeface="Georgia" pitchFamily="34" charset="0"/>
                <a:ea typeface="Georgia" pitchFamily="34" charset="-122"/>
                <a:cs typeface="Georgia" pitchFamily="34" charset="-120"/>
              </a:rPr>
              <a:t>42</a:t>
            </a:r>
            <a:endParaRPr lang="en-US" sz="2200" dirty="0"/>
          </a:p>
        </p:txBody>
      </p:sp>
      <p:sp>
        <p:nvSpPr>
          <p:cNvPr id="24" name="Text 22"/>
          <p:cNvSpPr/>
          <p:nvPr/>
        </p:nvSpPr>
        <p:spPr>
          <a:xfrm>
            <a:off x="5541264" y="1261872"/>
            <a:ext cx="1600200" cy="274320"/>
          </a:xfrm>
          <a:prstGeom prst="rect">
            <a:avLst/>
          </a:prstGeom>
          <a:noFill/>
          <a:ln/>
        </p:spPr>
        <p:txBody>
          <a:bodyPr wrap="square" rtlCol="0" anchor="ctr"/>
          <a:lstStyle/>
          <a:p>
            <a:pPr marL="0" indent="0" algn="ctr">
              <a:buNone/>
            </a:pPr>
            <a:r>
              <a:rPr lang="en-US" sz="1200" b="1" dirty="0"/>
              <a:t>Variables (6+37)</a:t>
            </a:r>
          </a:p>
        </p:txBody>
      </p:sp>
      <p:sp>
        <p:nvSpPr>
          <p:cNvPr id="25" name="Shape 23"/>
          <p:cNvSpPr/>
          <p:nvPr/>
        </p:nvSpPr>
        <p:spPr>
          <a:xfrm>
            <a:off x="7260336" y="841248"/>
            <a:ext cx="1600200" cy="731520"/>
          </a:xfrm>
          <a:prstGeom prst="rect">
            <a:avLst/>
          </a:prstGeom>
          <a:solidFill>
            <a:srgbClr val="F5F8FC"/>
          </a:solidFill>
          <a:ln w="6350">
            <a:solidFill>
              <a:srgbClr val="D9E2F3"/>
            </a:solidFill>
            <a:prstDash val="solid"/>
          </a:ln>
        </p:spPr>
      </p:sp>
      <p:sp>
        <p:nvSpPr>
          <p:cNvPr id="26" name="Shape 24"/>
          <p:cNvSpPr/>
          <p:nvPr/>
        </p:nvSpPr>
        <p:spPr>
          <a:xfrm>
            <a:off x="7260336" y="841248"/>
            <a:ext cx="1600200" cy="36576"/>
          </a:xfrm>
          <a:prstGeom prst="rect">
            <a:avLst/>
          </a:prstGeom>
          <a:solidFill>
            <a:srgbClr val="B22222"/>
          </a:solidFill>
          <a:ln w="12700">
            <a:solidFill>
              <a:srgbClr val="B22222"/>
            </a:solidFill>
            <a:prstDash val="solid"/>
          </a:ln>
        </p:spPr>
      </p:sp>
      <p:sp>
        <p:nvSpPr>
          <p:cNvPr id="27" name="Text 25"/>
          <p:cNvSpPr/>
          <p:nvPr/>
        </p:nvSpPr>
        <p:spPr>
          <a:xfrm>
            <a:off x="7260336" y="877824"/>
            <a:ext cx="1600200" cy="384048"/>
          </a:xfrm>
          <a:prstGeom prst="rect">
            <a:avLst/>
          </a:prstGeom>
          <a:noFill/>
          <a:ln/>
        </p:spPr>
        <p:txBody>
          <a:bodyPr wrap="square" rtlCol="0" anchor="ctr"/>
          <a:lstStyle/>
          <a:p>
            <a:pPr marL="0" indent="0" algn="ctr">
              <a:buNone/>
            </a:pPr>
            <a:r>
              <a:rPr lang="en-US" sz="2200" b="1" dirty="0">
                <a:solidFill>
                  <a:srgbClr val="B22222"/>
                </a:solidFill>
                <a:latin typeface="Georgia" pitchFamily="34" charset="0"/>
                <a:ea typeface="Georgia" pitchFamily="34" charset="-122"/>
                <a:cs typeface="Georgia" pitchFamily="34" charset="-120"/>
              </a:rPr>
              <a:t>13.9%</a:t>
            </a:r>
            <a:endParaRPr lang="en-US" sz="2200" dirty="0"/>
          </a:p>
        </p:txBody>
      </p:sp>
      <p:sp>
        <p:nvSpPr>
          <p:cNvPr id="28" name="Text 26"/>
          <p:cNvSpPr/>
          <p:nvPr/>
        </p:nvSpPr>
        <p:spPr>
          <a:xfrm>
            <a:off x="7260336" y="1261872"/>
            <a:ext cx="1600200" cy="274320"/>
          </a:xfrm>
          <a:prstGeom prst="rect">
            <a:avLst/>
          </a:prstGeom>
          <a:noFill/>
          <a:ln/>
        </p:spPr>
        <p:txBody>
          <a:bodyPr wrap="square" rtlCol="0" anchor="ctr"/>
          <a:lstStyle/>
          <a:p>
            <a:pPr marL="0" indent="0" algn="ctr">
              <a:buNone/>
            </a:pPr>
            <a:r>
              <a:rPr lang="en-US" sz="1200" b="1" dirty="0"/>
              <a:t>Mortality rate</a:t>
            </a:r>
          </a:p>
        </p:txBody>
      </p:sp>
      <p:sp>
        <p:nvSpPr>
          <p:cNvPr id="29" name="Shape 27"/>
          <p:cNvSpPr/>
          <p:nvPr/>
        </p:nvSpPr>
        <p:spPr>
          <a:xfrm>
            <a:off x="384048" y="1719072"/>
            <a:ext cx="1389888" cy="292608"/>
          </a:xfrm>
          <a:prstGeom prst="rect">
            <a:avLst/>
          </a:prstGeom>
          <a:solidFill>
            <a:srgbClr val="1F4E79"/>
          </a:solidFill>
          <a:ln w="12700">
            <a:solidFill>
              <a:srgbClr val="1F4E79"/>
            </a:solidFill>
            <a:prstDash val="solid"/>
          </a:ln>
        </p:spPr>
      </p:sp>
      <p:sp>
        <p:nvSpPr>
          <p:cNvPr id="30" name="Text 28"/>
          <p:cNvSpPr/>
          <p:nvPr/>
        </p:nvSpPr>
        <p:spPr>
          <a:xfrm>
            <a:off x="384048" y="1719072"/>
            <a:ext cx="1389888" cy="292608"/>
          </a:xfrm>
          <a:prstGeom prst="rect">
            <a:avLst/>
          </a:prstGeom>
          <a:noFill/>
          <a:ln/>
        </p:spPr>
        <p:txBody>
          <a:bodyPr wrap="square" rtlCol="0" anchor="ctr"/>
          <a:lstStyle/>
          <a:p>
            <a:pPr marL="0" indent="0" algn="ctr">
              <a:buNone/>
            </a:pPr>
            <a:r>
              <a:rPr lang="en-US" sz="850" b="1" kern="0" spc="30" dirty="0">
                <a:solidFill>
                  <a:srgbClr val="FFFFFF"/>
                </a:solidFill>
              </a:rPr>
              <a:t>GENERAL  (6)</a:t>
            </a:r>
            <a:endParaRPr lang="en-US" sz="850" dirty="0"/>
          </a:p>
        </p:txBody>
      </p:sp>
      <p:sp>
        <p:nvSpPr>
          <p:cNvPr id="31" name="Shape 29"/>
          <p:cNvSpPr/>
          <p:nvPr/>
        </p:nvSpPr>
        <p:spPr>
          <a:xfrm>
            <a:off x="1847088" y="1719072"/>
            <a:ext cx="5102352" cy="292608"/>
          </a:xfrm>
          <a:prstGeom prst="rect">
            <a:avLst/>
          </a:prstGeom>
          <a:solidFill>
            <a:srgbClr val="2E75B6"/>
          </a:solidFill>
          <a:ln w="12700">
            <a:solidFill>
              <a:srgbClr val="2E75B6"/>
            </a:solidFill>
            <a:prstDash val="solid"/>
          </a:ln>
        </p:spPr>
      </p:sp>
      <p:sp>
        <p:nvSpPr>
          <p:cNvPr id="32" name="Text 30"/>
          <p:cNvSpPr/>
          <p:nvPr/>
        </p:nvSpPr>
        <p:spPr>
          <a:xfrm>
            <a:off x="1920240" y="1719072"/>
            <a:ext cx="4956048" cy="292608"/>
          </a:xfrm>
          <a:prstGeom prst="rect">
            <a:avLst/>
          </a:prstGeom>
          <a:noFill/>
          <a:ln/>
        </p:spPr>
        <p:txBody>
          <a:bodyPr wrap="square" rtlCol="0" anchor="ctr"/>
          <a:lstStyle/>
          <a:p>
            <a:pPr marL="0" indent="0" algn="l">
              <a:buNone/>
            </a:pPr>
            <a:r>
              <a:rPr lang="en-US" sz="850" b="1" dirty="0">
                <a:solidFill>
                  <a:srgbClr val="FFFFFF"/>
                </a:solidFill>
              </a:rPr>
              <a:t>TIME-SERIES VARIABLES  —  37 variables  ·  all used as model input  ·  plus 37 missingness mask channels</a:t>
            </a:r>
            <a:endParaRPr lang="en-US" sz="850" dirty="0"/>
          </a:p>
        </p:txBody>
      </p:sp>
      <p:sp>
        <p:nvSpPr>
          <p:cNvPr id="33" name="Shape 31"/>
          <p:cNvSpPr/>
          <p:nvPr/>
        </p:nvSpPr>
        <p:spPr>
          <a:xfrm>
            <a:off x="7022592" y="1719072"/>
            <a:ext cx="1755648" cy="292608"/>
          </a:xfrm>
          <a:prstGeom prst="rect">
            <a:avLst/>
          </a:prstGeom>
          <a:solidFill>
            <a:srgbClr val="1B7A3F"/>
          </a:solidFill>
          <a:ln w="12700">
            <a:solidFill>
              <a:srgbClr val="1B7A3F"/>
            </a:solidFill>
            <a:prstDash val="solid"/>
          </a:ln>
        </p:spPr>
      </p:sp>
      <p:sp>
        <p:nvSpPr>
          <p:cNvPr id="34" name="Text 32"/>
          <p:cNvSpPr/>
          <p:nvPr/>
        </p:nvSpPr>
        <p:spPr>
          <a:xfrm>
            <a:off x="7022592" y="1719072"/>
            <a:ext cx="1755648" cy="292608"/>
          </a:xfrm>
          <a:prstGeom prst="rect">
            <a:avLst/>
          </a:prstGeom>
          <a:noFill/>
          <a:ln/>
        </p:spPr>
        <p:txBody>
          <a:bodyPr wrap="square" rtlCol="0" anchor="ctr"/>
          <a:lstStyle/>
          <a:p>
            <a:pPr marL="0" indent="0" algn="ctr">
              <a:buNone/>
            </a:pPr>
            <a:r>
              <a:rPr lang="en-US" sz="850" b="1" kern="0" spc="30" dirty="0">
                <a:solidFill>
                  <a:srgbClr val="FFFFFF"/>
                </a:solidFill>
              </a:rPr>
              <a:t>OUTCOME  (5)</a:t>
            </a:r>
            <a:endParaRPr lang="en-US" sz="850" dirty="0"/>
          </a:p>
        </p:txBody>
      </p:sp>
      <p:sp>
        <p:nvSpPr>
          <p:cNvPr id="35" name="Shape 33"/>
          <p:cNvSpPr/>
          <p:nvPr/>
        </p:nvSpPr>
        <p:spPr>
          <a:xfrm>
            <a:off x="384048" y="2011680"/>
            <a:ext cx="1389888" cy="2779776"/>
          </a:xfrm>
          <a:prstGeom prst="rect">
            <a:avLst/>
          </a:prstGeom>
          <a:solidFill>
            <a:srgbClr val="F5F8FC"/>
          </a:solidFill>
          <a:ln w="6350">
            <a:solidFill>
              <a:srgbClr val="D9E2F3"/>
            </a:solidFill>
            <a:prstDash val="solid"/>
          </a:ln>
        </p:spPr>
      </p:sp>
      <p:sp>
        <p:nvSpPr>
          <p:cNvPr id="36" name="Shape 34"/>
          <p:cNvSpPr/>
          <p:nvPr/>
        </p:nvSpPr>
        <p:spPr>
          <a:xfrm>
            <a:off x="429768" y="2157984"/>
            <a:ext cx="45720" cy="182880"/>
          </a:xfrm>
          <a:prstGeom prst="rect">
            <a:avLst/>
          </a:prstGeom>
          <a:solidFill>
            <a:srgbClr val="1F4E79"/>
          </a:solidFill>
          <a:ln w="12700">
            <a:solidFill>
              <a:srgbClr val="1F4E79"/>
            </a:solidFill>
            <a:prstDash val="solid"/>
          </a:ln>
        </p:spPr>
      </p:sp>
      <p:sp>
        <p:nvSpPr>
          <p:cNvPr id="37" name="Text 35"/>
          <p:cNvSpPr/>
          <p:nvPr/>
        </p:nvSpPr>
        <p:spPr>
          <a:xfrm>
            <a:off x="521208" y="2066544"/>
            <a:ext cx="1188720" cy="237744"/>
          </a:xfrm>
          <a:prstGeom prst="rect">
            <a:avLst/>
          </a:prstGeom>
          <a:noFill/>
          <a:ln/>
        </p:spPr>
        <p:txBody>
          <a:bodyPr wrap="square" rtlCol="0" anchor="b"/>
          <a:lstStyle/>
          <a:p>
            <a:pPr marL="0" indent="0">
              <a:buNone/>
            </a:pPr>
            <a:r>
              <a:rPr lang="en-US" sz="950" b="1" dirty="0">
                <a:solidFill>
                  <a:srgbClr val="0F2C4F"/>
                </a:solidFill>
              </a:rPr>
              <a:t>RecordID</a:t>
            </a:r>
            <a:endParaRPr lang="en-US" sz="950" dirty="0"/>
          </a:p>
        </p:txBody>
      </p:sp>
      <p:sp>
        <p:nvSpPr>
          <p:cNvPr id="38" name="Text 36"/>
          <p:cNvSpPr/>
          <p:nvPr/>
        </p:nvSpPr>
        <p:spPr>
          <a:xfrm>
            <a:off x="521208" y="2286000"/>
            <a:ext cx="1188720" cy="182880"/>
          </a:xfrm>
          <a:prstGeom prst="rect">
            <a:avLst/>
          </a:prstGeom>
          <a:noFill/>
          <a:ln/>
        </p:spPr>
        <p:txBody>
          <a:bodyPr wrap="square" rtlCol="0" anchor="t"/>
          <a:lstStyle/>
          <a:p>
            <a:r>
              <a:rPr lang="en-US" sz="1200" i="1" dirty="0" err="1"/>
              <a:t>UniqueID</a:t>
            </a:r>
            <a:endParaRPr lang="en-US" sz="1200" dirty="0"/>
          </a:p>
        </p:txBody>
      </p:sp>
      <p:sp>
        <p:nvSpPr>
          <p:cNvPr id="39" name="Shape 37"/>
          <p:cNvSpPr/>
          <p:nvPr/>
        </p:nvSpPr>
        <p:spPr>
          <a:xfrm>
            <a:off x="429768" y="2596896"/>
            <a:ext cx="45720" cy="182880"/>
          </a:xfrm>
          <a:prstGeom prst="rect">
            <a:avLst/>
          </a:prstGeom>
          <a:solidFill>
            <a:srgbClr val="1F4E79"/>
          </a:solidFill>
          <a:ln w="12700">
            <a:solidFill>
              <a:srgbClr val="1F4E79"/>
            </a:solidFill>
            <a:prstDash val="solid"/>
          </a:ln>
        </p:spPr>
      </p:sp>
      <p:sp>
        <p:nvSpPr>
          <p:cNvPr id="40" name="Text 38"/>
          <p:cNvSpPr/>
          <p:nvPr/>
        </p:nvSpPr>
        <p:spPr>
          <a:xfrm>
            <a:off x="521208" y="2505456"/>
            <a:ext cx="1188720" cy="237744"/>
          </a:xfrm>
          <a:prstGeom prst="rect">
            <a:avLst/>
          </a:prstGeom>
          <a:noFill/>
          <a:ln/>
        </p:spPr>
        <p:txBody>
          <a:bodyPr wrap="square" rtlCol="0" anchor="b"/>
          <a:lstStyle/>
          <a:p>
            <a:pPr marL="0" indent="0">
              <a:buNone/>
            </a:pPr>
            <a:r>
              <a:rPr lang="en-US" sz="950" b="1" dirty="0">
                <a:solidFill>
                  <a:srgbClr val="0F2C4F"/>
                </a:solidFill>
              </a:rPr>
              <a:t>Age</a:t>
            </a:r>
            <a:endParaRPr lang="en-US" sz="950" dirty="0"/>
          </a:p>
        </p:txBody>
      </p:sp>
      <p:sp>
        <p:nvSpPr>
          <p:cNvPr id="41" name="Text 39"/>
          <p:cNvSpPr/>
          <p:nvPr/>
        </p:nvSpPr>
        <p:spPr>
          <a:xfrm>
            <a:off x="521208" y="2724912"/>
            <a:ext cx="1188720" cy="182880"/>
          </a:xfrm>
          <a:prstGeom prst="rect">
            <a:avLst/>
          </a:prstGeom>
          <a:noFill/>
          <a:ln/>
        </p:spPr>
        <p:txBody>
          <a:bodyPr wrap="square" rtlCol="0" anchor="t"/>
          <a:lstStyle/>
          <a:p>
            <a:pPr marL="0" indent="0">
              <a:buNone/>
            </a:pPr>
            <a:r>
              <a:rPr lang="en-US" sz="800" b="1" i="1" dirty="0">
                <a:solidFill>
                  <a:srgbClr val="000000"/>
                </a:solidFill>
              </a:rPr>
              <a:t>Years</a:t>
            </a:r>
            <a:endParaRPr lang="en-US" sz="800" dirty="0"/>
          </a:p>
        </p:txBody>
      </p:sp>
      <p:sp>
        <p:nvSpPr>
          <p:cNvPr id="42" name="Shape 40"/>
          <p:cNvSpPr/>
          <p:nvPr/>
        </p:nvSpPr>
        <p:spPr>
          <a:xfrm>
            <a:off x="429768" y="3035808"/>
            <a:ext cx="45720" cy="182880"/>
          </a:xfrm>
          <a:prstGeom prst="rect">
            <a:avLst/>
          </a:prstGeom>
          <a:solidFill>
            <a:srgbClr val="1F4E79"/>
          </a:solidFill>
          <a:ln w="12700">
            <a:solidFill>
              <a:srgbClr val="1F4E79"/>
            </a:solidFill>
            <a:prstDash val="solid"/>
          </a:ln>
        </p:spPr>
      </p:sp>
      <p:sp>
        <p:nvSpPr>
          <p:cNvPr id="43" name="Text 41"/>
          <p:cNvSpPr/>
          <p:nvPr/>
        </p:nvSpPr>
        <p:spPr>
          <a:xfrm>
            <a:off x="521208" y="2944368"/>
            <a:ext cx="1188720" cy="237744"/>
          </a:xfrm>
          <a:prstGeom prst="rect">
            <a:avLst/>
          </a:prstGeom>
          <a:noFill/>
          <a:ln/>
        </p:spPr>
        <p:txBody>
          <a:bodyPr wrap="square" rtlCol="0" anchor="b"/>
          <a:lstStyle/>
          <a:p>
            <a:pPr marL="0" indent="0">
              <a:buNone/>
            </a:pPr>
            <a:r>
              <a:rPr lang="en-US" sz="950" b="1" dirty="0">
                <a:solidFill>
                  <a:srgbClr val="0F2C4F"/>
                </a:solidFill>
              </a:rPr>
              <a:t>Gender</a:t>
            </a:r>
            <a:endParaRPr lang="en-US" sz="950" dirty="0"/>
          </a:p>
        </p:txBody>
      </p:sp>
      <p:sp>
        <p:nvSpPr>
          <p:cNvPr id="44" name="Text 42"/>
          <p:cNvSpPr/>
          <p:nvPr/>
        </p:nvSpPr>
        <p:spPr>
          <a:xfrm>
            <a:off x="521208" y="3163824"/>
            <a:ext cx="1188720" cy="182880"/>
          </a:xfrm>
          <a:prstGeom prst="rect">
            <a:avLst/>
          </a:prstGeom>
          <a:noFill/>
          <a:ln/>
        </p:spPr>
        <p:txBody>
          <a:bodyPr wrap="square" rtlCol="0" anchor="t"/>
          <a:lstStyle/>
          <a:p>
            <a:pPr marL="0" indent="0">
              <a:buNone/>
            </a:pPr>
            <a:r>
              <a:rPr lang="en-US" sz="800" b="1" i="1" dirty="0">
                <a:solidFill>
                  <a:srgbClr val="000000"/>
                </a:solidFill>
              </a:rPr>
              <a:t>0=F  1=M</a:t>
            </a:r>
            <a:endParaRPr lang="en-US" sz="800" dirty="0"/>
          </a:p>
        </p:txBody>
      </p:sp>
      <p:sp>
        <p:nvSpPr>
          <p:cNvPr id="45" name="Shape 43"/>
          <p:cNvSpPr/>
          <p:nvPr/>
        </p:nvSpPr>
        <p:spPr>
          <a:xfrm>
            <a:off x="429768" y="3474720"/>
            <a:ext cx="45720" cy="182880"/>
          </a:xfrm>
          <a:prstGeom prst="rect">
            <a:avLst/>
          </a:prstGeom>
          <a:solidFill>
            <a:srgbClr val="1F4E79"/>
          </a:solidFill>
          <a:ln w="12700">
            <a:solidFill>
              <a:srgbClr val="1F4E79"/>
            </a:solidFill>
            <a:prstDash val="solid"/>
          </a:ln>
        </p:spPr>
      </p:sp>
      <p:sp>
        <p:nvSpPr>
          <p:cNvPr id="46" name="Text 44"/>
          <p:cNvSpPr/>
          <p:nvPr/>
        </p:nvSpPr>
        <p:spPr>
          <a:xfrm>
            <a:off x="521208" y="3383280"/>
            <a:ext cx="1188720" cy="237744"/>
          </a:xfrm>
          <a:prstGeom prst="rect">
            <a:avLst/>
          </a:prstGeom>
          <a:noFill/>
          <a:ln/>
        </p:spPr>
        <p:txBody>
          <a:bodyPr wrap="square" rtlCol="0" anchor="b"/>
          <a:lstStyle/>
          <a:p>
            <a:pPr marL="0" indent="0">
              <a:buNone/>
            </a:pPr>
            <a:r>
              <a:rPr lang="en-US" sz="950" b="1" dirty="0">
                <a:solidFill>
                  <a:srgbClr val="0F2C4F"/>
                </a:solidFill>
              </a:rPr>
              <a:t>Height</a:t>
            </a:r>
            <a:endParaRPr lang="en-US" sz="950" dirty="0"/>
          </a:p>
        </p:txBody>
      </p:sp>
      <p:sp>
        <p:nvSpPr>
          <p:cNvPr id="47" name="Text 45"/>
          <p:cNvSpPr/>
          <p:nvPr/>
        </p:nvSpPr>
        <p:spPr>
          <a:xfrm>
            <a:off x="521208" y="3602736"/>
            <a:ext cx="1188720" cy="182880"/>
          </a:xfrm>
          <a:prstGeom prst="rect">
            <a:avLst/>
          </a:prstGeom>
          <a:noFill/>
          <a:ln/>
        </p:spPr>
        <p:txBody>
          <a:bodyPr wrap="square" rtlCol="0" anchor="t"/>
          <a:lstStyle/>
          <a:p>
            <a:pPr marL="0" indent="0">
              <a:buNone/>
            </a:pPr>
            <a:r>
              <a:rPr lang="en-US" sz="800" b="1" i="1" dirty="0">
                <a:solidFill>
                  <a:srgbClr val="000000"/>
                </a:solidFill>
              </a:rPr>
              <a:t>cm</a:t>
            </a:r>
            <a:endParaRPr lang="en-US" sz="800" dirty="0"/>
          </a:p>
        </p:txBody>
      </p:sp>
      <p:sp>
        <p:nvSpPr>
          <p:cNvPr id="48" name="Shape 46"/>
          <p:cNvSpPr/>
          <p:nvPr/>
        </p:nvSpPr>
        <p:spPr>
          <a:xfrm>
            <a:off x="429768" y="3913632"/>
            <a:ext cx="45720" cy="182880"/>
          </a:xfrm>
          <a:prstGeom prst="rect">
            <a:avLst/>
          </a:prstGeom>
          <a:solidFill>
            <a:srgbClr val="1F4E79"/>
          </a:solidFill>
          <a:ln w="12700">
            <a:solidFill>
              <a:srgbClr val="1F4E79"/>
            </a:solidFill>
            <a:prstDash val="solid"/>
          </a:ln>
        </p:spPr>
      </p:sp>
      <p:sp>
        <p:nvSpPr>
          <p:cNvPr id="49" name="Text 47"/>
          <p:cNvSpPr/>
          <p:nvPr/>
        </p:nvSpPr>
        <p:spPr>
          <a:xfrm>
            <a:off x="521208" y="3822192"/>
            <a:ext cx="1188720" cy="237744"/>
          </a:xfrm>
          <a:prstGeom prst="rect">
            <a:avLst/>
          </a:prstGeom>
          <a:noFill/>
          <a:ln/>
        </p:spPr>
        <p:txBody>
          <a:bodyPr wrap="square" rtlCol="0" anchor="b"/>
          <a:lstStyle/>
          <a:p>
            <a:pPr marL="0" indent="0">
              <a:buNone/>
            </a:pPr>
            <a:r>
              <a:rPr lang="en-US" sz="950" b="1" dirty="0">
                <a:solidFill>
                  <a:srgbClr val="0F2C4F"/>
                </a:solidFill>
              </a:rPr>
              <a:t>Weight</a:t>
            </a:r>
            <a:endParaRPr lang="en-US" sz="950" dirty="0"/>
          </a:p>
        </p:txBody>
      </p:sp>
      <p:sp>
        <p:nvSpPr>
          <p:cNvPr id="50" name="Text 48"/>
          <p:cNvSpPr/>
          <p:nvPr/>
        </p:nvSpPr>
        <p:spPr>
          <a:xfrm>
            <a:off x="521208" y="4041648"/>
            <a:ext cx="1188720" cy="182880"/>
          </a:xfrm>
          <a:prstGeom prst="rect">
            <a:avLst/>
          </a:prstGeom>
          <a:noFill/>
          <a:ln/>
        </p:spPr>
        <p:txBody>
          <a:bodyPr wrap="square" rtlCol="0" anchor="t"/>
          <a:lstStyle/>
          <a:p>
            <a:pPr marL="0" indent="0">
              <a:buNone/>
            </a:pPr>
            <a:r>
              <a:rPr lang="en-US" sz="800" b="1" i="1" dirty="0">
                <a:solidFill>
                  <a:srgbClr val="000000"/>
                </a:solidFill>
              </a:rPr>
              <a:t>kg</a:t>
            </a:r>
            <a:endParaRPr lang="en-US" sz="800" dirty="0"/>
          </a:p>
        </p:txBody>
      </p:sp>
      <p:sp>
        <p:nvSpPr>
          <p:cNvPr id="51" name="Shape 49"/>
          <p:cNvSpPr/>
          <p:nvPr/>
        </p:nvSpPr>
        <p:spPr>
          <a:xfrm>
            <a:off x="429768" y="4352544"/>
            <a:ext cx="45720" cy="182880"/>
          </a:xfrm>
          <a:prstGeom prst="rect">
            <a:avLst/>
          </a:prstGeom>
          <a:solidFill>
            <a:srgbClr val="1F4E79"/>
          </a:solidFill>
          <a:ln w="12700">
            <a:solidFill>
              <a:srgbClr val="1F4E79"/>
            </a:solidFill>
            <a:prstDash val="solid"/>
          </a:ln>
        </p:spPr>
      </p:sp>
      <p:sp>
        <p:nvSpPr>
          <p:cNvPr id="52" name="Text 50"/>
          <p:cNvSpPr/>
          <p:nvPr/>
        </p:nvSpPr>
        <p:spPr>
          <a:xfrm>
            <a:off x="521208" y="4261104"/>
            <a:ext cx="1188720" cy="237744"/>
          </a:xfrm>
          <a:prstGeom prst="rect">
            <a:avLst/>
          </a:prstGeom>
          <a:noFill/>
          <a:ln/>
        </p:spPr>
        <p:txBody>
          <a:bodyPr wrap="square" rtlCol="0" anchor="b"/>
          <a:lstStyle/>
          <a:p>
            <a:pPr marL="0" indent="0">
              <a:buNone/>
            </a:pPr>
            <a:r>
              <a:rPr lang="en-US" sz="950" b="1" dirty="0">
                <a:solidFill>
                  <a:srgbClr val="0F2C4F"/>
                </a:solidFill>
              </a:rPr>
              <a:t>ICUType</a:t>
            </a:r>
            <a:endParaRPr lang="en-US" sz="950" dirty="0"/>
          </a:p>
        </p:txBody>
      </p:sp>
      <p:sp>
        <p:nvSpPr>
          <p:cNvPr id="53" name="Text 51"/>
          <p:cNvSpPr/>
          <p:nvPr/>
        </p:nvSpPr>
        <p:spPr>
          <a:xfrm>
            <a:off x="521208" y="4480560"/>
            <a:ext cx="1188720" cy="182880"/>
          </a:xfrm>
          <a:prstGeom prst="rect">
            <a:avLst/>
          </a:prstGeom>
          <a:noFill/>
          <a:ln/>
        </p:spPr>
        <p:txBody>
          <a:bodyPr wrap="square" rtlCol="0" anchor="t"/>
          <a:lstStyle/>
          <a:p>
            <a:pPr marL="0" indent="0">
              <a:buNone/>
            </a:pPr>
            <a:r>
              <a:rPr lang="en-US" sz="800" b="1" i="1" dirty="0">
                <a:solidFill>
                  <a:srgbClr val="000000"/>
                </a:solidFill>
              </a:rPr>
              <a:t>CCU/CSRU/MICU/SICU</a:t>
            </a:r>
            <a:endParaRPr lang="en-US" sz="800" dirty="0"/>
          </a:p>
        </p:txBody>
      </p:sp>
      <p:sp>
        <p:nvSpPr>
          <p:cNvPr id="54" name="Shape 52"/>
          <p:cNvSpPr/>
          <p:nvPr/>
        </p:nvSpPr>
        <p:spPr>
          <a:xfrm>
            <a:off x="1847088" y="2011680"/>
            <a:ext cx="1243584" cy="2779776"/>
          </a:xfrm>
          <a:prstGeom prst="rect">
            <a:avLst/>
          </a:prstGeom>
          <a:solidFill>
            <a:srgbClr val="F5F8FC"/>
          </a:solidFill>
          <a:ln w="6350">
            <a:solidFill>
              <a:srgbClr val="D9E2F3"/>
            </a:solidFill>
            <a:prstDash val="solid"/>
          </a:ln>
        </p:spPr>
      </p:sp>
      <p:sp>
        <p:nvSpPr>
          <p:cNvPr id="55" name="Shape 53"/>
          <p:cNvSpPr/>
          <p:nvPr/>
        </p:nvSpPr>
        <p:spPr>
          <a:xfrm>
            <a:off x="1847088" y="2011680"/>
            <a:ext cx="1243584" cy="219456"/>
          </a:xfrm>
          <a:prstGeom prst="rect">
            <a:avLst/>
          </a:prstGeom>
          <a:solidFill>
            <a:srgbClr val="1F4E79"/>
          </a:solidFill>
          <a:ln w="12700">
            <a:solidFill>
              <a:srgbClr val="1F4E79"/>
            </a:solidFill>
            <a:prstDash val="solid"/>
          </a:ln>
        </p:spPr>
      </p:sp>
      <p:sp>
        <p:nvSpPr>
          <p:cNvPr id="56" name="Text 54"/>
          <p:cNvSpPr/>
          <p:nvPr/>
        </p:nvSpPr>
        <p:spPr>
          <a:xfrm>
            <a:off x="1883664" y="2011680"/>
            <a:ext cx="1188720" cy="219456"/>
          </a:xfrm>
          <a:prstGeom prst="rect">
            <a:avLst/>
          </a:prstGeom>
          <a:noFill/>
          <a:ln/>
        </p:spPr>
        <p:txBody>
          <a:bodyPr wrap="square" rtlCol="0" anchor="ctr"/>
          <a:lstStyle/>
          <a:p>
            <a:pPr marL="0" indent="0" algn="ctr">
              <a:buNone/>
            </a:pPr>
            <a:r>
              <a:rPr lang="en-US" sz="700" b="1" kern="0" spc="20" dirty="0">
                <a:solidFill>
                  <a:srgbClr val="FFFFFF"/>
                </a:solidFill>
              </a:rPr>
              <a:t>VITAL SIGNS</a:t>
            </a:r>
            <a:endParaRPr lang="en-US" sz="700" dirty="0"/>
          </a:p>
        </p:txBody>
      </p:sp>
      <p:sp>
        <p:nvSpPr>
          <p:cNvPr id="57" name="Text 55"/>
          <p:cNvSpPr/>
          <p:nvPr/>
        </p:nvSpPr>
        <p:spPr>
          <a:xfrm>
            <a:off x="1901952" y="2240280"/>
            <a:ext cx="1152144" cy="130284"/>
          </a:xfrm>
          <a:prstGeom prst="rect">
            <a:avLst/>
          </a:prstGeom>
          <a:noFill/>
          <a:ln/>
        </p:spPr>
        <p:txBody>
          <a:bodyPr wrap="square" rtlCol="0" anchor="ctr"/>
          <a:lstStyle/>
          <a:p>
            <a:pPr marL="0" indent="0">
              <a:buNone/>
            </a:pPr>
            <a:r>
              <a:rPr lang="en-US" sz="850" b="1" dirty="0">
                <a:solidFill>
                  <a:srgbClr val="0F2C4F"/>
                </a:solidFill>
              </a:rPr>
              <a:t>HR</a:t>
            </a:r>
            <a:endParaRPr lang="en-US" sz="850" dirty="0"/>
          </a:p>
        </p:txBody>
      </p:sp>
      <p:sp>
        <p:nvSpPr>
          <p:cNvPr id="58" name="Text 56"/>
          <p:cNvSpPr/>
          <p:nvPr/>
        </p:nvSpPr>
        <p:spPr>
          <a:xfrm>
            <a:off x="1901952" y="2361420"/>
            <a:ext cx="1152144" cy="115251"/>
          </a:xfrm>
          <a:prstGeom prst="rect">
            <a:avLst/>
          </a:prstGeom>
          <a:noFill/>
          <a:ln/>
        </p:spPr>
        <p:txBody>
          <a:bodyPr wrap="square" rtlCol="0" anchor="ctr"/>
          <a:lstStyle/>
          <a:p>
            <a:pPr marL="0" indent="0">
              <a:buNone/>
            </a:pPr>
            <a:r>
              <a:rPr lang="en-US" sz="760" b="1" i="1" dirty="0">
                <a:solidFill>
                  <a:srgbClr val="000000"/>
                </a:solidFill>
              </a:rPr>
              <a:t>Heart rate</a:t>
            </a:r>
            <a:endParaRPr lang="en-US" sz="650" dirty="0"/>
          </a:p>
        </p:txBody>
      </p:sp>
      <p:sp>
        <p:nvSpPr>
          <p:cNvPr id="59" name="Shape 57"/>
          <p:cNvSpPr/>
          <p:nvPr/>
        </p:nvSpPr>
        <p:spPr>
          <a:xfrm>
            <a:off x="1865376" y="2481682"/>
            <a:ext cx="1207008" cy="250546"/>
          </a:xfrm>
          <a:prstGeom prst="rect">
            <a:avLst/>
          </a:prstGeom>
          <a:solidFill>
            <a:srgbClr val="FFFFFF"/>
          </a:solidFill>
          <a:ln w="12700">
            <a:solidFill>
              <a:srgbClr val="FFFFFF"/>
            </a:solidFill>
            <a:prstDash val="solid"/>
          </a:ln>
        </p:spPr>
      </p:sp>
      <p:sp>
        <p:nvSpPr>
          <p:cNvPr id="60" name="Text 58"/>
          <p:cNvSpPr/>
          <p:nvPr/>
        </p:nvSpPr>
        <p:spPr>
          <a:xfrm>
            <a:off x="1901952" y="2490826"/>
            <a:ext cx="1152144" cy="130284"/>
          </a:xfrm>
          <a:prstGeom prst="rect">
            <a:avLst/>
          </a:prstGeom>
          <a:noFill/>
          <a:ln/>
        </p:spPr>
        <p:txBody>
          <a:bodyPr wrap="square" rtlCol="0" anchor="ctr"/>
          <a:lstStyle/>
          <a:p>
            <a:pPr marL="0" indent="0">
              <a:buNone/>
            </a:pPr>
            <a:r>
              <a:rPr lang="en-US" sz="850" b="1" dirty="0">
                <a:solidFill>
                  <a:srgbClr val="0F2C4F"/>
                </a:solidFill>
              </a:rPr>
              <a:t>MAP</a:t>
            </a:r>
            <a:endParaRPr lang="en-US" sz="850" dirty="0"/>
          </a:p>
        </p:txBody>
      </p:sp>
      <p:sp>
        <p:nvSpPr>
          <p:cNvPr id="61" name="Text 59"/>
          <p:cNvSpPr/>
          <p:nvPr/>
        </p:nvSpPr>
        <p:spPr>
          <a:xfrm>
            <a:off x="1901952" y="2611965"/>
            <a:ext cx="1152144" cy="115251"/>
          </a:xfrm>
          <a:prstGeom prst="rect">
            <a:avLst/>
          </a:prstGeom>
          <a:noFill/>
          <a:ln/>
        </p:spPr>
        <p:txBody>
          <a:bodyPr wrap="square" rtlCol="0" anchor="ctr"/>
          <a:lstStyle/>
          <a:p>
            <a:pPr marL="0" indent="0">
              <a:buNone/>
            </a:pPr>
            <a:r>
              <a:rPr lang="en-US" sz="760" b="1" i="1" dirty="0">
                <a:solidFill>
                  <a:srgbClr val="000000"/>
                </a:solidFill>
              </a:rPr>
              <a:t>Mean art. pressure</a:t>
            </a:r>
            <a:endParaRPr lang="en-US" sz="650" dirty="0"/>
          </a:p>
        </p:txBody>
      </p:sp>
      <p:sp>
        <p:nvSpPr>
          <p:cNvPr id="62" name="Text 60"/>
          <p:cNvSpPr/>
          <p:nvPr/>
        </p:nvSpPr>
        <p:spPr>
          <a:xfrm>
            <a:off x="1901952" y="2741371"/>
            <a:ext cx="1152144" cy="130284"/>
          </a:xfrm>
          <a:prstGeom prst="rect">
            <a:avLst/>
          </a:prstGeom>
          <a:noFill/>
          <a:ln/>
        </p:spPr>
        <p:txBody>
          <a:bodyPr wrap="square" rtlCol="0" anchor="ctr"/>
          <a:lstStyle/>
          <a:p>
            <a:pPr marL="0" indent="0">
              <a:buNone/>
            </a:pPr>
            <a:r>
              <a:rPr lang="en-US" sz="850" b="1" dirty="0">
                <a:solidFill>
                  <a:srgbClr val="0F2C4F"/>
                </a:solidFill>
              </a:rPr>
              <a:t>NISysABP</a:t>
            </a:r>
            <a:endParaRPr lang="en-US" sz="850" dirty="0"/>
          </a:p>
        </p:txBody>
      </p:sp>
      <p:sp>
        <p:nvSpPr>
          <p:cNvPr id="63" name="Text 61"/>
          <p:cNvSpPr/>
          <p:nvPr/>
        </p:nvSpPr>
        <p:spPr>
          <a:xfrm>
            <a:off x="1901952" y="2862511"/>
            <a:ext cx="1152144" cy="115251"/>
          </a:xfrm>
          <a:prstGeom prst="rect">
            <a:avLst/>
          </a:prstGeom>
          <a:noFill/>
          <a:ln/>
        </p:spPr>
        <p:txBody>
          <a:bodyPr wrap="square" rtlCol="0" anchor="ctr"/>
          <a:lstStyle/>
          <a:p>
            <a:pPr marL="0" indent="0">
              <a:buNone/>
            </a:pPr>
            <a:r>
              <a:rPr lang="en-US" sz="760" b="1" i="1" dirty="0">
                <a:solidFill>
                  <a:srgbClr val="000000"/>
                </a:solidFill>
              </a:rPr>
              <a:t>NI systolic ABP</a:t>
            </a:r>
            <a:endParaRPr lang="en-US" sz="650" dirty="0"/>
          </a:p>
        </p:txBody>
      </p:sp>
      <p:sp>
        <p:nvSpPr>
          <p:cNvPr id="64" name="Shape 62"/>
          <p:cNvSpPr/>
          <p:nvPr/>
        </p:nvSpPr>
        <p:spPr>
          <a:xfrm>
            <a:off x="1865376" y="2982773"/>
            <a:ext cx="1207008" cy="250546"/>
          </a:xfrm>
          <a:prstGeom prst="rect">
            <a:avLst/>
          </a:prstGeom>
          <a:solidFill>
            <a:srgbClr val="FFFFFF"/>
          </a:solidFill>
          <a:ln w="12700">
            <a:solidFill>
              <a:srgbClr val="FFFFFF"/>
            </a:solidFill>
            <a:prstDash val="solid"/>
          </a:ln>
        </p:spPr>
      </p:sp>
      <p:sp>
        <p:nvSpPr>
          <p:cNvPr id="65" name="Text 63"/>
          <p:cNvSpPr/>
          <p:nvPr/>
        </p:nvSpPr>
        <p:spPr>
          <a:xfrm>
            <a:off x="1901952" y="2991917"/>
            <a:ext cx="1152144" cy="130284"/>
          </a:xfrm>
          <a:prstGeom prst="rect">
            <a:avLst/>
          </a:prstGeom>
          <a:noFill/>
          <a:ln/>
        </p:spPr>
        <p:txBody>
          <a:bodyPr wrap="square" rtlCol="0" anchor="ctr"/>
          <a:lstStyle/>
          <a:p>
            <a:pPr marL="0" indent="0">
              <a:buNone/>
            </a:pPr>
            <a:r>
              <a:rPr lang="en-US" sz="850" b="1" dirty="0">
                <a:solidFill>
                  <a:srgbClr val="0F2C4F"/>
                </a:solidFill>
              </a:rPr>
              <a:t>SysABP</a:t>
            </a:r>
            <a:endParaRPr lang="en-US" sz="850" dirty="0"/>
          </a:p>
        </p:txBody>
      </p:sp>
      <p:sp>
        <p:nvSpPr>
          <p:cNvPr id="66" name="Text 64"/>
          <p:cNvSpPr/>
          <p:nvPr/>
        </p:nvSpPr>
        <p:spPr>
          <a:xfrm>
            <a:off x="1901952" y="3113057"/>
            <a:ext cx="1152144" cy="115251"/>
          </a:xfrm>
          <a:prstGeom prst="rect">
            <a:avLst/>
          </a:prstGeom>
          <a:noFill/>
          <a:ln/>
        </p:spPr>
        <p:txBody>
          <a:bodyPr wrap="square" rtlCol="0" anchor="ctr"/>
          <a:lstStyle/>
          <a:p>
            <a:pPr marL="0" indent="0">
              <a:buNone/>
            </a:pPr>
            <a:r>
              <a:rPr lang="en-US" sz="760" b="1" i="1" dirty="0">
                <a:solidFill>
                  <a:srgbClr val="000000"/>
                </a:solidFill>
              </a:rPr>
              <a:t>Inv. systolic ABP</a:t>
            </a:r>
            <a:endParaRPr lang="en-US" sz="650" dirty="0"/>
          </a:p>
        </p:txBody>
      </p:sp>
      <p:sp>
        <p:nvSpPr>
          <p:cNvPr id="67" name="Text 65"/>
          <p:cNvSpPr/>
          <p:nvPr/>
        </p:nvSpPr>
        <p:spPr>
          <a:xfrm>
            <a:off x="1901952" y="3242462"/>
            <a:ext cx="1152144" cy="130284"/>
          </a:xfrm>
          <a:prstGeom prst="rect">
            <a:avLst/>
          </a:prstGeom>
          <a:noFill/>
          <a:ln/>
        </p:spPr>
        <p:txBody>
          <a:bodyPr wrap="square" rtlCol="0" anchor="ctr"/>
          <a:lstStyle/>
          <a:p>
            <a:pPr marL="0" indent="0">
              <a:buNone/>
            </a:pPr>
            <a:r>
              <a:rPr lang="en-US" sz="850" b="1" dirty="0">
                <a:solidFill>
                  <a:srgbClr val="0F2C4F"/>
                </a:solidFill>
              </a:rPr>
              <a:t>DiasABP</a:t>
            </a:r>
            <a:endParaRPr lang="en-US" sz="850" dirty="0"/>
          </a:p>
        </p:txBody>
      </p:sp>
      <p:sp>
        <p:nvSpPr>
          <p:cNvPr id="68" name="Text 66"/>
          <p:cNvSpPr/>
          <p:nvPr/>
        </p:nvSpPr>
        <p:spPr>
          <a:xfrm>
            <a:off x="1901952" y="3363602"/>
            <a:ext cx="1152144" cy="115251"/>
          </a:xfrm>
          <a:prstGeom prst="rect">
            <a:avLst/>
          </a:prstGeom>
          <a:noFill/>
          <a:ln/>
        </p:spPr>
        <p:txBody>
          <a:bodyPr wrap="square" rtlCol="0" anchor="ctr"/>
          <a:lstStyle/>
          <a:p>
            <a:pPr marL="0" indent="0">
              <a:buNone/>
            </a:pPr>
            <a:r>
              <a:rPr lang="en-US" sz="760" b="1" i="1" dirty="0">
                <a:solidFill>
                  <a:srgbClr val="000000"/>
                </a:solidFill>
              </a:rPr>
              <a:t>Inv. diastolic ABP</a:t>
            </a:r>
            <a:endParaRPr lang="en-US" sz="650" dirty="0"/>
          </a:p>
        </p:txBody>
      </p:sp>
      <p:sp>
        <p:nvSpPr>
          <p:cNvPr id="69" name="Shape 67"/>
          <p:cNvSpPr/>
          <p:nvPr/>
        </p:nvSpPr>
        <p:spPr>
          <a:xfrm>
            <a:off x="1865376" y="3483864"/>
            <a:ext cx="1207008" cy="250546"/>
          </a:xfrm>
          <a:prstGeom prst="rect">
            <a:avLst/>
          </a:prstGeom>
          <a:solidFill>
            <a:srgbClr val="FFFFFF"/>
          </a:solidFill>
          <a:ln w="12700">
            <a:solidFill>
              <a:srgbClr val="FFFFFF"/>
            </a:solidFill>
            <a:prstDash val="solid"/>
          </a:ln>
        </p:spPr>
      </p:sp>
      <p:sp>
        <p:nvSpPr>
          <p:cNvPr id="70" name="Text 68"/>
          <p:cNvSpPr/>
          <p:nvPr/>
        </p:nvSpPr>
        <p:spPr>
          <a:xfrm>
            <a:off x="1901952" y="3493008"/>
            <a:ext cx="1152144" cy="130284"/>
          </a:xfrm>
          <a:prstGeom prst="rect">
            <a:avLst/>
          </a:prstGeom>
          <a:noFill/>
          <a:ln/>
        </p:spPr>
        <p:txBody>
          <a:bodyPr wrap="square" rtlCol="0" anchor="ctr"/>
          <a:lstStyle/>
          <a:p>
            <a:pPr marL="0" indent="0">
              <a:buNone/>
            </a:pPr>
            <a:r>
              <a:rPr lang="en-US" sz="850" b="1" dirty="0">
                <a:solidFill>
                  <a:srgbClr val="0F2C4F"/>
                </a:solidFill>
              </a:rPr>
              <a:t>NIDiasABP</a:t>
            </a:r>
            <a:endParaRPr lang="en-US" sz="850" dirty="0"/>
          </a:p>
        </p:txBody>
      </p:sp>
      <p:sp>
        <p:nvSpPr>
          <p:cNvPr id="71" name="Text 69"/>
          <p:cNvSpPr/>
          <p:nvPr/>
        </p:nvSpPr>
        <p:spPr>
          <a:xfrm>
            <a:off x="1901952" y="3614148"/>
            <a:ext cx="1152144" cy="115251"/>
          </a:xfrm>
          <a:prstGeom prst="rect">
            <a:avLst/>
          </a:prstGeom>
          <a:noFill/>
          <a:ln/>
        </p:spPr>
        <p:txBody>
          <a:bodyPr wrap="square" rtlCol="0" anchor="ctr"/>
          <a:lstStyle/>
          <a:p>
            <a:pPr marL="0" indent="0">
              <a:buNone/>
            </a:pPr>
            <a:r>
              <a:rPr lang="en-US" sz="760" b="1" i="1" dirty="0">
                <a:solidFill>
                  <a:srgbClr val="000000"/>
                </a:solidFill>
              </a:rPr>
              <a:t>NI diastolic ABP</a:t>
            </a:r>
            <a:endParaRPr lang="en-US" sz="650" dirty="0"/>
          </a:p>
        </p:txBody>
      </p:sp>
      <p:sp>
        <p:nvSpPr>
          <p:cNvPr id="72" name="Text 70"/>
          <p:cNvSpPr/>
          <p:nvPr/>
        </p:nvSpPr>
        <p:spPr>
          <a:xfrm>
            <a:off x="1901952" y="3743554"/>
            <a:ext cx="1152144" cy="130284"/>
          </a:xfrm>
          <a:prstGeom prst="rect">
            <a:avLst/>
          </a:prstGeom>
          <a:noFill/>
          <a:ln/>
        </p:spPr>
        <p:txBody>
          <a:bodyPr wrap="square" rtlCol="0" anchor="ctr"/>
          <a:lstStyle/>
          <a:p>
            <a:pPr marL="0" indent="0">
              <a:buNone/>
            </a:pPr>
            <a:r>
              <a:rPr lang="en-US" sz="850" b="1" dirty="0">
                <a:solidFill>
                  <a:srgbClr val="0F2C4F"/>
                </a:solidFill>
              </a:rPr>
              <a:t>NIMAP</a:t>
            </a:r>
            <a:endParaRPr lang="en-US" sz="850" dirty="0"/>
          </a:p>
        </p:txBody>
      </p:sp>
      <p:sp>
        <p:nvSpPr>
          <p:cNvPr id="73" name="Text 71"/>
          <p:cNvSpPr/>
          <p:nvPr/>
        </p:nvSpPr>
        <p:spPr>
          <a:xfrm>
            <a:off x="1901952" y="3864693"/>
            <a:ext cx="1152144" cy="115251"/>
          </a:xfrm>
          <a:prstGeom prst="rect">
            <a:avLst/>
          </a:prstGeom>
          <a:noFill/>
          <a:ln/>
        </p:spPr>
        <p:txBody>
          <a:bodyPr wrap="square" rtlCol="0" anchor="ctr"/>
          <a:lstStyle/>
          <a:p>
            <a:pPr marL="0" indent="0">
              <a:buNone/>
            </a:pPr>
            <a:r>
              <a:rPr lang="en-US" sz="760" b="1" i="1" dirty="0">
                <a:solidFill>
                  <a:srgbClr val="000000"/>
                </a:solidFill>
              </a:rPr>
              <a:t>NI mean ABP</a:t>
            </a:r>
            <a:endParaRPr lang="en-US" sz="650" dirty="0"/>
          </a:p>
        </p:txBody>
      </p:sp>
      <p:sp>
        <p:nvSpPr>
          <p:cNvPr id="74" name="Shape 72"/>
          <p:cNvSpPr/>
          <p:nvPr/>
        </p:nvSpPr>
        <p:spPr>
          <a:xfrm>
            <a:off x="1865376" y="3984955"/>
            <a:ext cx="1207008" cy="250546"/>
          </a:xfrm>
          <a:prstGeom prst="rect">
            <a:avLst/>
          </a:prstGeom>
          <a:solidFill>
            <a:srgbClr val="FFFFFF"/>
          </a:solidFill>
          <a:ln w="12700">
            <a:solidFill>
              <a:srgbClr val="FFFFFF"/>
            </a:solidFill>
            <a:prstDash val="solid"/>
          </a:ln>
        </p:spPr>
      </p:sp>
      <p:sp>
        <p:nvSpPr>
          <p:cNvPr id="75" name="Text 73"/>
          <p:cNvSpPr/>
          <p:nvPr/>
        </p:nvSpPr>
        <p:spPr>
          <a:xfrm>
            <a:off x="1901952" y="3994099"/>
            <a:ext cx="1152144" cy="130284"/>
          </a:xfrm>
          <a:prstGeom prst="rect">
            <a:avLst/>
          </a:prstGeom>
          <a:noFill/>
          <a:ln/>
        </p:spPr>
        <p:txBody>
          <a:bodyPr wrap="square" rtlCol="0" anchor="ctr"/>
          <a:lstStyle/>
          <a:p>
            <a:pPr marL="0" indent="0">
              <a:buNone/>
            </a:pPr>
            <a:r>
              <a:rPr lang="en-US" sz="850" b="1" dirty="0">
                <a:solidFill>
                  <a:srgbClr val="0F2C4F"/>
                </a:solidFill>
              </a:rPr>
              <a:t>RespRate</a:t>
            </a:r>
            <a:endParaRPr lang="en-US" sz="850" dirty="0"/>
          </a:p>
        </p:txBody>
      </p:sp>
      <p:sp>
        <p:nvSpPr>
          <p:cNvPr id="76" name="Text 74"/>
          <p:cNvSpPr/>
          <p:nvPr/>
        </p:nvSpPr>
        <p:spPr>
          <a:xfrm>
            <a:off x="1901952" y="4115239"/>
            <a:ext cx="1152144" cy="115251"/>
          </a:xfrm>
          <a:prstGeom prst="rect">
            <a:avLst/>
          </a:prstGeom>
          <a:noFill/>
          <a:ln/>
        </p:spPr>
        <p:txBody>
          <a:bodyPr wrap="square" rtlCol="0" anchor="ctr"/>
          <a:lstStyle/>
          <a:p>
            <a:pPr marL="0" indent="0">
              <a:buNone/>
            </a:pPr>
            <a:r>
              <a:rPr lang="en-US" sz="760" b="1" i="1" dirty="0">
                <a:solidFill>
                  <a:srgbClr val="000000"/>
                </a:solidFill>
              </a:rPr>
              <a:t>Respiratory rate</a:t>
            </a:r>
            <a:endParaRPr lang="en-US" sz="650" dirty="0"/>
          </a:p>
        </p:txBody>
      </p:sp>
      <p:sp>
        <p:nvSpPr>
          <p:cNvPr id="77" name="Text 75"/>
          <p:cNvSpPr/>
          <p:nvPr/>
        </p:nvSpPr>
        <p:spPr>
          <a:xfrm>
            <a:off x="1901952" y="4244645"/>
            <a:ext cx="1152144" cy="130284"/>
          </a:xfrm>
          <a:prstGeom prst="rect">
            <a:avLst/>
          </a:prstGeom>
          <a:noFill/>
          <a:ln/>
        </p:spPr>
        <p:txBody>
          <a:bodyPr wrap="square" rtlCol="0" anchor="ctr"/>
          <a:lstStyle/>
          <a:p>
            <a:pPr marL="0" indent="0">
              <a:buNone/>
            </a:pPr>
            <a:r>
              <a:rPr lang="en-US" sz="850" b="1" dirty="0">
                <a:solidFill>
                  <a:srgbClr val="0F2C4F"/>
                </a:solidFill>
              </a:rPr>
              <a:t>Temp</a:t>
            </a:r>
            <a:endParaRPr lang="en-US" sz="850" dirty="0"/>
          </a:p>
        </p:txBody>
      </p:sp>
      <p:sp>
        <p:nvSpPr>
          <p:cNvPr id="78" name="Text 76"/>
          <p:cNvSpPr/>
          <p:nvPr/>
        </p:nvSpPr>
        <p:spPr>
          <a:xfrm>
            <a:off x="1901952" y="4365785"/>
            <a:ext cx="1152144" cy="115251"/>
          </a:xfrm>
          <a:prstGeom prst="rect">
            <a:avLst/>
          </a:prstGeom>
          <a:noFill/>
          <a:ln/>
        </p:spPr>
        <p:txBody>
          <a:bodyPr wrap="square" rtlCol="0" anchor="ctr"/>
          <a:lstStyle/>
          <a:p>
            <a:pPr marL="0" indent="0">
              <a:buNone/>
            </a:pPr>
            <a:r>
              <a:rPr lang="en-US" sz="760" b="1" i="1" dirty="0">
                <a:solidFill>
                  <a:srgbClr val="000000"/>
                </a:solidFill>
              </a:rPr>
              <a:t>Temperature</a:t>
            </a:r>
            <a:endParaRPr lang="en-US" sz="650" dirty="0"/>
          </a:p>
        </p:txBody>
      </p:sp>
      <p:sp>
        <p:nvSpPr>
          <p:cNvPr id="79" name="Shape 77"/>
          <p:cNvSpPr/>
          <p:nvPr/>
        </p:nvSpPr>
        <p:spPr>
          <a:xfrm>
            <a:off x="1865376" y="4486046"/>
            <a:ext cx="1207008" cy="250546"/>
          </a:xfrm>
          <a:prstGeom prst="rect">
            <a:avLst/>
          </a:prstGeom>
          <a:solidFill>
            <a:srgbClr val="FFFFFF"/>
          </a:solidFill>
          <a:ln w="12700">
            <a:solidFill>
              <a:srgbClr val="FFFFFF"/>
            </a:solidFill>
            <a:prstDash val="solid"/>
          </a:ln>
        </p:spPr>
      </p:sp>
      <p:sp>
        <p:nvSpPr>
          <p:cNvPr id="80" name="Text 78"/>
          <p:cNvSpPr/>
          <p:nvPr/>
        </p:nvSpPr>
        <p:spPr>
          <a:xfrm>
            <a:off x="1901952" y="4495190"/>
            <a:ext cx="1152144" cy="130284"/>
          </a:xfrm>
          <a:prstGeom prst="rect">
            <a:avLst/>
          </a:prstGeom>
          <a:noFill/>
          <a:ln/>
        </p:spPr>
        <p:txBody>
          <a:bodyPr wrap="square" rtlCol="0" anchor="ctr"/>
          <a:lstStyle/>
          <a:p>
            <a:pPr marL="0" indent="0">
              <a:buNone/>
            </a:pPr>
            <a:r>
              <a:rPr lang="en-US" sz="850" b="1" dirty="0">
                <a:solidFill>
                  <a:srgbClr val="0F2C4F"/>
                </a:solidFill>
              </a:rPr>
              <a:t>GCS</a:t>
            </a:r>
            <a:endParaRPr lang="en-US" sz="850" dirty="0"/>
          </a:p>
        </p:txBody>
      </p:sp>
      <p:sp>
        <p:nvSpPr>
          <p:cNvPr id="81" name="Text 79"/>
          <p:cNvSpPr/>
          <p:nvPr/>
        </p:nvSpPr>
        <p:spPr>
          <a:xfrm>
            <a:off x="1901952" y="4616330"/>
            <a:ext cx="1152144" cy="115251"/>
          </a:xfrm>
          <a:prstGeom prst="rect">
            <a:avLst/>
          </a:prstGeom>
          <a:noFill/>
          <a:ln/>
        </p:spPr>
        <p:txBody>
          <a:bodyPr wrap="square" rtlCol="0" anchor="ctr"/>
          <a:lstStyle/>
          <a:p>
            <a:pPr marL="0" indent="0">
              <a:buNone/>
            </a:pPr>
            <a:r>
              <a:rPr lang="en-US" sz="760" b="1" i="1" dirty="0">
                <a:solidFill>
                  <a:srgbClr val="000000"/>
                </a:solidFill>
              </a:rPr>
              <a:t>Glasgow Coma Scale</a:t>
            </a:r>
            <a:endParaRPr lang="en-US" sz="650" dirty="0"/>
          </a:p>
        </p:txBody>
      </p:sp>
      <p:sp>
        <p:nvSpPr>
          <p:cNvPr id="82" name="Shape 80"/>
          <p:cNvSpPr/>
          <p:nvPr/>
        </p:nvSpPr>
        <p:spPr>
          <a:xfrm>
            <a:off x="3127248" y="2011680"/>
            <a:ext cx="1243584" cy="2779776"/>
          </a:xfrm>
          <a:prstGeom prst="rect">
            <a:avLst/>
          </a:prstGeom>
          <a:solidFill>
            <a:srgbClr val="F5F8FC"/>
          </a:solidFill>
          <a:ln w="6350">
            <a:solidFill>
              <a:srgbClr val="D9E2F3"/>
            </a:solidFill>
            <a:prstDash val="solid"/>
          </a:ln>
        </p:spPr>
      </p:sp>
      <p:sp>
        <p:nvSpPr>
          <p:cNvPr id="83" name="Shape 81"/>
          <p:cNvSpPr/>
          <p:nvPr/>
        </p:nvSpPr>
        <p:spPr>
          <a:xfrm>
            <a:off x="3127248" y="2011680"/>
            <a:ext cx="1243584" cy="219456"/>
          </a:xfrm>
          <a:prstGeom prst="rect">
            <a:avLst/>
          </a:prstGeom>
          <a:solidFill>
            <a:srgbClr val="0E7C7B"/>
          </a:solidFill>
          <a:ln w="12700">
            <a:solidFill>
              <a:srgbClr val="0E7C7B"/>
            </a:solidFill>
            <a:prstDash val="solid"/>
          </a:ln>
        </p:spPr>
      </p:sp>
      <p:sp>
        <p:nvSpPr>
          <p:cNvPr id="84" name="Text 82"/>
          <p:cNvSpPr/>
          <p:nvPr/>
        </p:nvSpPr>
        <p:spPr>
          <a:xfrm>
            <a:off x="3163824" y="2011680"/>
            <a:ext cx="1188720" cy="219456"/>
          </a:xfrm>
          <a:prstGeom prst="rect">
            <a:avLst/>
          </a:prstGeom>
          <a:noFill/>
          <a:ln/>
        </p:spPr>
        <p:txBody>
          <a:bodyPr wrap="square" rtlCol="0" anchor="ctr"/>
          <a:lstStyle/>
          <a:p>
            <a:pPr marL="0" indent="0" algn="ctr">
              <a:buNone/>
            </a:pPr>
            <a:r>
              <a:rPr lang="en-US" sz="700" b="1" kern="0" spc="20" dirty="0">
                <a:solidFill>
                  <a:srgbClr val="FFFFFF"/>
                </a:solidFill>
              </a:rPr>
              <a:t>RESPIRATORY</a:t>
            </a:r>
            <a:endParaRPr lang="en-US" sz="700" dirty="0"/>
          </a:p>
        </p:txBody>
      </p:sp>
      <p:sp>
        <p:nvSpPr>
          <p:cNvPr id="85" name="Text 83"/>
          <p:cNvSpPr/>
          <p:nvPr/>
        </p:nvSpPr>
        <p:spPr>
          <a:xfrm>
            <a:off x="3182112" y="2240280"/>
            <a:ext cx="1152144" cy="130284"/>
          </a:xfrm>
          <a:prstGeom prst="rect">
            <a:avLst/>
          </a:prstGeom>
          <a:noFill/>
          <a:ln/>
        </p:spPr>
        <p:txBody>
          <a:bodyPr wrap="square" rtlCol="0" anchor="ctr"/>
          <a:lstStyle/>
          <a:p>
            <a:pPr marL="0" indent="0">
              <a:buNone/>
            </a:pPr>
            <a:r>
              <a:rPr lang="en-US" sz="850" b="1" dirty="0">
                <a:solidFill>
                  <a:srgbClr val="0F2C4F"/>
                </a:solidFill>
              </a:rPr>
              <a:t>SaO2</a:t>
            </a:r>
            <a:endParaRPr lang="en-US" sz="850" dirty="0"/>
          </a:p>
        </p:txBody>
      </p:sp>
      <p:sp>
        <p:nvSpPr>
          <p:cNvPr id="86" name="Text 84"/>
          <p:cNvSpPr/>
          <p:nvPr/>
        </p:nvSpPr>
        <p:spPr>
          <a:xfrm>
            <a:off x="3182112" y="2361420"/>
            <a:ext cx="1152144" cy="115251"/>
          </a:xfrm>
          <a:prstGeom prst="rect">
            <a:avLst/>
          </a:prstGeom>
          <a:noFill/>
          <a:ln/>
        </p:spPr>
        <p:txBody>
          <a:bodyPr wrap="square" rtlCol="0" anchor="ctr"/>
          <a:lstStyle/>
          <a:p>
            <a:pPr marL="0" indent="0">
              <a:buNone/>
            </a:pPr>
            <a:r>
              <a:rPr lang="en-US" sz="760" b="1" i="1" dirty="0">
                <a:solidFill>
                  <a:srgbClr val="000000"/>
                </a:solidFill>
              </a:rPr>
              <a:t>O₂ saturation Hb</a:t>
            </a:r>
            <a:endParaRPr lang="en-US" sz="650" dirty="0"/>
          </a:p>
        </p:txBody>
      </p:sp>
      <p:sp>
        <p:nvSpPr>
          <p:cNvPr id="87" name="Shape 85"/>
          <p:cNvSpPr/>
          <p:nvPr/>
        </p:nvSpPr>
        <p:spPr>
          <a:xfrm>
            <a:off x="3145536" y="2481682"/>
            <a:ext cx="1207008" cy="250546"/>
          </a:xfrm>
          <a:prstGeom prst="rect">
            <a:avLst/>
          </a:prstGeom>
          <a:solidFill>
            <a:srgbClr val="FFFFFF"/>
          </a:solidFill>
          <a:ln w="12700">
            <a:solidFill>
              <a:srgbClr val="FFFFFF"/>
            </a:solidFill>
            <a:prstDash val="solid"/>
          </a:ln>
        </p:spPr>
      </p:sp>
      <p:sp>
        <p:nvSpPr>
          <p:cNvPr id="88" name="Text 86"/>
          <p:cNvSpPr/>
          <p:nvPr/>
        </p:nvSpPr>
        <p:spPr>
          <a:xfrm>
            <a:off x="3182112" y="2490826"/>
            <a:ext cx="1152144" cy="130284"/>
          </a:xfrm>
          <a:prstGeom prst="rect">
            <a:avLst/>
          </a:prstGeom>
          <a:noFill/>
          <a:ln/>
        </p:spPr>
        <p:txBody>
          <a:bodyPr wrap="square" rtlCol="0" anchor="ctr"/>
          <a:lstStyle/>
          <a:p>
            <a:pPr marL="0" indent="0">
              <a:buNone/>
            </a:pPr>
            <a:r>
              <a:rPr lang="en-US" sz="850" b="1" dirty="0">
                <a:solidFill>
                  <a:srgbClr val="0F2C4F"/>
                </a:solidFill>
              </a:rPr>
              <a:t>O2Sat</a:t>
            </a:r>
            <a:endParaRPr lang="en-US" sz="850" dirty="0"/>
          </a:p>
        </p:txBody>
      </p:sp>
      <p:sp>
        <p:nvSpPr>
          <p:cNvPr id="89" name="Text 87"/>
          <p:cNvSpPr/>
          <p:nvPr/>
        </p:nvSpPr>
        <p:spPr>
          <a:xfrm>
            <a:off x="3182112" y="2611965"/>
            <a:ext cx="1152144" cy="115251"/>
          </a:xfrm>
          <a:prstGeom prst="rect">
            <a:avLst/>
          </a:prstGeom>
          <a:noFill/>
          <a:ln/>
        </p:spPr>
        <p:txBody>
          <a:bodyPr wrap="square" rtlCol="0" anchor="ctr"/>
          <a:lstStyle/>
          <a:p>
            <a:pPr marL="0" indent="0">
              <a:buNone/>
            </a:pPr>
            <a:r>
              <a:rPr lang="en-US" sz="760" b="1" i="1" dirty="0">
                <a:solidFill>
                  <a:srgbClr val="000000"/>
                </a:solidFill>
              </a:rPr>
              <a:t>Pulse ox O₂ sat</a:t>
            </a:r>
            <a:endParaRPr lang="en-US" sz="650" dirty="0"/>
          </a:p>
        </p:txBody>
      </p:sp>
      <p:sp>
        <p:nvSpPr>
          <p:cNvPr id="90" name="Text 88"/>
          <p:cNvSpPr/>
          <p:nvPr/>
        </p:nvSpPr>
        <p:spPr>
          <a:xfrm>
            <a:off x="3182112" y="2741371"/>
            <a:ext cx="1152144" cy="130284"/>
          </a:xfrm>
          <a:prstGeom prst="rect">
            <a:avLst/>
          </a:prstGeom>
          <a:noFill/>
          <a:ln/>
        </p:spPr>
        <p:txBody>
          <a:bodyPr wrap="square" rtlCol="0" anchor="ctr"/>
          <a:lstStyle/>
          <a:p>
            <a:pPr marL="0" indent="0">
              <a:buNone/>
            </a:pPr>
            <a:r>
              <a:rPr lang="en-US" sz="850" b="1" dirty="0">
                <a:solidFill>
                  <a:srgbClr val="0F2C4F"/>
                </a:solidFill>
              </a:rPr>
              <a:t>FiO2</a:t>
            </a:r>
            <a:endParaRPr lang="en-US" sz="850" dirty="0"/>
          </a:p>
        </p:txBody>
      </p:sp>
      <p:sp>
        <p:nvSpPr>
          <p:cNvPr id="91" name="Text 89"/>
          <p:cNvSpPr/>
          <p:nvPr/>
        </p:nvSpPr>
        <p:spPr>
          <a:xfrm>
            <a:off x="3182112" y="2862511"/>
            <a:ext cx="1152144" cy="115251"/>
          </a:xfrm>
          <a:prstGeom prst="rect">
            <a:avLst/>
          </a:prstGeom>
          <a:noFill/>
          <a:ln/>
        </p:spPr>
        <p:txBody>
          <a:bodyPr wrap="square" rtlCol="0" anchor="ctr"/>
          <a:lstStyle/>
          <a:p>
            <a:pPr marL="0" indent="0">
              <a:buNone/>
            </a:pPr>
            <a:r>
              <a:rPr lang="en-US" sz="760" b="1" i="1" dirty="0">
                <a:solidFill>
                  <a:srgbClr val="000000"/>
                </a:solidFill>
              </a:rPr>
              <a:t>Fractional O₂</a:t>
            </a:r>
            <a:endParaRPr lang="en-US" sz="650" dirty="0"/>
          </a:p>
        </p:txBody>
      </p:sp>
      <p:sp>
        <p:nvSpPr>
          <p:cNvPr id="92" name="Shape 90"/>
          <p:cNvSpPr/>
          <p:nvPr/>
        </p:nvSpPr>
        <p:spPr>
          <a:xfrm>
            <a:off x="3145536" y="2982773"/>
            <a:ext cx="1207008" cy="250546"/>
          </a:xfrm>
          <a:prstGeom prst="rect">
            <a:avLst/>
          </a:prstGeom>
          <a:solidFill>
            <a:srgbClr val="FFFFFF"/>
          </a:solidFill>
          <a:ln w="12700">
            <a:solidFill>
              <a:srgbClr val="FFFFFF"/>
            </a:solidFill>
            <a:prstDash val="solid"/>
          </a:ln>
        </p:spPr>
      </p:sp>
      <p:sp>
        <p:nvSpPr>
          <p:cNvPr id="93" name="Text 91"/>
          <p:cNvSpPr/>
          <p:nvPr/>
        </p:nvSpPr>
        <p:spPr>
          <a:xfrm>
            <a:off x="3182112" y="2991917"/>
            <a:ext cx="1152144" cy="130284"/>
          </a:xfrm>
          <a:prstGeom prst="rect">
            <a:avLst/>
          </a:prstGeom>
          <a:noFill/>
          <a:ln/>
        </p:spPr>
        <p:txBody>
          <a:bodyPr wrap="square" rtlCol="0" anchor="ctr"/>
          <a:lstStyle/>
          <a:p>
            <a:pPr marL="0" indent="0">
              <a:buNone/>
            </a:pPr>
            <a:r>
              <a:rPr lang="en-US" sz="850" b="1" dirty="0">
                <a:solidFill>
                  <a:srgbClr val="0F2C4F"/>
                </a:solidFill>
              </a:rPr>
              <a:t>PaO2</a:t>
            </a:r>
            <a:endParaRPr lang="en-US" sz="850" dirty="0"/>
          </a:p>
        </p:txBody>
      </p:sp>
      <p:sp>
        <p:nvSpPr>
          <p:cNvPr id="94" name="Text 92"/>
          <p:cNvSpPr/>
          <p:nvPr/>
        </p:nvSpPr>
        <p:spPr>
          <a:xfrm>
            <a:off x="3182112" y="3113057"/>
            <a:ext cx="1152144" cy="115251"/>
          </a:xfrm>
          <a:prstGeom prst="rect">
            <a:avLst/>
          </a:prstGeom>
          <a:noFill/>
          <a:ln/>
        </p:spPr>
        <p:txBody>
          <a:bodyPr wrap="square" rtlCol="0" anchor="ctr"/>
          <a:lstStyle/>
          <a:p>
            <a:pPr marL="0" indent="0">
              <a:buNone/>
            </a:pPr>
            <a:r>
              <a:rPr lang="en-US" sz="760" b="1" i="1" dirty="0">
                <a:solidFill>
                  <a:srgbClr val="000000"/>
                </a:solidFill>
              </a:rPr>
              <a:t>Arterial O₂ press.</a:t>
            </a:r>
            <a:endParaRPr lang="en-US" sz="650" dirty="0"/>
          </a:p>
        </p:txBody>
      </p:sp>
      <p:sp>
        <p:nvSpPr>
          <p:cNvPr id="95" name="Text 93"/>
          <p:cNvSpPr/>
          <p:nvPr/>
        </p:nvSpPr>
        <p:spPr>
          <a:xfrm>
            <a:off x="3182112" y="3242462"/>
            <a:ext cx="1152144" cy="130284"/>
          </a:xfrm>
          <a:prstGeom prst="rect">
            <a:avLst/>
          </a:prstGeom>
          <a:noFill/>
          <a:ln/>
        </p:spPr>
        <p:txBody>
          <a:bodyPr wrap="square" rtlCol="0" anchor="ctr"/>
          <a:lstStyle/>
          <a:p>
            <a:pPr marL="0" indent="0">
              <a:buNone/>
            </a:pPr>
            <a:r>
              <a:rPr lang="en-US" sz="850" b="1" dirty="0">
                <a:solidFill>
                  <a:srgbClr val="0F2C4F"/>
                </a:solidFill>
              </a:rPr>
              <a:t>PaCO2</a:t>
            </a:r>
            <a:endParaRPr lang="en-US" sz="850" dirty="0"/>
          </a:p>
        </p:txBody>
      </p:sp>
      <p:sp>
        <p:nvSpPr>
          <p:cNvPr id="96" name="Text 94"/>
          <p:cNvSpPr/>
          <p:nvPr/>
        </p:nvSpPr>
        <p:spPr>
          <a:xfrm>
            <a:off x="3182112" y="3363602"/>
            <a:ext cx="1152144" cy="115251"/>
          </a:xfrm>
          <a:prstGeom prst="rect">
            <a:avLst/>
          </a:prstGeom>
          <a:noFill/>
          <a:ln/>
        </p:spPr>
        <p:txBody>
          <a:bodyPr wrap="square" rtlCol="0" anchor="ctr"/>
          <a:lstStyle/>
          <a:p>
            <a:pPr marL="0" indent="0">
              <a:buNone/>
            </a:pPr>
            <a:r>
              <a:rPr lang="en-US" sz="760" b="1" i="1" dirty="0">
                <a:solidFill>
                  <a:srgbClr val="000000"/>
                </a:solidFill>
              </a:rPr>
              <a:t>Arterial CO₂ press.</a:t>
            </a:r>
            <a:endParaRPr lang="en-US" sz="650" dirty="0"/>
          </a:p>
        </p:txBody>
      </p:sp>
      <p:sp>
        <p:nvSpPr>
          <p:cNvPr id="97" name="Shape 95"/>
          <p:cNvSpPr/>
          <p:nvPr/>
        </p:nvSpPr>
        <p:spPr>
          <a:xfrm>
            <a:off x="3145536" y="3483864"/>
            <a:ext cx="1207008" cy="250546"/>
          </a:xfrm>
          <a:prstGeom prst="rect">
            <a:avLst/>
          </a:prstGeom>
          <a:solidFill>
            <a:srgbClr val="FFFFFF"/>
          </a:solidFill>
          <a:ln w="12700">
            <a:solidFill>
              <a:srgbClr val="FFFFFF"/>
            </a:solidFill>
            <a:prstDash val="solid"/>
          </a:ln>
        </p:spPr>
      </p:sp>
      <p:sp>
        <p:nvSpPr>
          <p:cNvPr id="98" name="Text 96"/>
          <p:cNvSpPr/>
          <p:nvPr/>
        </p:nvSpPr>
        <p:spPr>
          <a:xfrm>
            <a:off x="3182112" y="3493008"/>
            <a:ext cx="1152144" cy="130284"/>
          </a:xfrm>
          <a:prstGeom prst="rect">
            <a:avLst/>
          </a:prstGeom>
          <a:noFill/>
          <a:ln/>
        </p:spPr>
        <p:txBody>
          <a:bodyPr wrap="square" rtlCol="0" anchor="ctr"/>
          <a:lstStyle/>
          <a:p>
            <a:pPr marL="0" indent="0">
              <a:buNone/>
            </a:pPr>
            <a:r>
              <a:rPr lang="en-US" sz="850" b="1" dirty="0">
                <a:solidFill>
                  <a:srgbClr val="0F2C4F"/>
                </a:solidFill>
              </a:rPr>
              <a:t>pH</a:t>
            </a:r>
            <a:endParaRPr lang="en-US" sz="850" dirty="0"/>
          </a:p>
        </p:txBody>
      </p:sp>
      <p:sp>
        <p:nvSpPr>
          <p:cNvPr id="99" name="Text 97"/>
          <p:cNvSpPr/>
          <p:nvPr/>
        </p:nvSpPr>
        <p:spPr>
          <a:xfrm>
            <a:off x="3182112" y="3614148"/>
            <a:ext cx="1152144" cy="115251"/>
          </a:xfrm>
          <a:prstGeom prst="rect">
            <a:avLst/>
          </a:prstGeom>
          <a:noFill/>
          <a:ln/>
        </p:spPr>
        <p:txBody>
          <a:bodyPr wrap="square" rtlCol="0" anchor="ctr"/>
          <a:lstStyle/>
          <a:p>
            <a:pPr marL="0" indent="0">
              <a:buNone/>
            </a:pPr>
            <a:r>
              <a:rPr lang="en-US" sz="760" b="1" i="1" dirty="0">
                <a:solidFill>
                  <a:srgbClr val="000000"/>
                </a:solidFill>
              </a:rPr>
              <a:t>Arterial pH</a:t>
            </a:r>
            <a:endParaRPr lang="en-US" sz="650" dirty="0"/>
          </a:p>
        </p:txBody>
      </p:sp>
      <p:sp>
        <p:nvSpPr>
          <p:cNvPr id="100" name="Text 98"/>
          <p:cNvSpPr/>
          <p:nvPr/>
        </p:nvSpPr>
        <p:spPr>
          <a:xfrm>
            <a:off x="3182112" y="3743554"/>
            <a:ext cx="1152144" cy="130284"/>
          </a:xfrm>
          <a:prstGeom prst="rect">
            <a:avLst/>
          </a:prstGeom>
          <a:noFill/>
          <a:ln/>
        </p:spPr>
        <p:txBody>
          <a:bodyPr wrap="square" rtlCol="0" anchor="ctr"/>
          <a:lstStyle/>
          <a:p>
            <a:pPr marL="0" indent="0">
              <a:buNone/>
            </a:pPr>
            <a:r>
              <a:rPr lang="en-US" sz="850" b="1" dirty="0">
                <a:solidFill>
                  <a:srgbClr val="0F2C4F"/>
                </a:solidFill>
              </a:rPr>
              <a:t>MechVent</a:t>
            </a:r>
            <a:endParaRPr lang="en-US" sz="850" dirty="0"/>
          </a:p>
        </p:txBody>
      </p:sp>
      <p:sp>
        <p:nvSpPr>
          <p:cNvPr id="101" name="Text 99"/>
          <p:cNvSpPr/>
          <p:nvPr/>
        </p:nvSpPr>
        <p:spPr>
          <a:xfrm>
            <a:off x="3182112" y="3864693"/>
            <a:ext cx="1152144" cy="115251"/>
          </a:xfrm>
          <a:prstGeom prst="rect">
            <a:avLst/>
          </a:prstGeom>
          <a:noFill/>
          <a:ln/>
        </p:spPr>
        <p:txBody>
          <a:bodyPr wrap="square" rtlCol="0" anchor="ctr"/>
          <a:lstStyle/>
          <a:p>
            <a:pPr marL="0" indent="0">
              <a:buNone/>
            </a:pPr>
            <a:r>
              <a:rPr lang="en-US" sz="760" b="1" i="1" dirty="0">
                <a:solidFill>
                  <a:srgbClr val="000000"/>
                </a:solidFill>
              </a:rPr>
              <a:t>Mech. ventilation</a:t>
            </a:r>
            <a:endParaRPr lang="en-US" sz="650" dirty="0"/>
          </a:p>
        </p:txBody>
      </p:sp>
      <p:sp>
        <p:nvSpPr>
          <p:cNvPr id="102" name="Shape 100"/>
          <p:cNvSpPr/>
          <p:nvPr/>
        </p:nvSpPr>
        <p:spPr>
          <a:xfrm>
            <a:off x="4407408" y="2011680"/>
            <a:ext cx="1243584" cy="2779776"/>
          </a:xfrm>
          <a:prstGeom prst="rect">
            <a:avLst/>
          </a:prstGeom>
          <a:solidFill>
            <a:srgbClr val="F5F8FC"/>
          </a:solidFill>
          <a:ln w="6350">
            <a:solidFill>
              <a:srgbClr val="D9E2F3"/>
            </a:solidFill>
            <a:prstDash val="solid"/>
          </a:ln>
        </p:spPr>
      </p:sp>
      <p:sp>
        <p:nvSpPr>
          <p:cNvPr id="103" name="Shape 101"/>
          <p:cNvSpPr/>
          <p:nvPr/>
        </p:nvSpPr>
        <p:spPr>
          <a:xfrm>
            <a:off x="4407408" y="2011680"/>
            <a:ext cx="1243584" cy="219456"/>
          </a:xfrm>
          <a:prstGeom prst="rect">
            <a:avLst/>
          </a:prstGeom>
          <a:solidFill>
            <a:srgbClr val="C77700"/>
          </a:solidFill>
          <a:ln w="12700">
            <a:solidFill>
              <a:srgbClr val="C77700"/>
            </a:solidFill>
            <a:prstDash val="solid"/>
          </a:ln>
        </p:spPr>
      </p:sp>
      <p:sp>
        <p:nvSpPr>
          <p:cNvPr id="104" name="Text 102"/>
          <p:cNvSpPr/>
          <p:nvPr/>
        </p:nvSpPr>
        <p:spPr>
          <a:xfrm>
            <a:off x="4443984" y="2011680"/>
            <a:ext cx="1188720" cy="219456"/>
          </a:xfrm>
          <a:prstGeom prst="rect">
            <a:avLst/>
          </a:prstGeom>
          <a:noFill/>
          <a:ln/>
        </p:spPr>
        <p:txBody>
          <a:bodyPr wrap="square" rtlCol="0" anchor="ctr"/>
          <a:lstStyle/>
          <a:p>
            <a:pPr marL="0" indent="0" algn="ctr">
              <a:buNone/>
            </a:pPr>
            <a:r>
              <a:rPr lang="en-US" sz="700" b="1" kern="0" spc="20" dirty="0">
                <a:solidFill>
                  <a:srgbClr val="FFFFFF"/>
                </a:solidFill>
              </a:rPr>
              <a:t>RENAL / METABOLIC</a:t>
            </a:r>
            <a:endParaRPr lang="en-US" sz="700" dirty="0"/>
          </a:p>
        </p:txBody>
      </p:sp>
      <p:sp>
        <p:nvSpPr>
          <p:cNvPr id="105" name="Text 103"/>
          <p:cNvSpPr/>
          <p:nvPr/>
        </p:nvSpPr>
        <p:spPr>
          <a:xfrm>
            <a:off x="4462272" y="2240280"/>
            <a:ext cx="1152144" cy="118440"/>
          </a:xfrm>
          <a:prstGeom prst="rect">
            <a:avLst/>
          </a:prstGeom>
          <a:noFill/>
          <a:ln/>
        </p:spPr>
        <p:txBody>
          <a:bodyPr wrap="square" rtlCol="0" anchor="ctr"/>
          <a:lstStyle/>
          <a:p>
            <a:pPr marL="0" indent="0">
              <a:buNone/>
            </a:pPr>
            <a:r>
              <a:rPr lang="en-US" sz="850" b="1" dirty="0">
                <a:solidFill>
                  <a:srgbClr val="0F2C4F"/>
                </a:solidFill>
              </a:rPr>
              <a:t>BUN</a:t>
            </a:r>
            <a:endParaRPr lang="en-US" sz="850" dirty="0"/>
          </a:p>
        </p:txBody>
      </p:sp>
      <p:sp>
        <p:nvSpPr>
          <p:cNvPr id="106" name="Text 104"/>
          <p:cNvSpPr/>
          <p:nvPr/>
        </p:nvSpPr>
        <p:spPr>
          <a:xfrm>
            <a:off x="4462272" y="2349576"/>
            <a:ext cx="1152144" cy="104774"/>
          </a:xfrm>
          <a:prstGeom prst="rect">
            <a:avLst/>
          </a:prstGeom>
          <a:noFill/>
          <a:ln/>
        </p:spPr>
        <p:txBody>
          <a:bodyPr wrap="square" rtlCol="0" anchor="ctr"/>
          <a:lstStyle/>
          <a:p>
            <a:pPr marL="0" indent="0">
              <a:buNone/>
            </a:pPr>
            <a:r>
              <a:rPr lang="en-US" sz="760" b="1" i="1" dirty="0">
                <a:solidFill>
                  <a:srgbClr val="000000"/>
                </a:solidFill>
              </a:rPr>
              <a:t>Blood urea nitrogen</a:t>
            </a:r>
            <a:endParaRPr lang="en-US" sz="650" dirty="0"/>
          </a:p>
        </p:txBody>
      </p:sp>
      <p:sp>
        <p:nvSpPr>
          <p:cNvPr id="107" name="Shape 105"/>
          <p:cNvSpPr/>
          <p:nvPr/>
        </p:nvSpPr>
        <p:spPr>
          <a:xfrm>
            <a:off x="4425696" y="2458905"/>
            <a:ext cx="1207008" cy="227769"/>
          </a:xfrm>
          <a:prstGeom prst="rect">
            <a:avLst/>
          </a:prstGeom>
          <a:solidFill>
            <a:srgbClr val="FFFFFF"/>
          </a:solidFill>
          <a:ln w="12700">
            <a:solidFill>
              <a:srgbClr val="FFFFFF"/>
            </a:solidFill>
            <a:prstDash val="solid"/>
          </a:ln>
        </p:spPr>
      </p:sp>
      <p:sp>
        <p:nvSpPr>
          <p:cNvPr id="108" name="Text 106"/>
          <p:cNvSpPr/>
          <p:nvPr/>
        </p:nvSpPr>
        <p:spPr>
          <a:xfrm>
            <a:off x="4462272" y="2468049"/>
            <a:ext cx="1152144" cy="118440"/>
          </a:xfrm>
          <a:prstGeom prst="rect">
            <a:avLst/>
          </a:prstGeom>
          <a:noFill/>
          <a:ln/>
        </p:spPr>
        <p:txBody>
          <a:bodyPr wrap="square" rtlCol="0" anchor="ctr"/>
          <a:lstStyle/>
          <a:p>
            <a:pPr marL="0" indent="0">
              <a:buNone/>
            </a:pPr>
            <a:r>
              <a:rPr lang="en-US" sz="850" b="1" dirty="0">
                <a:solidFill>
                  <a:srgbClr val="0F2C4F"/>
                </a:solidFill>
              </a:rPr>
              <a:t>Creatinine</a:t>
            </a:r>
            <a:endParaRPr lang="en-US" sz="850" dirty="0"/>
          </a:p>
        </p:txBody>
      </p:sp>
      <p:sp>
        <p:nvSpPr>
          <p:cNvPr id="109" name="Text 107"/>
          <p:cNvSpPr/>
          <p:nvPr/>
        </p:nvSpPr>
        <p:spPr>
          <a:xfrm>
            <a:off x="4462272" y="2577344"/>
            <a:ext cx="1152144" cy="104774"/>
          </a:xfrm>
          <a:prstGeom prst="rect">
            <a:avLst/>
          </a:prstGeom>
          <a:noFill/>
          <a:ln/>
        </p:spPr>
        <p:txBody>
          <a:bodyPr wrap="square" rtlCol="0" anchor="ctr"/>
          <a:lstStyle/>
          <a:p>
            <a:pPr marL="0" indent="0">
              <a:buNone/>
            </a:pPr>
            <a:r>
              <a:rPr lang="en-US" sz="760" b="1" i="1" dirty="0">
                <a:solidFill>
                  <a:srgbClr val="000000"/>
                </a:solidFill>
              </a:rPr>
              <a:t>Serum creatinine</a:t>
            </a:r>
            <a:endParaRPr lang="en-US" sz="650" dirty="0"/>
          </a:p>
        </p:txBody>
      </p:sp>
      <p:sp>
        <p:nvSpPr>
          <p:cNvPr id="110" name="Text 108"/>
          <p:cNvSpPr/>
          <p:nvPr/>
        </p:nvSpPr>
        <p:spPr>
          <a:xfrm>
            <a:off x="4462272" y="2695817"/>
            <a:ext cx="1152144" cy="118440"/>
          </a:xfrm>
          <a:prstGeom prst="rect">
            <a:avLst/>
          </a:prstGeom>
          <a:noFill/>
          <a:ln/>
        </p:spPr>
        <p:txBody>
          <a:bodyPr wrap="square" rtlCol="0" anchor="ctr"/>
          <a:lstStyle/>
          <a:p>
            <a:pPr marL="0" indent="0">
              <a:buNone/>
            </a:pPr>
            <a:r>
              <a:rPr lang="en-US" sz="850" b="1" dirty="0">
                <a:solidFill>
                  <a:srgbClr val="0F2C4F"/>
                </a:solidFill>
              </a:rPr>
              <a:t>Glucose</a:t>
            </a:r>
            <a:endParaRPr lang="en-US" sz="850" dirty="0"/>
          </a:p>
        </p:txBody>
      </p:sp>
      <p:sp>
        <p:nvSpPr>
          <p:cNvPr id="111" name="Text 109"/>
          <p:cNvSpPr/>
          <p:nvPr/>
        </p:nvSpPr>
        <p:spPr>
          <a:xfrm>
            <a:off x="4462272" y="2805113"/>
            <a:ext cx="1152144" cy="104774"/>
          </a:xfrm>
          <a:prstGeom prst="rect">
            <a:avLst/>
          </a:prstGeom>
          <a:noFill/>
          <a:ln/>
        </p:spPr>
        <p:txBody>
          <a:bodyPr wrap="square" rtlCol="0" anchor="ctr"/>
          <a:lstStyle/>
          <a:p>
            <a:pPr marL="0" indent="0">
              <a:buNone/>
            </a:pPr>
            <a:r>
              <a:rPr lang="en-US" sz="760" b="1" i="1" dirty="0">
                <a:solidFill>
                  <a:srgbClr val="000000"/>
                </a:solidFill>
              </a:rPr>
              <a:t>Serum glucose</a:t>
            </a:r>
            <a:endParaRPr lang="en-US" sz="650" dirty="0"/>
          </a:p>
        </p:txBody>
      </p:sp>
      <p:sp>
        <p:nvSpPr>
          <p:cNvPr id="112" name="Shape 110"/>
          <p:cNvSpPr/>
          <p:nvPr/>
        </p:nvSpPr>
        <p:spPr>
          <a:xfrm>
            <a:off x="4425696" y="2914442"/>
            <a:ext cx="1207008" cy="227769"/>
          </a:xfrm>
          <a:prstGeom prst="rect">
            <a:avLst/>
          </a:prstGeom>
          <a:solidFill>
            <a:srgbClr val="FFFFFF"/>
          </a:solidFill>
          <a:ln w="12700">
            <a:solidFill>
              <a:srgbClr val="FFFFFF"/>
            </a:solidFill>
            <a:prstDash val="solid"/>
          </a:ln>
        </p:spPr>
      </p:sp>
      <p:sp>
        <p:nvSpPr>
          <p:cNvPr id="113" name="Text 111"/>
          <p:cNvSpPr/>
          <p:nvPr/>
        </p:nvSpPr>
        <p:spPr>
          <a:xfrm>
            <a:off x="4462272" y="2923586"/>
            <a:ext cx="1152144" cy="118440"/>
          </a:xfrm>
          <a:prstGeom prst="rect">
            <a:avLst/>
          </a:prstGeom>
          <a:noFill/>
          <a:ln/>
        </p:spPr>
        <p:txBody>
          <a:bodyPr wrap="square" rtlCol="0" anchor="ctr"/>
          <a:lstStyle/>
          <a:p>
            <a:pPr marL="0" indent="0">
              <a:buNone/>
            </a:pPr>
            <a:r>
              <a:rPr lang="en-US" sz="850" b="1" dirty="0">
                <a:solidFill>
                  <a:srgbClr val="0F2C4F"/>
                </a:solidFill>
              </a:rPr>
              <a:t>HCO3</a:t>
            </a:r>
            <a:endParaRPr lang="en-US" sz="850" dirty="0"/>
          </a:p>
        </p:txBody>
      </p:sp>
      <p:sp>
        <p:nvSpPr>
          <p:cNvPr id="114" name="Text 112"/>
          <p:cNvSpPr/>
          <p:nvPr/>
        </p:nvSpPr>
        <p:spPr>
          <a:xfrm>
            <a:off x="4462272" y="3032882"/>
            <a:ext cx="1152144" cy="104774"/>
          </a:xfrm>
          <a:prstGeom prst="rect">
            <a:avLst/>
          </a:prstGeom>
          <a:noFill/>
          <a:ln/>
        </p:spPr>
        <p:txBody>
          <a:bodyPr wrap="square" rtlCol="0" anchor="ctr"/>
          <a:lstStyle/>
          <a:p>
            <a:pPr marL="0" indent="0">
              <a:buNone/>
            </a:pPr>
            <a:r>
              <a:rPr lang="en-US" sz="760" b="1" i="1" dirty="0">
                <a:solidFill>
                  <a:srgbClr val="000000"/>
                </a:solidFill>
              </a:rPr>
              <a:t>Serum bicarbonate</a:t>
            </a:r>
            <a:endParaRPr lang="en-US" sz="650" dirty="0"/>
          </a:p>
        </p:txBody>
      </p:sp>
      <p:sp>
        <p:nvSpPr>
          <p:cNvPr id="115" name="Text 113"/>
          <p:cNvSpPr/>
          <p:nvPr/>
        </p:nvSpPr>
        <p:spPr>
          <a:xfrm>
            <a:off x="4462272" y="3151355"/>
            <a:ext cx="1152144" cy="118440"/>
          </a:xfrm>
          <a:prstGeom prst="rect">
            <a:avLst/>
          </a:prstGeom>
          <a:noFill/>
          <a:ln/>
        </p:spPr>
        <p:txBody>
          <a:bodyPr wrap="square" rtlCol="0" anchor="ctr"/>
          <a:lstStyle/>
          <a:p>
            <a:pPr marL="0" indent="0">
              <a:buNone/>
            </a:pPr>
            <a:r>
              <a:rPr lang="en-US" sz="850" b="1" dirty="0">
                <a:solidFill>
                  <a:srgbClr val="0F2C4F"/>
                </a:solidFill>
              </a:rPr>
              <a:t>Lactate</a:t>
            </a:r>
            <a:endParaRPr lang="en-US" sz="850" dirty="0"/>
          </a:p>
        </p:txBody>
      </p:sp>
      <p:sp>
        <p:nvSpPr>
          <p:cNvPr id="116" name="Text 114"/>
          <p:cNvSpPr/>
          <p:nvPr/>
        </p:nvSpPr>
        <p:spPr>
          <a:xfrm>
            <a:off x="4462272" y="3260651"/>
            <a:ext cx="1152144" cy="104774"/>
          </a:xfrm>
          <a:prstGeom prst="rect">
            <a:avLst/>
          </a:prstGeom>
          <a:noFill/>
          <a:ln/>
        </p:spPr>
        <p:txBody>
          <a:bodyPr wrap="square" rtlCol="0" anchor="ctr"/>
          <a:lstStyle/>
          <a:p>
            <a:pPr marL="0" indent="0">
              <a:buNone/>
            </a:pPr>
            <a:r>
              <a:rPr lang="en-US" sz="760" b="1" i="1" dirty="0">
                <a:solidFill>
                  <a:srgbClr val="000000"/>
                </a:solidFill>
              </a:rPr>
              <a:t>Lactate</a:t>
            </a:r>
            <a:endParaRPr lang="en-US" sz="650" dirty="0"/>
          </a:p>
        </p:txBody>
      </p:sp>
      <p:sp>
        <p:nvSpPr>
          <p:cNvPr id="117" name="Shape 115"/>
          <p:cNvSpPr/>
          <p:nvPr/>
        </p:nvSpPr>
        <p:spPr>
          <a:xfrm>
            <a:off x="4425696" y="3369980"/>
            <a:ext cx="1207008" cy="227769"/>
          </a:xfrm>
          <a:prstGeom prst="rect">
            <a:avLst/>
          </a:prstGeom>
          <a:solidFill>
            <a:srgbClr val="FFFFFF"/>
          </a:solidFill>
          <a:ln w="12700">
            <a:solidFill>
              <a:srgbClr val="FFFFFF"/>
            </a:solidFill>
            <a:prstDash val="solid"/>
          </a:ln>
        </p:spPr>
      </p:sp>
      <p:sp>
        <p:nvSpPr>
          <p:cNvPr id="118" name="Text 116"/>
          <p:cNvSpPr/>
          <p:nvPr/>
        </p:nvSpPr>
        <p:spPr>
          <a:xfrm>
            <a:off x="4462272" y="3379124"/>
            <a:ext cx="1152144" cy="118440"/>
          </a:xfrm>
          <a:prstGeom prst="rect">
            <a:avLst/>
          </a:prstGeom>
          <a:noFill/>
          <a:ln/>
        </p:spPr>
        <p:txBody>
          <a:bodyPr wrap="square" rtlCol="0" anchor="ctr"/>
          <a:lstStyle/>
          <a:p>
            <a:pPr marL="0" indent="0">
              <a:buNone/>
            </a:pPr>
            <a:r>
              <a:rPr lang="en-US" sz="850" b="1" dirty="0">
                <a:solidFill>
                  <a:srgbClr val="0F2C4F"/>
                </a:solidFill>
              </a:rPr>
              <a:t>Urine</a:t>
            </a:r>
            <a:endParaRPr lang="en-US" sz="850" dirty="0"/>
          </a:p>
        </p:txBody>
      </p:sp>
      <p:sp>
        <p:nvSpPr>
          <p:cNvPr id="119" name="Text 117"/>
          <p:cNvSpPr/>
          <p:nvPr/>
        </p:nvSpPr>
        <p:spPr>
          <a:xfrm>
            <a:off x="4462272" y="3488419"/>
            <a:ext cx="1152144" cy="104774"/>
          </a:xfrm>
          <a:prstGeom prst="rect">
            <a:avLst/>
          </a:prstGeom>
          <a:noFill/>
          <a:ln/>
        </p:spPr>
        <p:txBody>
          <a:bodyPr wrap="square" rtlCol="0" anchor="ctr"/>
          <a:lstStyle/>
          <a:p>
            <a:pPr marL="0" indent="0">
              <a:buNone/>
            </a:pPr>
            <a:r>
              <a:rPr lang="en-US" sz="760" b="1" i="1" dirty="0">
                <a:solidFill>
                  <a:srgbClr val="000000"/>
                </a:solidFill>
              </a:rPr>
              <a:t>Urine output</a:t>
            </a:r>
            <a:endParaRPr lang="en-US" sz="650" dirty="0"/>
          </a:p>
        </p:txBody>
      </p:sp>
      <p:sp>
        <p:nvSpPr>
          <p:cNvPr id="120" name="Text 118"/>
          <p:cNvSpPr/>
          <p:nvPr/>
        </p:nvSpPr>
        <p:spPr>
          <a:xfrm>
            <a:off x="4462272" y="3606892"/>
            <a:ext cx="1152144" cy="118440"/>
          </a:xfrm>
          <a:prstGeom prst="rect">
            <a:avLst/>
          </a:prstGeom>
          <a:noFill/>
          <a:ln/>
        </p:spPr>
        <p:txBody>
          <a:bodyPr wrap="square" rtlCol="0" anchor="ctr"/>
          <a:lstStyle/>
          <a:p>
            <a:pPr marL="0" indent="0">
              <a:buNone/>
            </a:pPr>
            <a:r>
              <a:rPr lang="en-US" sz="850" b="1" dirty="0">
                <a:solidFill>
                  <a:srgbClr val="0F2C4F"/>
                </a:solidFill>
              </a:rPr>
              <a:t>K</a:t>
            </a:r>
            <a:endParaRPr lang="en-US" sz="850" dirty="0"/>
          </a:p>
        </p:txBody>
      </p:sp>
      <p:sp>
        <p:nvSpPr>
          <p:cNvPr id="121" name="Text 119"/>
          <p:cNvSpPr/>
          <p:nvPr/>
        </p:nvSpPr>
        <p:spPr>
          <a:xfrm>
            <a:off x="4462272" y="3716188"/>
            <a:ext cx="1152144" cy="104774"/>
          </a:xfrm>
          <a:prstGeom prst="rect">
            <a:avLst/>
          </a:prstGeom>
          <a:noFill/>
          <a:ln/>
        </p:spPr>
        <p:txBody>
          <a:bodyPr wrap="square" rtlCol="0" anchor="ctr"/>
          <a:lstStyle/>
          <a:p>
            <a:pPr marL="0" indent="0">
              <a:buNone/>
            </a:pPr>
            <a:r>
              <a:rPr lang="en-US" sz="760" b="1" i="1" dirty="0">
                <a:solidFill>
                  <a:srgbClr val="000000"/>
                </a:solidFill>
              </a:rPr>
              <a:t>Serum potassium</a:t>
            </a:r>
            <a:endParaRPr lang="en-US" sz="650" dirty="0"/>
          </a:p>
        </p:txBody>
      </p:sp>
      <p:sp>
        <p:nvSpPr>
          <p:cNvPr id="122" name="Shape 120"/>
          <p:cNvSpPr/>
          <p:nvPr/>
        </p:nvSpPr>
        <p:spPr>
          <a:xfrm>
            <a:off x="4425696" y="3825517"/>
            <a:ext cx="1207008" cy="227769"/>
          </a:xfrm>
          <a:prstGeom prst="rect">
            <a:avLst/>
          </a:prstGeom>
          <a:solidFill>
            <a:srgbClr val="FFFFFF"/>
          </a:solidFill>
          <a:ln w="12700">
            <a:solidFill>
              <a:srgbClr val="FFFFFF"/>
            </a:solidFill>
            <a:prstDash val="solid"/>
          </a:ln>
        </p:spPr>
      </p:sp>
      <p:sp>
        <p:nvSpPr>
          <p:cNvPr id="123" name="Text 121"/>
          <p:cNvSpPr/>
          <p:nvPr/>
        </p:nvSpPr>
        <p:spPr>
          <a:xfrm>
            <a:off x="4462272" y="3834661"/>
            <a:ext cx="1152144" cy="118440"/>
          </a:xfrm>
          <a:prstGeom prst="rect">
            <a:avLst/>
          </a:prstGeom>
          <a:noFill/>
          <a:ln/>
        </p:spPr>
        <p:txBody>
          <a:bodyPr wrap="square" rtlCol="0" anchor="ctr"/>
          <a:lstStyle/>
          <a:p>
            <a:pPr marL="0" indent="0">
              <a:buNone/>
            </a:pPr>
            <a:r>
              <a:rPr lang="en-US" sz="850" b="1" dirty="0">
                <a:solidFill>
                  <a:srgbClr val="0F2C4F"/>
                </a:solidFill>
              </a:rPr>
              <a:t>Na</a:t>
            </a:r>
            <a:endParaRPr lang="en-US" sz="850" dirty="0"/>
          </a:p>
        </p:txBody>
      </p:sp>
      <p:sp>
        <p:nvSpPr>
          <p:cNvPr id="124" name="Text 122"/>
          <p:cNvSpPr/>
          <p:nvPr/>
        </p:nvSpPr>
        <p:spPr>
          <a:xfrm>
            <a:off x="4462272" y="3943957"/>
            <a:ext cx="1152144" cy="104774"/>
          </a:xfrm>
          <a:prstGeom prst="rect">
            <a:avLst/>
          </a:prstGeom>
          <a:noFill/>
          <a:ln/>
        </p:spPr>
        <p:txBody>
          <a:bodyPr wrap="square" rtlCol="0" anchor="ctr"/>
          <a:lstStyle/>
          <a:p>
            <a:pPr marL="0" indent="0">
              <a:buNone/>
            </a:pPr>
            <a:r>
              <a:rPr lang="en-US" sz="760" b="1" i="1" dirty="0">
                <a:solidFill>
                  <a:srgbClr val="000000"/>
                </a:solidFill>
              </a:rPr>
              <a:t>Serum sodium</a:t>
            </a:r>
            <a:endParaRPr lang="en-US" sz="650" dirty="0"/>
          </a:p>
        </p:txBody>
      </p:sp>
      <p:sp>
        <p:nvSpPr>
          <p:cNvPr id="125" name="Text 123"/>
          <p:cNvSpPr/>
          <p:nvPr/>
        </p:nvSpPr>
        <p:spPr>
          <a:xfrm>
            <a:off x="4462272" y="4062430"/>
            <a:ext cx="1152144" cy="118440"/>
          </a:xfrm>
          <a:prstGeom prst="rect">
            <a:avLst/>
          </a:prstGeom>
          <a:noFill/>
          <a:ln/>
        </p:spPr>
        <p:txBody>
          <a:bodyPr wrap="square" rtlCol="0" anchor="ctr"/>
          <a:lstStyle/>
          <a:p>
            <a:pPr marL="0" indent="0">
              <a:buNone/>
            </a:pPr>
            <a:r>
              <a:rPr lang="en-US" sz="850" b="1" dirty="0">
                <a:solidFill>
                  <a:srgbClr val="0F2C4F"/>
                </a:solidFill>
              </a:rPr>
              <a:t>Mg</a:t>
            </a:r>
            <a:endParaRPr lang="en-US" sz="850" dirty="0"/>
          </a:p>
        </p:txBody>
      </p:sp>
      <p:sp>
        <p:nvSpPr>
          <p:cNvPr id="126" name="Text 124"/>
          <p:cNvSpPr/>
          <p:nvPr/>
        </p:nvSpPr>
        <p:spPr>
          <a:xfrm>
            <a:off x="4462272" y="4171726"/>
            <a:ext cx="1152144" cy="104774"/>
          </a:xfrm>
          <a:prstGeom prst="rect">
            <a:avLst/>
          </a:prstGeom>
          <a:noFill/>
          <a:ln/>
        </p:spPr>
        <p:txBody>
          <a:bodyPr wrap="square" rtlCol="0" anchor="ctr"/>
          <a:lstStyle/>
          <a:p>
            <a:pPr marL="0" indent="0">
              <a:buNone/>
            </a:pPr>
            <a:r>
              <a:rPr lang="en-US" sz="760" b="1" i="1" dirty="0">
                <a:solidFill>
                  <a:srgbClr val="000000"/>
                </a:solidFill>
              </a:rPr>
              <a:t>Serum magnesium</a:t>
            </a:r>
            <a:endParaRPr lang="en-US" sz="650" dirty="0"/>
          </a:p>
        </p:txBody>
      </p:sp>
      <p:sp>
        <p:nvSpPr>
          <p:cNvPr id="127" name="Shape 125"/>
          <p:cNvSpPr/>
          <p:nvPr/>
        </p:nvSpPr>
        <p:spPr>
          <a:xfrm>
            <a:off x="4425696" y="4281055"/>
            <a:ext cx="1207008" cy="227769"/>
          </a:xfrm>
          <a:prstGeom prst="rect">
            <a:avLst/>
          </a:prstGeom>
          <a:solidFill>
            <a:srgbClr val="FFFFFF"/>
          </a:solidFill>
          <a:ln w="12700">
            <a:solidFill>
              <a:srgbClr val="FFFFFF"/>
            </a:solidFill>
            <a:prstDash val="solid"/>
          </a:ln>
        </p:spPr>
      </p:sp>
      <p:sp>
        <p:nvSpPr>
          <p:cNvPr id="128" name="Text 126"/>
          <p:cNvSpPr/>
          <p:nvPr/>
        </p:nvSpPr>
        <p:spPr>
          <a:xfrm>
            <a:off x="4462272" y="4290199"/>
            <a:ext cx="1152144" cy="118440"/>
          </a:xfrm>
          <a:prstGeom prst="rect">
            <a:avLst/>
          </a:prstGeom>
          <a:noFill/>
          <a:ln/>
        </p:spPr>
        <p:txBody>
          <a:bodyPr wrap="square" rtlCol="0" anchor="ctr"/>
          <a:lstStyle/>
          <a:p>
            <a:pPr marL="0" indent="0">
              <a:buNone/>
            </a:pPr>
            <a:r>
              <a:rPr lang="en-US" sz="850" b="1" dirty="0">
                <a:solidFill>
                  <a:srgbClr val="0F2C4F"/>
                </a:solidFill>
              </a:rPr>
              <a:t>Chloride</a:t>
            </a:r>
            <a:endParaRPr lang="en-US" sz="850" dirty="0"/>
          </a:p>
        </p:txBody>
      </p:sp>
      <p:sp>
        <p:nvSpPr>
          <p:cNvPr id="129" name="Text 127"/>
          <p:cNvSpPr/>
          <p:nvPr/>
        </p:nvSpPr>
        <p:spPr>
          <a:xfrm>
            <a:off x="4462272" y="4399494"/>
            <a:ext cx="1152144" cy="104774"/>
          </a:xfrm>
          <a:prstGeom prst="rect">
            <a:avLst/>
          </a:prstGeom>
          <a:noFill/>
          <a:ln/>
        </p:spPr>
        <p:txBody>
          <a:bodyPr wrap="square" rtlCol="0" anchor="ctr"/>
          <a:lstStyle/>
          <a:p>
            <a:pPr marL="0" indent="0">
              <a:buNone/>
            </a:pPr>
            <a:r>
              <a:rPr lang="en-US" sz="760" b="1" i="1" dirty="0">
                <a:solidFill>
                  <a:srgbClr val="000000"/>
                </a:solidFill>
              </a:rPr>
              <a:t>Serum chloride</a:t>
            </a:r>
            <a:endParaRPr lang="en-US" sz="650" dirty="0"/>
          </a:p>
        </p:txBody>
      </p:sp>
      <p:sp>
        <p:nvSpPr>
          <p:cNvPr id="130" name="Text 128"/>
          <p:cNvSpPr/>
          <p:nvPr/>
        </p:nvSpPr>
        <p:spPr>
          <a:xfrm>
            <a:off x="4462272" y="4517967"/>
            <a:ext cx="1152144" cy="118440"/>
          </a:xfrm>
          <a:prstGeom prst="rect">
            <a:avLst/>
          </a:prstGeom>
          <a:noFill/>
          <a:ln/>
        </p:spPr>
        <p:txBody>
          <a:bodyPr wrap="square" rtlCol="0" anchor="ctr"/>
          <a:lstStyle/>
          <a:p>
            <a:pPr marL="0" indent="0">
              <a:buNone/>
            </a:pPr>
            <a:r>
              <a:rPr lang="en-US" sz="850" b="1" dirty="0">
                <a:solidFill>
                  <a:srgbClr val="0F2C4F"/>
                </a:solidFill>
              </a:rPr>
              <a:t>Calcium</a:t>
            </a:r>
            <a:endParaRPr lang="en-US" sz="850" dirty="0"/>
          </a:p>
        </p:txBody>
      </p:sp>
      <p:sp>
        <p:nvSpPr>
          <p:cNvPr id="131" name="Text 129"/>
          <p:cNvSpPr/>
          <p:nvPr/>
        </p:nvSpPr>
        <p:spPr>
          <a:xfrm>
            <a:off x="4462272" y="4627263"/>
            <a:ext cx="1152144" cy="104774"/>
          </a:xfrm>
          <a:prstGeom prst="rect">
            <a:avLst/>
          </a:prstGeom>
          <a:noFill/>
          <a:ln/>
        </p:spPr>
        <p:txBody>
          <a:bodyPr wrap="square" rtlCol="0" anchor="ctr"/>
          <a:lstStyle/>
          <a:p>
            <a:pPr marL="0" indent="0">
              <a:buNone/>
            </a:pPr>
            <a:r>
              <a:rPr lang="en-US" sz="760" b="1" i="1" dirty="0">
                <a:solidFill>
                  <a:srgbClr val="000000"/>
                </a:solidFill>
              </a:rPr>
              <a:t>Serum calcium</a:t>
            </a:r>
            <a:endParaRPr lang="en-US" sz="650" dirty="0"/>
          </a:p>
        </p:txBody>
      </p:sp>
      <p:sp>
        <p:nvSpPr>
          <p:cNvPr id="132" name="Shape 130"/>
          <p:cNvSpPr/>
          <p:nvPr/>
        </p:nvSpPr>
        <p:spPr>
          <a:xfrm>
            <a:off x="5687568" y="2011680"/>
            <a:ext cx="1243584" cy="2779776"/>
          </a:xfrm>
          <a:prstGeom prst="rect">
            <a:avLst/>
          </a:prstGeom>
          <a:solidFill>
            <a:srgbClr val="F5F8FC"/>
          </a:solidFill>
          <a:ln w="6350">
            <a:solidFill>
              <a:srgbClr val="D9E2F3"/>
            </a:solidFill>
            <a:prstDash val="solid"/>
          </a:ln>
        </p:spPr>
      </p:sp>
      <p:sp>
        <p:nvSpPr>
          <p:cNvPr id="133" name="Shape 131"/>
          <p:cNvSpPr/>
          <p:nvPr/>
        </p:nvSpPr>
        <p:spPr>
          <a:xfrm>
            <a:off x="5687568" y="2011680"/>
            <a:ext cx="1243584" cy="219456"/>
          </a:xfrm>
          <a:prstGeom prst="rect">
            <a:avLst/>
          </a:prstGeom>
          <a:solidFill>
            <a:srgbClr val="B22222"/>
          </a:solidFill>
          <a:ln w="12700">
            <a:solidFill>
              <a:srgbClr val="B22222"/>
            </a:solidFill>
            <a:prstDash val="solid"/>
          </a:ln>
        </p:spPr>
      </p:sp>
      <p:sp>
        <p:nvSpPr>
          <p:cNvPr id="134" name="Text 132"/>
          <p:cNvSpPr/>
          <p:nvPr/>
        </p:nvSpPr>
        <p:spPr>
          <a:xfrm>
            <a:off x="5724144" y="2011680"/>
            <a:ext cx="1188720" cy="219456"/>
          </a:xfrm>
          <a:prstGeom prst="rect">
            <a:avLst/>
          </a:prstGeom>
          <a:noFill/>
          <a:ln/>
        </p:spPr>
        <p:txBody>
          <a:bodyPr wrap="square" rtlCol="0" anchor="ctr"/>
          <a:lstStyle/>
          <a:p>
            <a:pPr marL="0" indent="0" algn="ctr">
              <a:buNone/>
            </a:pPr>
            <a:r>
              <a:rPr lang="en-US" sz="700" b="1" kern="0" spc="20" dirty="0">
                <a:solidFill>
                  <a:srgbClr val="FFFFFF"/>
                </a:solidFill>
              </a:rPr>
              <a:t>HAEMATOLOGY / LIVER</a:t>
            </a:r>
            <a:endParaRPr lang="en-US" sz="700" dirty="0"/>
          </a:p>
        </p:txBody>
      </p:sp>
      <p:sp>
        <p:nvSpPr>
          <p:cNvPr id="135" name="Text 133"/>
          <p:cNvSpPr/>
          <p:nvPr/>
        </p:nvSpPr>
        <p:spPr>
          <a:xfrm>
            <a:off x="5742432" y="2240280"/>
            <a:ext cx="1152144" cy="118440"/>
          </a:xfrm>
          <a:prstGeom prst="rect">
            <a:avLst/>
          </a:prstGeom>
          <a:noFill/>
          <a:ln/>
        </p:spPr>
        <p:txBody>
          <a:bodyPr wrap="square" rtlCol="0" anchor="ctr"/>
          <a:lstStyle/>
          <a:p>
            <a:pPr marL="0" indent="0">
              <a:buNone/>
            </a:pPr>
            <a:r>
              <a:rPr lang="en-US" sz="850" b="1" dirty="0">
                <a:solidFill>
                  <a:srgbClr val="0F2C4F"/>
                </a:solidFill>
              </a:rPr>
              <a:t>HCT</a:t>
            </a:r>
            <a:endParaRPr lang="en-US" sz="850" dirty="0"/>
          </a:p>
        </p:txBody>
      </p:sp>
      <p:sp>
        <p:nvSpPr>
          <p:cNvPr id="136" name="Text 134"/>
          <p:cNvSpPr/>
          <p:nvPr/>
        </p:nvSpPr>
        <p:spPr>
          <a:xfrm>
            <a:off x="5742432" y="2349576"/>
            <a:ext cx="1152144" cy="104774"/>
          </a:xfrm>
          <a:prstGeom prst="rect">
            <a:avLst/>
          </a:prstGeom>
          <a:noFill/>
          <a:ln/>
        </p:spPr>
        <p:txBody>
          <a:bodyPr wrap="square" rtlCol="0" anchor="ctr"/>
          <a:lstStyle/>
          <a:p>
            <a:pPr marL="0" indent="0">
              <a:buNone/>
            </a:pPr>
            <a:r>
              <a:rPr lang="en-US" sz="760" b="1" i="1" dirty="0">
                <a:solidFill>
                  <a:srgbClr val="000000"/>
                </a:solidFill>
              </a:rPr>
              <a:t>Haematocrit</a:t>
            </a:r>
            <a:endParaRPr lang="en-US" sz="650" dirty="0"/>
          </a:p>
        </p:txBody>
      </p:sp>
      <p:sp>
        <p:nvSpPr>
          <p:cNvPr id="137" name="Shape 135"/>
          <p:cNvSpPr/>
          <p:nvPr/>
        </p:nvSpPr>
        <p:spPr>
          <a:xfrm>
            <a:off x="5705856" y="2458905"/>
            <a:ext cx="1207008" cy="227769"/>
          </a:xfrm>
          <a:prstGeom prst="rect">
            <a:avLst/>
          </a:prstGeom>
          <a:solidFill>
            <a:srgbClr val="FFFFFF"/>
          </a:solidFill>
          <a:ln w="12700">
            <a:solidFill>
              <a:srgbClr val="FFFFFF"/>
            </a:solidFill>
            <a:prstDash val="solid"/>
          </a:ln>
        </p:spPr>
      </p:sp>
      <p:sp>
        <p:nvSpPr>
          <p:cNvPr id="138" name="Text 136"/>
          <p:cNvSpPr/>
          <p:nvPr/>
        </p:nvSpPr>
        <p:spPr>
          <a:xfrm>
            <a:off x="5742432" y="2468049"/>
            <a:ext cx="1152144" cy="118440"/>
          </a:xfrm>
          <a:prstGeom prst="rect">
            <a:avLst/>
          </a:prstGeom>
          <a:noFill/>
          <a:ln/>
        </p:spPr>
        <p:txBody>
          <a:bodyPr wrap="square" rtlCol="0" anchor="ctr"/>
          <a:lstStyle/>
          <a:p>
            <a:pPr marL="0" indent="0">
              <a:buNone/>
            </a:pPr>
            <a:r>
              <a:rPr lang="en-US" sz="850" b="1" dirty="0">
                <a:solidFill>
                  <a:srgbClr val="0F2C4F"/>
                </a:solidFill>
              </a:rPr>
              <a:t>WBC</a:t>
            </a:r>
            <a:endParaRPr lang="en-US" sz="850" dirty="0"/>
          </a:p>
        </p:txBody>
      </p:sp>
      <p:sp>
        <p:nvSpPr>
          <p:cNvPr id="139" name="Text 137"/>
          <p:cNvSpPr/>
          <p:nvPr/>
        </p:nvSpPr>
        <p:spPr>
          <a:xfrm>
            <a:off x="5742432" y="2577344"/>
            <a:ext cx="1152144" cy="104774"/>
          </a:xfrm>
          <a:prstGeom prst="rect">
            <a:avLst/>
          </a:prstGeom>
          <a:noFill/>
          <a:ln/>
        </p:spPr>
        <p:txBody>
          <a:bodyPr wrap="square" rtlCol="0" anchor="ctr"/>
          <a:lstStyle/>
          <a:p>
            <a:pPr marL="0" indent="0">
              <a:buNone/>
            </a:pPr>
            <a:r>
              <a:rPr lang="en-US" sz="760" b="1" i="1" dirty="0">
                <a:solidFill>
                  <a:srgbClr val="000000"/>
                </a:solidFill>
              </a:rPr>
              <a:t>White blood cells</a:t>
            </a:r>
            <a:endParaRPr lang="en-US" sz="650" dirty="0"/>
          </a:p>
        </p:txBody>
      </p:sp>
      <p:sp>
        <p:nvSpPr>
          <p:cNvPr id="140" name="Text 138"/>
          <p:cNvSpPr/>
          <p:nvPr/>
        </p:nvSpPr>
        <p:spPr>
          <a:xfrm>
            <a:off x="5742432" y="2695817"/>
            <a:ext cx="1152144" cy="118440"/>
          </a:xfrm>
          <a:prstGeom prst="rect">
            <a:avLst/>
          </a:prstGeom>
          <a:noFill/>
          <a:ln/>
        </p:spPr>
        <p:txBody>
          <a:bodyPr wrap="square" rtlCol="0" anchor="ctr"/>
          <a:lstStyle/>
          <a:p>
            <a:pPr marL="0" indent="0">
              <a:buNone/>
            </a:pPr>
            <a:r>
              <a:rPr lang="en-US" sz="850" b="1" dirty="0">
                <a:solidFill>
                  <a:srgbClr val="0F2C4F"/>
                </a:solidFill>
              </a:rPr>
              <a:t>Platelets</a:t>
            </a:r>
            <a:endParaRPr lang="en-US" sz="850" dirty="0"/>
          </a:p>
        </p:txBody>
      </p:sp>
      <p:sp>
        <p:nvSpPr>
          <p:cNvPr id="141" name="Text 139"/>
          <p:cNvSpPr/>
          <p:nvPr/>
        </p:nvSpPr>
        <p:spPr>
          <a:xfrm>
            <a:off x="5742432" y="2805113"/>
            <a:ext cx="1152144" cy="104774"/>
          </a:xfrm>
          <a:prstGeom prst="rect">
            <a:avLst/>
          </a:prstGeom>
          <a:noFill/>
          <a:ln/>
        </p:spPr>
        <p:txBody>
          <a:bodyPr wrap="square" rtlCol="0" anchor="ctr"/>
          <a:lstStyle/>
          <a:p>
            <a:pPr marL="0" indent="0">
              <a:buNone/>
            </a:pPr>
            <a:r>
              <a:rPr lang="en-US" sz="760" b="1" i="1" dirty="0">
                <a:solidFill>
                  <a:srgbClr val="000000"/>
                </a:solidFill>
              </a:rPr>
              <a:t>Platelets</a:t>
            </a:r>
            <a:endParaRPr lang="en-US" sz="650" dirty="0"/>
          </a:p>
        </p:txBody>
      </p:sp>
      <p:sp>
        <p:nvSpPr>
          <p:cNvPr id="142" name="Shape 140"/>
          <p:cNvSpPr/>
          <p:nvPr/>
        </p:nvSpPr>
        <p:spPr>
          <a:xfrm>
            <a:off x="5705856" y="2914442"/>
            <a:ext cx="1207008" cy="227769"/>
          </a:xfrm>
          <a:prstGeom prst="rect">
            <a:avLst/>
          </a:prstGeom>
          <a:solidFill>
            <a:srgbClr val="FFFFFF"/>
          </a:solidFill>
          <a:ln w="12700">
            <a:solidFill>
              <a:srgbClr val="FFFFFF"/>
            </a:solidFill>
            <a:prstDash val="solid"/>
          </a:ln>
        </p:spPr>
      </p:sp>
      <p:sp>
        <p:nvSpPr>
          <p:cNvPr id="143" name="Text 141"/>
          <p:cNvSpPr/>
          <p:nvPr/>
        </p:nvSpPr>
        <p:spPr>
          <a:xfrm>
            <a:off x="5742432" y="2923586"/>
            <a:ext cx="1152144" cy="118440"/>
          </a:xfrm>
          <a:prstGeom prst="rect">
            <a:avLst/>
          </a:prstGeom>
          <a:noFill/>
          <a:ln/>
        </p:spPr>
        <p:txBody>
          <a:bodyPr wrap="square" rtlCol="0" anchor="ctr"/>
          <a:lstStyle/>
          <a:p>
            <a:pPr marL="0" indent="0">
              <a:buNone/>
            </a:pPr>
            <a:r>
              <a:rPr lang="en-US" sz="850" b="1" dirty="0">
                <a:solidFill>
                  <a:srgbClr val="0F2C4F"/>
                </a:solidFill>
              </a:rPr>
              <a:t>Albumin</a:t>
            </a:r>
            <a:endParaRPr lang="en-US" sz="850" dirty="0"/>
          </a:p>
        </p:txBody>
      </p:sp>
      <p:sp>
        <p:nvSpPr>
          <p:cNvPr id="144" name="Text 142"/>
          <p:cNvSpPr/>
          <p:nvPr/>
        </p:nvSpPr>
        <p:spPr>
          <a:xfrm>
            <a:off x="5742432" y="3032882"/>
            <a:ext cx="1152144" cy="104774"/>
          </a:xfrm>
          <a:prstGeom prst="rect">
            <a:avLst/>
          </a:prstGeom>
          <a:noFill/>
          <a:ln/>
        </p:spPr>
        <p:txBody>
          <a:bodyPr wrap="square" rtlCol="0" anchor="ctr"/>
          <a:lstStyle/>
          <a:p>
            <a:pPr marL="0" indent="0">
              <a:buNone/>
            </a:pPr>
            <a:r>
              <a:rPr lang="en-US" sz="760" b="1" i="1" dirty="0">
                <a:solidFill>
                  <a:srgbClr val="000000"/>
                </a:solidFill>
              </a:rPr>
              <a:t>Albumin</a:t>
            </a:r>
            <a:endParaRPr lang="en-US" sz="650" dirty="0"/>
          </a:p>
        </p:txBody>
      </p:sp>
      <p:sp>
        <p:nvSpPr>
          <p:cNvPr id="145" name="Text 143"/>
          <p:cNvSpPr/>
          <p:nvPr/>
        </p:nvSpPr>
        <p:spPr>
          <a:xfrm>
            <a:off x="5742432" y="3151355"/>
            <a:ext cx="1152144" cy="118440"/>
          </a:xfrm>
          <a:prstGeom prst="rect">
            <a:avLst/>
          </a:prstGeom>
          <a:noFill/>
          <a:ln/>
        </p:spPr>
        <p:txBody>
          <a:bodyPr wrap="square" rtlCol="0" anchor="ctr"/>
          <a:lstStyle/>
          <a:p>
            <a:pPr marL="0" indent="0">
              <a:buNone/>
            </a:pPr>
            <a:r>
              <a:rPr lang="en-US" sz="850" b="1" dirty="0">
                <a:solidFill>
                  <a:srgbClr val="0F2C4F"/>
                </a:solidFill>
              </a:rPr>
              <a:t>Bilirubin</a:t>
            </a:r>
            <a:endParaRPr lang="en-US" sz="850" dirty="0"/>
          </a:p>
        </p:txBody>
      </p:sp>
      <p:sp>
        <p:nvSpPr>
          <p:cNvPr id="146" name="Text 144"/>
          <p:cNvSpPr/>
          <p:nvPr/>
        </p:nvSpPr>
        <p:spPr>
          <a:xfrm>
            <a:off x="5742432" y="3260651"/>
            <a:ext cx="1152144" cy="104774"/>
          </a:xfrm>
          <a:prstGeom prst="rect">
            <a:avLst/>
          </a:prstGeom>
          <a:noFill/>
          <a:ln/>
        </p:spPr>
        <p:txBody>
          <a:bodyPr wrap="square" rtlCol="0" anchor="ctr"/>
          <a:lstStyle/>
          <a:p>
            <a:pPr marL="0" indent="0">
              <a:buNone/>
            </a:pPr>
            <a:r>
              <a:rPr lang="en-US" sz="760" b="1" i="1" dirty="0">
                <a:solidFill>
                  <a:srgbClr val="000000"/>
                </a:solidFill>
              </a:rPr>
              <a:t>Bilirubin</a:t>
            </a:r>
            <a:endParaRPr lang="en-US" sz="650" dirty="0"/>
          </a:p>
        </p:txBody>
      </p:sp>
      <p:sp>
        <p:nvSpPr>
          <p:cNvPr id="147" name="Shape 145"/>
          <p:cNvSpPr/>
          <p:nvPr/>
        </p:nvSpPr>
        <p:spPr>
          <a:xfrm>
            <a:off x="5705856" y="3369980"/>
            <a:ext cx="1207008" cy="227769"/>
          </a:xfrm>
          <a:prstGeom prst="rect">
            <a:avLst/>
          </a:prstGeom>
          <a:solidFill>
            <a:srgbClr val="FFFFFF"/>
          </a:solidFill>
          <a:ln w="12700">
            <a:solidFill>
              <a:srgbClr val="FFFFFF"/>
            </a:solidFill>
            <a:prstDash val="solid"/>
          </a:ln>
        </p:spPr>
      </p:sp>
      <p:sp>
        <p:nvSpPr>
          <p:cNvPr id="148" name="Text 146"/>
          <p:cNvSpPr/>
          <p:nvPr/>
        </p:nvSpPr>
        <p:spPr>
          <a:xfrm>
            <a:off x="5742432" y="3379124"/>
            <a:ext cx="1152144" cy="118440"/>
          </a:xfrm>
          <a:prstGeom prst="rect">
            <a:avLst/>
          </a:prstGeom>
          <a:noFill/>
          <a:ln/>
        </p:spPr>
        <p:txBody>
          <a:bodyPr wrap="square" rtlCol="0" anchor="ctr"/>
          <a:lstStyle/>
          <a:p>
            <a:pPr marL="0" indent="0">
              <a:buNone/>
            </a:pPr>
            <a:r>
              <a:rPr lang="en-US" sz="850" b="1" dirty="0">
                <a:solidFill>
                  <a:srgbClr val="0F2C4F"/>
                </a:solidFill>
              </a:rPr>
              <a:t>ALP</a:t>
            </a:r>
            <a:endParaRPr lang="en-US" sz="850" dirty="0"/>
          </a:p>
        </p:txBody>
      </p:sp>
      <p:sp>
        <p:nvSpPr>
          <p:cNvPr id="149" name="Text 147"/>
          <p:cNvSpPr/>
          <p:nvPr/>
        </p:nvSpPr>
        <p:spPr>
          <a:xfrm>
            <a:off x="5742432" y="3488419"/>
            <a:ext cx="1152144" cy="104774"/>
          </a:xfrm>
          <a:prstGeom prst="rect">
            <a:avLst/>
          </a:prstGeom>
          <a:noFill/>
          <a:ln/>
        </p:spPr>
        <p:txBody>
          <a:bodyPr wrap="square" rtlCol="0" anchor="ctr"/>
          <a:lstStyle/>
          <a:p>
            <a:pPr marL="0" indent="0">
              <a:buNone/>
            </a:pPr>
            <a:r>
              <a:rPr lang="en-US" sz="760" b="1" i="1" dirty="0">
                <a:solidFill>
                  <a:srgbClr val="000000"/>
                </a:solidFill>
              </a:rPr>
              <a:t>Alkaline phosphatase</a:t>
            </a:r>
            <a:endParaRPr lang="en-US" sz="650" dirty="0"/>
          </a:p>
        </p:txBody>
      </p:sp>
      <p:sp>
        <p:nvSpPr>
          <p:cNvPr id="150" name="Text 148"/>
          <p:cNvSpPr/>
          <p:nvPr/>
        </p:nvSpPr>
        <p:spPr>
          <a:xfrm>
            <a:off x="5742432" y="3606892"/>
            <a:ext cx="1152144" cy="118440"/>
          </a:xfrm>
          <a:prstGeom prst="rect">
            <a:avLst/>
          </a:prstGeom>
          <a:noFill/>
          <a:ln/>
        </p:spPr>
        <p:txBody>
          <a:bodyPr wrap="square" rtlCol="0" anchor="ctr"/>
          <a:lstStyle/>
          <a:p>
            <a:pPr marL="0" indent="0">
              <a:buNone/>
            </a:pPr>
            <a:r>
              <a:rPr lang="en-US" sz="850" b="1" dirty="0">
                <a:solidFill>
                  <a:srgbClr val="0F2C4F"/>
                </a:solidFill>
              </a:rPr>
              <a:t>ALT</a:t>
            </a:r>
            <a:endParaRPr lang="en-US" sz="850" dirty="0"/>
          </a:p>
        </p:txBody>
      </p:sp>
      <p:sp>
        <p:nvSpPr>
          <p:cNvPr id="151" name="Text 149"/>
          <p:cNvSpPr/>
          <p:nvPr/>
        </p:nvSpPr>
        <p:spPr>
          <a:xfrm>
            <a:off x="5742432" y="3716188"/>
            <a:ext cx="1152144" cy="104774"/>
          </a:xfrm>
          <a:prstGeom prst="rect">
            <a:avLst/>
          </a:prstGeom>
          <a:noFill/>
          <a:ln/>
        </p:spPr>
        <p:txBody>
          <a:bodyPr wrap="square" rtlCol="0" anchor="ctr"/>
          <a:lstStyle/>
          <a:p>
            <a:pPr marL="0" indent="0">
              <a:buNone/>
            </a:pPr>
            <a:r>
              <a:rPr lang="en-US" sz="760" b="1" i="1" dirty="0">
                <a:solidFill>
                  <a:srgbClr val="000000"/>
                </a:solidFill>
              </a:rPr>
              <a:t>Alanine transaminase</a:t>
            </a:r>
            <a:endParaRPr lang="en-US" sz="650" dirty="0"/>
          </a:p>
        </p:txBody>
      </p:sp>
      <p:sp>
        <p:nvSpPr>
          <p:cNvPr id="152" name="Shape 150"/>
          <p:cNvSpPr/>
          <p:nvPr/>
        </p:nvSpPr>
        <p:spPr>
          <a:xfrm>
            <a:off x="5705856" y="3825517"/>
            <a:ext cx="1207008" cy="227769"/>
          </a:xfrm>
          <a:prstGeom prst="rect">
            <a:avLst/>
          </a:prstGeom>
          <a:solidFill>
            <a:srgbClr val="FFFFFF"/>
          </a:solidFill>
          <a:ln w="12700">
            <a:solidFill>
              <a:srgbClr val="FFFFFF"/>
            </a:solidFill>
            <a:prstDash val="solid"/>
          </a:ln>
        </p:spPr>
      </p:sp>
      <p:sp>
        <p:nvSpPr>
          <p:cNvPr id="153" name="Text 151"/>
          <p:cNvSpPr/>
          <p:nvPr/>
        </p:nvSpPr>
        <p:spPr>
          <a:xfrm>
            <a:off x="5742432" y="3834661"/>
            <a:ext cx="1152144" cy="118440"/>
          </a:xfrm>
          <a:prstGeom prst="rect">
            <a:avLst/>
          </a:prstGeom>
          <a:noFill/>
          <a:ln/>
        </p:spPr>
        <p:txBody>
          <a:bodyPr wrap="square" rtlCol="0" anchor="ctr"/>
          <a:lstStyle/>
          <a:p>
            <a:pPr marL="0" indent="0">
              <a:buNone/>
            </a:pPr>
            <a:r>
              <a:rPr lang="en-US" sz="850" b="1" dirty="0">
                <a:solidFill>
                  <a:srgbClr val="0F2C4F"/>
                </a:solidFill>
              </a:rPr>
              <a:t>AST</a:t>
            </a:r>
            <a:endParaRPr lang="en-US" sz="850" dirty="0"/>
          </a:p>
        </p:txBody>
      </p:sp>
      <p:sp>
        <p:nvSpPr>
          <p:cNvPr id="154" name="Text 152"/>
          <p:cNvSpPr/>
          <p:nvPr/>
        </p:nvSpPr>
        <p:spPr>
          <a:xfrm>
            <a:off x="5742432" y="3943957"/>
            <a:ext cx="1152144" cy="104774"/>
          </a:xfrm>
          <a:prstGeom prst="rect">
            <a:avLst/>
          </a:prstGeom>
          <a:noFill/>
          <a:ln/>
        </p:spPr>
        <p:txBody>
          <a:bodyPr wrap="square" rtlCol="0" anchor="ctr"/>
          <a:lstStyle/>
          <a:p>
            <a:pPr marL="0" indent="0">
              <a:buNone/>
            </a:pPr>
            <a:r>
              <a:rPr lang="en-US" sz="760" b="1" i="1" dirty="0">
                <a:solidFill>
                  <a:srgbClr val="000000"/>
                </a:solidFill>
              </a:rPr>
              <a:t>Aspartate transaminase</a:t>
            </a:r>
            <a:endParaRPr lang="en-US" sz="650" dirty="0"/>
          </a:p>
        </p:txBody>
      </p:sp>
      <p:sp>
        <p:nvSpPr>
          <p:cNvPr id="155" name="Text 153"/>
          <p:cNvSpPr/>
          <p:nvPr/>
        </p:nvSpPr>
        <p:spPr>
          <a:xfrm>
            <a:off x="5742432" y="4062430"/>
            <a:ext cx="1152144" cy="118440"/>
          </a:xfrm>
          <a:prstGeom prst="rect">
            <a:avLst/>
          </a:prstGeom>
          <a:noFill/>
          <a:ln/>
        </p:spPr>
        <p:txBody>
          <a:bodyPr wrap="square" rtlCol="0" anchor="ctr"/>
          <a:lstStyle/>
          <a:p>
            <a:pPr marL="0" indent="0">
              <a:buNone/>
            </a:pPr>
            <a:r>
              <a:rPr lang="en-US" sz="850" b="1" dirty="0">
                <a:solidFill>
                  <a:srgbClr val="0F2C4F"/>
                </a:solidFill>
              </a:rPr>
              <a:t>TropI</a:t>
            </a:r>
            <a:endParaRPr lang="en-US" sz="850" dirty="0"/>
          </a:p>
        </p:txBody>
      </p:sp>
      <p:sp>
        <p:nvSpPr>
          <p:cNvPr id="156" name="Text 154"/>
          <p:cNvSpPr/>
          <p:nvPr/>
        </p:nvSpPr>
        <p:spPr>
          <a:xfrm>
            <a:off x="5742432" y="4171726"/>
            <a:ext cx="1152144" cy="104774"/>
          </a:xfrm>
          <a:prstGeom prst="rect">
            <a:avLst/>
          </a:prstGeom>
          <a:noFill/>
          <a:ln/>
        </p:spPr>
        <p:txBody>
          <a:bodyPr wrap="square" rtlCol="0" anchor="ctr"/>
          <a:lstStyle/>
          <a:p>
            <a:pPr marL="0" indent="0">
              <a:buNone/>
            </a:pPr>
            <a:r>
              <a:rPr lang="en-US" sz="760" b="1" i="1" dirty="0">
                <a:solidFill>
                  <a:srgbClr val="000000"/>
                </a:solidFill>
              </a:rPr>
              <a:t>Troponin-I</a:t>
            </a:r>
            <a:endParaRPr lang="en-US" sz="650" dirty="0"/>
          </a:p>
        </p:txBody>
      </p:sp>
      <p:sp>
        <p:nvSpPr>
          <p:cNvPr id="157" name="Shape 155"/>
          <p:cNvSpPr/>
          <p:nvPr/>
        </p:nvSpPr>
        <p:spPr>
          <a:xfrm>
            <a:off x="5705856" y="4281055"/>
            <a:ext cx="1207008" cy="227769"/>
          </a:xfrm>
          <a:prstGeom prst="rect">
            <a:avLst/>
          </a:prstGeom>
          <a:solidFill>
            <a:srgbClr val="FFFFFF"/>
          </a:solidFill>
          <a:ln w="12700">
            <a:solidFill>
              <a:srgbClr val="FFFFFF"/>
            </a:solidFill>
            <a:prstDash val="solid"/>
          </a:ln>
        </p:spPr>
      </p:sp>
      <p:sp>
        <p:nvSpPr>
          <p:cNvPr id="158" name="Text 156"/>
          <p:cNvSpPr/>
          <p:nvPr/>
        </p:nvSpPr>
        <p:spPr>
          <a:xfrm>
            <a:off x="5742432" y="4290199"/>
            <a:ext cx="1152144" cy="118440"/>
          </a:xfrm>
          <a:prstGeom prst="rect">
            <a:avLst/>
          </a:prstGeom>
          <a:noFill/>
          <a:ln/>
        </p:spPr>
        <p:txBody>
          <a:bodyPr wrap="square" rtlCol="0" anchor="ctr"/>
          <a:lstStyle/>
          <a:p>
            <a:pPr marL="0" indent="0">
              <a:buNone/>
            </a:pPr>
            <a:r>
              <a:rPr lang="en-US" sz="850" b="1" dirty="0">
                <a:solidFill>
                  <a:srgbClr val="0F2C4F"/>
                </a:solidFill>
              </a:rPr>
              <a:t>TropT</a:t>
            </a:r>
            <a:endParaRPr lang="en-US" sz="850" dirty="0"/>
          </a:p>
        </p:txBody>
      </p:sp>
      <p:sp>
        <p:nvSpPr>
          <p:cNvPr id="159" name="Text 157"/>
          <p:cNvSpPr/>
          <p:nvPr/>
        </p:nvSpPr>
        <p:spPr>
          <a:xfrm>
            <a:off x="5742432" y="4399494"/>
            <a:ext cx="1152144" cy="104774"/>
          </a:xfrm>
          <a:prstGeom prst="rect">
            <a:avLst/>
          </a:prstGeom>
          <a:noFill/>
          <a:ln/>
        </p:spPr>
        <p:txBody>
          <a:bodyPr wrap="square" rtlCol="0" anchor="ctr"/>
          <a:lstStyle/>
          <a:p>
            <a:pPr marL="0" indent="0">
              <a:buNone/>
            </a:pPr>
            <a:r>
              <a:rPr lang="en-US" sz="760" b="1" i="1" dirty="0">
                <a:solidFill>
                  <a:srgbClr val="000000"/>
                </a:solidFill>
              </a:rPr>
              <a:t>Troponin-T</a:t>
            </a:r>
            <a:endParaRPr lang="en-US" sz="650" dirty="0"/>
          </a:p>
        </p:txBody>
      </p:sp>
      <p:sp>
        <p:nvSpPr>
          <p:cNvPr id="160" name="Text 158"/>
          <p:cNvSpPr/>
          <p:nvPr/>
        </p:nvSpPr>
        <p:spPr>
          <a:xfrm>
            <a:off x="5742432" y="4517967"/>
            <a:ext cx="1152144" cy="118440"/>
          </a:xfrm>
          <a:prstGeom prst="rect">
            <a:avLst/>
          </a:prstGeom>
          <a:noFill/>
          <a:ln/>
        </p:spPr>
        <p:txBody>
          <a:bodyPr wrap="square" rtlCol="0" anchor="ctr"/>
          <a:lstStyle/>
          <a:p>
            <a:pPr marL="0" indent="0">
              <a:buNone/>
            </a:pPr>
            <a:r>
              <a:rPr lang="en-US" sz="850" b="1" dirty="0">
                <a:solidFill>
                  <a:srgbClr val="0F2C4F"/>
                </a:solidFill>
              </a:rPr>
              <a:t>Weight</a:t>
            </a:r>
            <a:endParaRPr lang="en-US" sz="850" dirty="0"/>
          </a:p>
        </p:txBody>
      </p:sp>
      <p:sp>
        <p:nvSpPr>
          <p:cNvPr id="161" name="Text 159"/>
          <p:cNvSpPr/>
          <p:nvPr/>
        </p:nvSpPr>
        <p:spPr>
          <a:xfrm>
            <a:off x="5742432" y="4627263"/>
            <a:ext cx="1152144" cy="104774"/>
          </a:xfrm>
          <a:prstGeom prst="rect">
            <a:avLst/>
          </a:prstGeom>
          <a:noFill/>
          <a:ln/>
        </p:spPr>
        <p:txBody>
          <a:bodyPr wrap="square" rtlCol="0" anchor="ctr"/>
          <a:lstStyle/>
          <a:p>
            <a:pPr marL="0" indent="0">
              <a:buNone/>
            </a:pPr>
            <a:r>
              <a:rPr lang="en-US" sz="760" b="1" i="1" dirty="0">
                <a:solidFill>
                  <a:srgbClr val="000000"/>
                </a:solidFill>
              </a:rPr>
              <a:t>Weight (time-series)</a:t>
            </a:r>
            <a:endParaRPr lang="en-US" sz="650" dirty="0"/>
          </a:p>
        </p:txBody>
      </p:sp>
      <p:sp>
        <p:nvSpPr>
          <p:cNvPr id="162" name="Shape 160"/>
          <p:cNvSpPr/>
          <p:nvPr/>
        </p:nvSpPr>
        <p:spPr>
          <a:xfrm>
            <a:off x="7022592" y="2011680"/>
            <a:ext cx="1755648" cy="2779776"/>
          </a:xfrm>
          <a:prstGeom prst="rect">
            <a:avLst/>
          </a:prstGeom>
          <a:solidFill>
            <a:srgbClr val="F5F8FC"/>
          </a:solidFill>
          <a:ln w="6350">
            <a:solidFill>
              <a:srgbClr val="D9E2F3"/>
            </a:solidFill>
            <a:prstDash val="solid"/>
          </a:ln>
        </p:spPr>
      </p:sp>
      <p:sp>
        <p:nvSpPr>
          <p:cNvPr id="163" name="Shape 161"/>
          <p:cNvSpPr/>
          <p:nvPr/>
        </p:nvSpPr>
        <p:spPr>
          <a:xfrm>
            <a:off x="7059168" y="2121408"/>
            <a:ext cx="45720" cy="201168"/>
          </a:xfrm>
          <a:prstGeom prst="rect">
            <a:avLst/>
          </a:prstGeom>
          <a:solidFill>
            <a:srgbClr val="1F4E79"/>
          </a:solidFill>
          <a:ln w="12700">
            <a:solidFill>
              <a:srgbClr val="1F4E79"/>
            </a:solidFill>
            <a:prstDash val="solid"/>
          </a:ln>
        </p:spPr>
      </p:sp>
      <p:sp>
        <p:nvSpPr>
          <p:cNvPr id="164" name="Text 162"/>
          <p:cNvSpPr/>
          <p:nvPr/>
        </p:nvSpPr>
        <p:spPr>
          <a:xfrm>
            <a:off x="7150608" y="2048256"/>
            <a:ext cx="1572768" cy="219456"/>
          </a:xfrm>
          <a:prstGeom prst="rect">
            <a:avLst/>
          </a:prstGeom>
          <a:noFill/>
          <a:ln/>
        </p:spPr>
        <p:txBody>
          <a:bodyPr wrap="square" rtlCol="0" anchor="b"/>
          <a:lstStyle/>
          <a:p>
            <a:pPr marL="0" indent="0">
              <a:buNone/>
            </a:pPr>
            <a:r>
              <a:rPr lang="en-US" sz="950" b="1" dirty="0">
                <a:solidFill>
                  <a:srgbClr val="0F2C4F"/>
                </a:solidFill>
              </a:rPr>
              <a:t>RecordID</a:t>
            </a:r>
            <a:endParaRPr lang="en-US" sz="950" dirty="0"/>
          </a:p>
        </p:txBody>
      </p:sp>
      <p:sp>
        <p:nvSpPr>
          <p:cNvPr id="165" name="Text 163"/>
          <p:cNvSpPr/>
          <p:nvPr/>
        </p:nvSpPr>
        <p:spPr>
          <a:xfrm>
            <a:off x="7150608" y="2267712"/>
            <a:ext cx="1572768" cy="201168"/>
          </a:xfrm>
          <a:prstGeom prst="rect">
            <a:avLst/>
          </a:prstGeom>
          <a:noFill/>
          <a:ln/>
        </p:spPr>
        <p:txBody>
          <a:bodyPr wrap="square" rtlCol="0" anchor="t"/>
          <a:lstStyle/>
          <a:p>
            <a:pPr marL="0" indent="0">
              <a:lnSpc>
                <a:spcPct val="110000"/>
              </a:lnSpc>
              <a:buNone/>
            </a:pPr>
            <a:r>
              <a:rPr lang="en-US" sz="750" b="1" i="1" dirty="0">
                <a:solidFill>
                  <a:srgbClr val="000000"/>
                </a:solidFill>
              </a:rPr>
              <a:t>Patient identifier</a:t>
            </a:r>
            <a:endParaRPr lang="en-US" sz="750" dirty="0"/>
          </a:p>
        </p:txBody>
      </p:sp>
      <p:sp>
        <p:nvSpPr>
          <p:cNvPr id="166" name="Shape 164"/>
          <p:cNvSpPr/>
          <p:nvPr/>
        </p:nvSpPr>
        <p:spPr>
          <a:xfrm>
            <a:off x="7059168" y="2560320"/>
            <a:ext cx="45720" cy="201168"/>
          </a:xfrm>
          <a:prstGeom prst="rect">
            <a:avLst/>
          </a:prstGeom>
          <a:solidFill>
            <a:srgbClr val="1F4E79"/>
          </a:solidFill>
          <a:ln w="12700">
            <a:solidFill>
              <a:srgbClr val="1F4E79"/>
            </a:solidFill>
            <a:prstDash val="solid"/>
          </a:ln>
        </p:spPr>
      </p:sp>
      <p:sp>
        <p:nvSpPr>
          <p:cNvPr id="167" name="Text 165"/>
          <p:cNvSpPr/>
          <p:nvPr/>
        </p:nvSpPr>
        <p:spPr>
          <a:xfrm>
            <a:off x="7150608" y="2487168"/>
            <a:ext cx="1572768" cy="219456"/>
          </a:xfrm>
          <a:prstGeom prst="rect">
            <a:avLst/>
          </a:prstGeom>
          <a:noFill/>
          <a:ln/>
        </p:spPr>
        <p:txBody>
          <a:bodyPr wrap="square" rtlCol="0" anchor="b"/>
          <a:lstStyle/>
          <a:p>
            <a:pPr marL="0" indent="0">
              <a:buNone/>
            </a:pPr>
            <a:r>
              <a:rPr lang="en-US" sz="950" b="1" dirty="0">
                <a:solidFill>
                  <a:srgbClr val="0F2C4F"/>
                </a:solidFill>
              </a:rPr>
              <a:t>SAPS-I</a:t>
            </a:r>
            <a:endParaRPr lang="en-US" sz="950" dirty="0"/>
          </a:p>
        </p:txBody>
      </p:sp>
      <p:sp>
        <p:nvSpPr>
          <p:cNvPr id="168" name="Text 166"/>
          <p:cNvSpPr/>
          <p:nvPr/>
        </p:nvSpPr>
        <p:spPr>
          <a:xfrm>
            <a:off x="7150608" y="2706624"/>
            <a:ext cx="1572768" cy="201168"/>
          </a:xfrm>
          <a:prstGeom prst="rect">
            <a:avLst/>
          </a:prstGeom>
          <a:noFill/>
          <a:ln/>
        </p:spPr>
        <p:txBody>
          <a:bodyPr wrap="square" rtlCol="0" anchor="t"/>
          <a:lstStyle/>
          <a:p>
            <a:pPr marL="0" indent="0">
              <a:lnSpc>
                <a:spcPct val="110000"/>
              </a:lnSpc>
              <a:buNone/>
            </a:pPr>
            <a:r>
              <a:rPr lang="en-US" sz="750" b="1" i="1" dirty="0">
                <a:solidFill>
                  <a:srgbClr val="000000"/>
                </a:solidFill>
              </a:rPr>
              <a:t>Severity score</a:t>
            </a:r>
            <a:endParaRPr lang="en-US" sz="750" dirty="0"/>
          </a:p>
        </p:txBody>
      </p:sp>
      <p:sp>
        <p:nvSpPr>
          <p:cNvPr id="169" name="Shape 167"/>
          <p:cNvSpPr/>
          <p:nvPr/>
        </p:nvSpPr>
        <p:spPr>
          <a:xfrm>
            <a:off x="7059168" y="2999232"/>
            <a:ext cx="45720" cy="201168"/>
          </a:xfrm>
          <a:prstGeom prst="rect">
            <a:avLst/>
          </a:prstGeom>
          <a:solidFill>
            <a:srgbClr val="1F4E79"/>
          </a:solidFill>
          <a:ln w="12700">
            <a:solidFill>
              <a:srgbClr val="1F4E79"/>
            </a:solidFill>
            <a:prstDash val="solid"/>
          </a:ln>
        </p:spPr>
      </p:sp>
      <p:sp>
        <p:nvSpPr>
          <p:cNvPr id="170" name="Text 168"/>
          <p:cNvSpPr/>
          <p:nvPr/>
        </p:nvSpPr>
        <p:spPr>
          <a:xfrm>
            <a:off x="7150608" y="2926080"/>
            <a:ext cx="1572768" cy="219456"/>
          </a:xfrm>
          <a:prstGeom prst="rect">
            <a:avLst/>
          </a:prstGeom>
          <a:noFill/>
          <a:ln/>
        </p:spPr>
        <p:txBody>
          <a:bodyPr wrap="square" rtlCol="0" anchor="b"/>
          <a:lstStyle/>
          <a:p>
            <a:pPr marL="0" indent="0">
              <a:buNone/>
            </a:pPr>
            <a:r>
              <a:rPr lang="en-US" sz="950" b="1" dirty="0">
                <a:solidFill>
                  <a:srgbClr val="0F2C4F"/>
                </a:solidFill>
              </a:rPr>
              <a:t>SOFA</a:t>
            </a:r>
            <a:endParaRPr lang="en-US" sz="950" dirty="0"/>
          </a:p>
        </p:txBody>
      </p:sp>
      <p:sp>
        <p:nvSpPr>
          <p:cNvPr id="171" name="Text 169"/>
          <p:cNvSpPr/>
          <p:nvPr/>
        </p:nvSpPr>
        <p:spPr>
          <a:xfrm>
            <a:off x="7150608" y="3145536"/>
            <a:ext cx="1572768" cy="201168"/>
          </a:xfrm>
          <a:prstGeom prst="rect">
            <a:avLst/>
          </a:prstGeom>
          <a:noFill/>
          <a:ln/>
        </p:spPr>
        <p:txBody>
          <a:bodyPr wrap="square" rtlCol="0" anchor="t"/>
          <a:lstStyle/>
          <a:p>
            <a:pPr marL="0" indent="0">
              <a:lnSpc>
                <a:spcPct val="110000"/>
              </a:lnSpc>
              <a:buNone/>
            </a:pPr>
            <a:r>
              <a:rPr lang="en-US" sz="750" b="1" i="1" dirty="0">
                <a:solidFill>
                  <a:srgbClr val="000000"/>
                </a:solidFill>
              </a:rPr>
              <a:t>Organ failure score</a:t>
            </a:r>
            <a:endParaRPr lang="en-US" sz="750" dirty="0"/>
          </a:p>
        </p:txBody>
      </p:sp>
      <p:sp>
        <p:nvSpPr>
          <p:cNvPr id="172" name="Shape 170"/>
          <p:cNvSpPr/>
          <p:nvPr/>
        </p:nvSpPr>
        <p:spPr>
          <a:xfrm>
            <a:off x="7059168" y="3438144"/>
            <a:ext cx="45720" cy="201168"/>
          </a:xfrm>
          <a:prstGeom prst="rect">
            <a:avLst/>
          </a:prstGeom>
          <a:solidFill>
            <a:srgbClr val="1F4E79"/>
          </a:solidFill>
          <a:ln w="12700">
            <a:solidFill>
              <a:srgbClr val="1F4E79"/>
            </a:solidFill>
            <a:prstDash val="solid"/>
          </a:ln>
        </p:spPr>
      </p:sp>
      <p:sp>
        <p:nvSpPr>
          <p:cNvPr id="173" name="Text 171"/>
          <p:cNvSpPr/>
          <p:nvPr/>
        </p:nvSpPr>
        <p:spPr>
          <a:xfrm>
            <a:off x="7150608" y="3364992"/>
            <a:ext cx="1572768" cy="219456"/>
          </a:xfrm>
          <a:prstGeom prst="rect">
            <a:avLst/>
          </a:prstGeom>
          <a:noFill/>
          <a:ln/>
        </p:spPr>
        <p:txBody>
          <a:bodyPr wrap="square" rtlCol="0" anchor="b"/>
          <a:lstStyle/>
          <a:p>
            <a:pPr marL="0" indent="0">
              <a:buNone/>
            </a:pPr>
            <a:r>
              <a:rPr lang="en-US" sz="950" b="1" dirty="0">
                <a:solidFill>
                  <a:srgbClr val="0F2C4F"/>
                </a:solidFill>
              </a:rPr>
              <a:t>Length of stay</a:t>
            </a:r>
            <a:endParaRPr lang="en-US" sz="950" dirty="0"/>
          </a:p>
        </p:txBody>
      </p:sp>
      <p:sp>
        <p:nvSpPr>
          <p:cNvPr id="174" name="Text 172"/>
          <p:cNvSpPr/>
          <p:nvPr/>
        </p:nvSpPr>
        <p:spPr>
          <a:xfrm>
            <a:off x="7150608" y="3584448"/>
            <a:ext cx="1572768" cy="201168"/>
          </a:xfrm>
          <a:prstGeom prst="rect">
            <a:avLst/>
          </a:prstGeom>
          <a:noFill/>
          <a:ln/>
        </p:spPr>
        <p:txBody>
          <a:bodyPr wrap="square" rtlCol="0" anchor="t"/>
          <a:lstStyle/>
          <a:p>
            <a:pPr marL="0" indent="0">
              <a:lnSpc>
                <a:spcPct val="110000"/>
              </a:lnSpc>
              <a:buNone/>
            </a:pPr>
            <a:r>
              <a:rPr lang="en-US" sz="750" b="1" i="1" dirty="0">
                <a:solidFill>
                  <a:srgbClr val="000000"/>
                </a:solidFill>
              </a:rPr>
              <a:t>Days in hospital</a:t>
            </a:r>
            <a:endParaRPr lang="en-US" sz="750" dirty="0"/>
          </a:p>
        </p:txBody>
      </p:sp>
      <p:sp>
        <p:nvSpPr>
          <p:cNvPr id="175" name="Shape 173"/>
          <p:cNvSpPr/>
          <p:nvPr/>
        </p:nvSpPr>
        <p:spPr>
          <a:xfrm>
            <a:off x="7059168" y="3877056"/>
            <a:ext cx="45720" cy="201168"/>
          </a:xfrm>
          <a:prstGeom prst="rect">
            <a:avLst/>
          </a:prstGeom>
          <a:solidFill>
            <a:srgbClr val="1F4E79"/>
          </a:solidFill>
          <a:ln w="12700">
            <a:solidFill>
              <a:srgbClr val="1F4E79"/>
            </a:solidFill>
            <a:prstDash val="solid"/>
          </a:ln>
        </p:spPr>
      </p:sp>
      <p:sp>
        <p:nvSpPr>
          <p:cNvPr id="176" name="Text 174"/>
          <p:cNvSpPr/>
          <p:nvPr/>
        </p:nvSpPr>
        <p:spPr>
          <a:xfrm>
            <a:off x="7150608" y="3803904"/>
            <a:ext cx="1572768" cy="219456"/>
          </a:xfrm>
          <a:prstGeom prst="rect">
            <a:avLst/>
          </a:prstGeom>
          <a:noFill/>
          <a:ln/>
        </p:spPr>
        <p:txBody>
          <a:bodyPr wrap="square" rtlCol="0" anchor="b"/>
          <a:lstStyle/>
          <a:p>
            <a:pPr marL="0" indent="0">
              <a:buNone/>
            </a:pPr>
            <a:r>
              <a:rPr lang="en-US" sz="950" b="1" dirty="0">
                <a:solidFill>
                  <a:srgbClr val="0F2C4F"/>
                </a:solidFill>
              </a:rPr>
              <a:t>Survival</a:t>
            </a:r>
            <a:endParaRPr lang="en-US" sz="950" dirty="0"/>
          </a:p>
        </p:txBody>
      </p:sp>
      <p:sp>
        <p:nvSpPr>
          <p:cNvPr id="177" name="Text 175"/>
          <p:cNvSpPr/>
          <p:nvPr/>
        </p:nvSpPr>
        <p:spPr>
          <a:xfrm>
            <a:off x="7150608" y="4023360"/>
            <a:ext cx="1572768" cy="201168"/>
          </a:xfrm>
          <a:prstGeom prst="rect">
            <a:avLst/>
          </a:prstGeom>
          <a:noFill/>
          <a:ln/>
        </p:spPr>
        <p:txBody>
          <a:bodyPr wrap="square" rtlCol="0" anchor="t"/>
          <a:lstStyle/>
          <a:p>
            <a:pPr marL="0" indent="0">
              <a:lnSpc>
                <a:spcPct val="110000"/>
              </a:lnSpc>
              <a:buNone/>
            </a:pPr>
            <a:r>
              <a:rPr lang="en-US" sz="750" b="1" i="1" dirty="0">
                <a:solidFill>
                  <a:srgbClr val="000000"/>
                </a:solidFill>
              </a:rPr>
              <a:t>Days alive</a:t>
            </a:r>
            <a:endParaRPr lang="en-US" sz="750" dirty="0"/>
          </a:p>
        </p:txBody>
      </p:sp>
      <p:sp>
        <p:nvSpPr>
          <p:cNvPr id="178" name="Shape 176"/>
          <p:cNvSpPr/>
          <p:nvPr/>
        </p:nvSpPr>
        <p:spPr>
          <a:xfrm>
            <a:off x="7040880" y="4242816"/>
            <a:ext cx="1719072" cy="420624"/>
          </a:xfrm>
          <a:prstGeom prst="rect">
            <a:avLst/>
          </a:prstGeom>
          <a:solidFill>
            <a:srgbClr val="EAF3DE"/>
          </a:solidFill>
          <a:ln w="6350">
            <a:solidFill>
              <a:srgbClr val="1B7A3F"/>
            </a:solidFill>
            <a:prstDash val="solid"/>
          </a:ln>
        </p:spPr>
      </p:sp>
      <p:sp>
        <p:nvSpPr>
          <p:cNvPr id="179" name="Shape 177"/>
          <p:cNvSpPr/>
          <p:nvPr/>
        </p:nvSpPr>
        <p:spPr>
          <a:xfrm>
            <a:off x="7059168" y="4315968"/>
            <a:ext cx="45720" cy="201168"/>
          </a:xfrm>
          <a:prstGeom prst="rect">
            <a:avLst/>
          </a:prstGeom>
          <a:solidFill>
            <a:srgbClr val="1B7A3F"/>
          </a:solidFill>
          <a:ln w="12700">
            <a:solidFill>
              <a:srgbClr val="1B7A3F"/>
            </a:solidFill>
            <a:prstDash val="solid"/>
          </a:ln>
        </p:spPr>
      </p:sp>
      <p:sp>
        <p:nvSpPr>
          <p:cNvPr id="180" name="Text 178"/>
          <p:cNvSpPr/>
          <p:nvPr/>
        </p:nvSpPr>
        <p:spPr>
          <a:xfrm>
            <a:off x="7150608" y="4242816"/>
            <a:ext cx="1572768" cy="219456"/>
          </a:xfrm>
          <a:prstGeom prst="rect">
            <a:avLst/>
          </a:prstGeom>
          <a:noFill/>
          <a:ln/>
        </p:spPr>
        <p:txBody>
          <a:bodyPr wrap="square" rtlCol="0" anchor="b"/>
          <a:lstStyle/>
          <a:p>
            <a:pPr marL="0" indent="0">
              <a:buNone/>
            </a:pPr>
            <a:r>
              <a:rPr lang="en-US" sz="900" b="1" dirty="0">
                <a:solidFill>
                  <a:srgbClr val="1B7A3F"/>
                </a:solidFill>
              </a:rPr>
              <a:t>★ In-hospital death</a:t>
            </a:r>
            <a:endParaRPr lang="en-US" sz="900" dirty="0"/>
          </a:p>
        </p:txBody>
      </p:sp>
      <p:sp>
        <p:nvSpPr>
          <p:cNvPr id="181" name="Text 179"/>
          <p:cNvSpPr/>
          <p:nvPr/>
        </p:nvSpPr>
        <p:spPr>
          <a:xfrm>
            <a:off x="7150608" y="4462272"/>
            <a:ext cx="1572768" cy="201168"/>
          </a:xfrm>
          <a:prstGeom prst="rect">
            <a:avLst/>
          </a:prstGeom>
          <a:noFill/>
          <a:ln/>
        </p:spPr>
        <p:txBody>
          <a:bodyPr wrap="square" rtlCol="0" anchor="t"/>
          <a:lstStyle/>
          <a:p>
            <a:pPr marL="0" indent="0">
              <a:lnSpc>
                <a:spcPct val="110000"/>
              </a:lnSpc>
              <a:buNone/>
            </a:pPr>
            <a:r>
              <a:rPr lang="en-US" sz="750" i="1" dirty="0">
                <a:solidFill>
                  <a:srgbClr val="1B7A3F"/>
                </a:solidFill>
              </a:rPr>
              <a:t>TARGET  0=survived</a:t>
            </a:r>
            <a:endParaRPr lang="en-US" sz="750" dirty="0"/>
          </a:p>
          <a:p>
            <a:pPr marL="0" indent="0">
              <a:lnSpc>
                <a:spcPct val="110000"/>
              </a:lnSpc>
              <a:buNone/>
            </a:pPr>
            <a:r>
              <a:rPr lang="en-US" sz="750" i="1" dirty="0">
                <a:solidFill>
                  <a:srgbClr val="1B7A3F"/>
                </a:solidFill>
              </a:rPr>
              <a:t>1=died</a:t>
            </a:r>
            <a:endParaRPr lang="en-US" sz="750" dirty="0"/>
          </a:p>
        </p:txBody>
      </p:sp>
      <p:sp>
        <p:nvSpPr>
          <p:cNvPr id="182" name="Shape 180"/>
          <p:cNvSpPr/>
          <p:nvPr/>
        </p:nvSpPr>
        <p:spPr>
          <a:xfrm>
            <a:off x="384048" y="4892040"/>
            <a:ext cx="8394192" cy="182880"/>
          </a:xfrm>
          <a:prstGeom prst="rect">
            <a:avLst/>
          </a:prstGeom>
          <a:solidFill>
            <a:srgbClr val="F5F8FC"/>
          </a:solidFill>
          <a:ln w="6350">
            <a:solidFill>
              <a:srgbClr val="D9E2F3"/>
            </a:solidFill>
            <a:prstDash val="solid"/>
          </a:ln>
        </p:spPr>
      </p:sp>
      <p:sp>
        <p:nvSpPr>
          <p:cNvPr id="183" name="Text 181"/>
          <p:cNvSpPr/>
          <p:nvPr/>
        </p:nvSpPr>
        <p:spPr>
          <a:xfrm>
            <a:off x="457200" y="4892040"/>
            <a:ext cx="8229600" cy="182880"/>
          </a:xfrm>
          <a:prstGeom prst="rect">
            <a:avLst/>
          </a:prstGeom>
          <a:noFill/>
          <a:ln/>
        </p:spPr>
        <p:txBody>
          <a:bodyPr wrap="square" rtlCol="0" anchor="ctr"/>
          <a:lstStyle/>
          <a:p>
            <a:pPr marL="0" indent="0" algn="ctr">
              <a:buNone/>
            </a:pPr>
            <a:r>
              <a:rPr lang="en-US" sz="1200" b="1" i="1" dirty="0"/>
              <a:t>Training / Validation / Test = 2,800 / 600 / 600</a:t>
            </a:r>
            <a:endParaRPr lang="en-US" sz="1200" b="1" dirty="0"/>
          </a:p>
        </p:txBody>
      </p:sp>
      <p:sp>
        <p:nvSpPr>
          <p:cNvPr id="184" name="Freeform 11">
            <a:extLst>
              <a:ext uri="{FF2B5EF4-FFF2-40B4-BE49-F238E27FC236}">
                <a16:creationId xmlns:a16="http://schemas.microsoft.com/office/drawing/2014/main" id="{0DA8CC64-0518-098C-5107-9D81777A6F0E}"/>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06</a:t>
            </a:r>
            <a:endParaRPr lang="en-US" sz="1100" dirty="0"/>
          </a:p>
        </p:txBody>
      </p:sp>
      <p:sp>
        <p:nvSpPr>
          <p:cNvPr id="6" name="Text 4"/>
          <p:cNvSpPr/>
          <p:nvPr/>
        </p:nvSpPr>
        <p:spPr>
          <a:xfrm>
            <a:off x="8275320" y="566928"/>
            <a:ext cx="658368" cy="201168"/>
          </a:xfrm>
          <a:prstGeom prst="rect">
            <a:avLst/>
          </a:prstGeom>
          <a:noFill/>
          <a:ln/>
        </p:spPr>
        <p:txBody>
          <a:bodyPr wrap="square" rtlCol="0" anchor="ctr"/>
          <a:lstStyle/>
          <a:p>
            <a:pPr marL="0" indent="0" algn="ctr">
              <a:buNone/>
            </a:pPr>
            <a:r>
              <a:rPr lang="en-US" sz="600" b="1" kern="0" spc="100" dirty="0">
                <a:solidFill>
                  <a:srgbClr val="FFFFFF"/>
                </a:solidFill>
              </a:rPr>
              <a:t>TOMSK · 1878</a:t>
            </a:r>
            <a:endParaRPr lang="en-US" sz="6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Dataset Composition  —  Real Cohort</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pic>
        <p:nvPicPr>
          <p:cNvPr id="9" name="Image 0" descr="real_figs/class_imbalance.png"/>
          <p:cNvPicPr>
            <a:picLocks noChangeAspect="1"/>
          </p:cNvPicPr>
          <p:nvPr/>
        </p:nvPicPr>
        <p:blipFill>
          <a:blip r:embed="rId3"/>
          <a:stretch>
            <a:fillRect/>
          </a:stretch>
        </p:blipFill>
        <p:spPr>
          <a:xfrm>
            <a:off x="502920" y="960120"/>
            <a:ext cx="4937760" cy="3291840"/>
          </a:xfrm>
          <a:prstGeom prst="rect">
            <a:avLst/>
          </a:prstGeom>
        </p:spPr>
      </p:pic>
      <p:sp>
        <p:nvSpPr>
          <p:cNvPr id="10" name="Text 7"/>
          <p:cNvSpPr/>
          <p:nvPr/>
        </p:nvSpPr>
        <p:spPr>
          <a:xfrm>
            <a:off x="502920" y="4297680"/>
            <a:ext cx="4937760" cy="274320"/>
          </a:xfrm>
          <a:prstGeom prst="rect">
            <a:avLst/>
          </a:prstGeom>
          <a:noFill/>
          <a:ln/>
        </p:spPr>
        <p:txBody>
          <a:bodyPr wrap="square" rtlCol="0" anchor="ctr"/>
          <a:lstStyle/>
          <a:p>
            <a:pPr marL="0" indent="0" algn="ctr">
              <a:buNone/>
            </a:pPr>
            <a:r>
              <a:rPr lang="en-US" sz="1200" b="1" i="1" dirty="0"/>
              <a:t>Figure 1.  Class Imbalance: Mortality outcome distribution </a:t>
            </a:r>
            <a:endParaRPr lang="en-US" sz="1200" b="1" dirty="0"/>
          </a:p>
        </p:txBody>
      </p:sp>
      <p:sp>
        <p:nvSpPr>
          <p:cNvPr id="11" name="Shape 8"/>
          <p:cNvSpPr/>
          <p:nvPr/>
        </p:nvSpPr>
        <p:spPr>
          <a:xfrm>
            <a:off x="5623560" y="1997964"/>
            <a:ext cx="2880360" cy="749808"/>
          </a:xfrm>
          <a:prstGeom prst="rect">
            <a:avLst/>
          </a:prstGeom>
          <a:solidFill>
            <a:srgbClr val="FFFFFF"/>
          </a:solidFill>
          <a:ln w="12700">
            <a:solidFill>
              <a:srgbClr val="D9E2F3"/>
            </a:solidFill>
            <a:prstDash val="solid"/>
          </a:ln>
        </p:spPr>
      </p:sp>
      <p:sp>
        <p:nvSpPr>
          <p:cNvPr id="12" name="Shape 9"/>
          <p:cNvSpPr/>
          <p:nvPr/>
        </p:nvSpPr>
        <p:spPr>
          <a:xfrm>
            <a:off x="5532120" y="1997964"/>
            <a:ext cx="64008" cy="749808"/>
          </a:xfrm>
          <a:prstGeom prst="rect">
            <a:avLst/>
          </a:prstGeom>
          <a:solidFill>
            <a:srgbClr val="1B7A3F"/>
          </a:solidFill>
          <a:ln w="12700">
            <a:solidFill>
              <a:srgbClr val="1B7A3F"/>
            </a:solidFill>
            <a:prstDash val="solid"/>
          </a:ln>
        </p:spPr>
      </p:sp>
      <p:sp>
        <p:nvSpPr>
          <p:cNvPr id="13" name="Text 10"/>
          <p:cNvSpPr/>
          <p:nvPr/>
        </p:nvSpPr>
        <p:spPr>
          <a:xfrm>
            <a:off x="5760720" y="2043684"/>
            <a:ext cx="1463040" cy="457200"/>
          </a:xfrm>
          <a:prstGeom prst="rect">
            <a:avLst/>
          </a:prstGeom>
          <a:noFill/>
          <a:ln/>
        </p:spPr>
        <p:txBody>
          <a:bodyPr wrap="square" rtlCol="0" anchor="ctr"/>
          <a:lstStyle/>
          <a:p>
            <a:pPr marL="0" indent="0">
              <a:buNone/>
            </a:pPr>
            <a:r>
              <a:rPr lang="en-US" sz="2400" b="1" dirty="0">
                <a:solidFill>
                  <a:srgbClr val="0F2C4F"/>
                </a:solidFill>
                <a:latin typeface="Georgia" pitchFamily="34" charset="0"/>
                <a:ea typeface="Georgia" pitchFamily="34" charset="-122"/>
                <a:cs typeface="Georgia" pitchFamily="34" charset="-120"/>
              </a:rPr>
              <a:t>3,446</a:t>
            </a:r>
            <a:endParaRPr lang="en-US" sz="2400" dirty="0"/>
          </a:p>
        </p:txBody>
      </p:sp>
      <p:sp>
        <p:nvSpPr>
          <p:cNvPr id="14" name="Text 11"/>
          <p:cNvSpPr/>
          <p:nvPr/>
        </p:nvSpPr>
        <p:spPr>
          <a:xfrm>
            <a:off x="7178040" y="2089404"/>
            <a:ext cx="1234440" cy="292608"/>
          </a:xfrm>
          <a:prstGeom prst="rect">
            <a:avLst/>
          </a:prstGeom>
          <a:noFill/>
          <a:ln/>
        </p:spPr>
        <p:txBody>
          <a:bodyPr wrap="square" rtlCol="0" anchor="ctr"/>
          <a:lstStyle/>
          <a:p>
            <a:pPr marL="0" indent="0" algn="r">
              <a:buNone/>
            </a:pPr>
            <a:r>
              <a:rPr lang="en-US" sz="1400" b="1" dirty="0">
                <a:solidFill>
                  <a:srgbClr val="1B7A3F"/>
                </a:solidFill>
              </a:rPr>
              <a:t>86.2%</a:t>
            </a:r>
            <a:endParaRPr lang="en-US" sz="1400" dirty="0"/>
          </a:p>
        </p:txBody>
      </p:sp>
      <p:sp>
        <p:nvSpPr>
          <p:cNvPr id="15" name="Text 12"/>
          <p:cNvSpPr/>
          <p:nvPr/>
        </p:nvSpPr>
        <p:spPr>
          <a:xfrm>
            <a:off x="5760720" y="2455164"/>
            <a:ext cx="2651760" cy="256032"/>
          </a:xfrm>
          <a:prstGeom prst="rect">
            <a:avLst/>
          </a:prstGeom>
          <a:noFill/>
          <a:ln/>
        </p:spPr>
        <p:txBody>
          <a:bodyPr wrap="square" rtlCol="0" anchor="ctr"/>
          <a:lstStyle/>
          <a:p>
            <a:pPr marL="0" indent="0">
              <a:buNone/>
            </a:pPr>
            <a:r>
              <a:rPr lang="en-US" sz="1200" b="1" dirty="0"/>
              <a:t>Survivors</a:t>
            </a:r>
          </a:p>
        </p:txBody>
      </p:sp>
      <p:sp>
        <p:nvSpPr>
          <p:cNvPr id="16" name="Shape 13"/>
          <p:cNvSpPr/>
          <p:nvPr/>
        </p:nvSpPr>
        <p:spPr>
          <a:xfrm>
            <a:off x="5650992" y="2834640"/>
            <a:ext cx="2880360" cy="749808"/>
          </a:xfrm>
          <a:prstGeom prst="rect">
            <a:avLst/>
          </a:prstGeom>
          <a:solidFill>
            <a:srgbClr val="FFFFFF"/>
          </a:solidFill>
          <a:ln w="12700">
            <a:solidFill>
              <a:srgbClr val="D9E2F3"/>
            </a:solidFill>
            <a:prstDash val="solid"/>
          </a:ln>
        </p:spPr>
      </p:sp>
      <p:sp>
        <p:nvSpPr>
          <p:cNvPr id="17" name="Shape 14"/>
          <p:cNvSpPr/>
          <p:nvPr/>
        </p:nvSpPr>
        <p:spPr>
          <a:xfrm>
            <a:off x="5527548" y="2830068"/>
            <a:ext cx="64008" cy="749808"/>
          </a:xfrm>
          <a:prstGeom prst="rect">
            <a:avLst/>
          </a:prstGeom>
          <a:solidFill>
            <a:srgbClr val="B22222"/>
          </a:solidFill>
          <a:ln w="12700">
            <a:solidFill>
              <a:srgbClr val="B22222"/>
            </a:solidFill>
            <a:prstDash val="solid"/>
          </a:ln>
        </p:spPr>
      </p:sp>
      <p:sp>
        <p:nvSpPr>
          <p:cNvPr id="18" name="Text 15"/>
          <p:cNvSpPr/>
          <p:nvPr/>
        </p:nvSpPr>
        <p:spPr>
          <a:xfrm>
            <a:off x="5788152" y="2880360"/>
            <a:ext cx="1463040" cy="457200"/>
          </a:xfrm>
          <a:prstGeom prst="rect">
            <a:avLst/>
          </a:prstGeom>
          <a:noFill/>
          <a:ln/>
        </p:spPr>
        <p:txBody>
          <a:bodyPr wrap="square" rtlCol="0" anchor="ctr"/>
          <a:lstStyle/>
          <a:p>
            <a:pPr marL="0" indent="0">
              <a:buNone/>
            </a:pPr>
            <a:r>
              <a:rPr lang="en-US" sz="2400" b="1" dirty="0">
                <a:solidFill>
                  <a:srgbClr val="0F2C4F"/>
                </a:solidFill>
                <a:latin typeface="Georgia" pitchFamily="34" charset="0"/>
                <a:ea typeface="Georgia" pitchFamily="34" charset="-122"/>
                <a:cs typeface="Georgia" pitchFamily="34" charset="-120"/>
              </a:rPr>
              <a:t>554</a:t>
            </a:r>
            <a:endParaRPr lang="en-US" sz="2400" dirty="0"/>
          </a:p>
        </p:txBody>
      </p:sp>
      <p:sp>
        <p:nvSpPr>
          <p:cNvPr id="19" name="Text 16"/>
          <p:cNvSpPr/>
          <p:nvPr/>
        </p:nvSpPr>
        <p:spPr>
          <a:xfrm>
            <a:off x="7205472" y="2926080"/>
            <a:ext cx="1234440" cy="292608"/>
          </a:xfrm>
          <a:prstGeom prst="rect">
            <a:avLst/>
          </a:prstGeom>
          <a:noFill/>
          <a:ln/>
        </p:spPr>
        <p:txBody>
          <a:bodyPr wrap="square" rtlCol="0" anchor="ctr"/>
          <a:lstStyle/>
          <a:p>
            <a:pPr marL="0" indent="0" algn="r">
              <a:buNone/>
            </a:pPr>
            <a:r>
              <a:rPr lang="en-US" sz="1400" b="1" dirty="0">
                <a:solidFill>
                  <a:srgbClr val="B22222"/>
                </a:solidFill>
              </a:rPr>
              <a:t>13.9%</a:t>
            </a:r>
            <a:endParaRPr lang="en-US" sz="1400" dirty="0"/>
          </a:p>
        </p:txBody>
      </p:sp>
      <p:sp>
        <p:nvSpPr>
          <p:cNvPr id="20" name="Text 17"/>
          <p:cNvSpPr/>
          <p:nvPr/>
        </p:nvSpPr>
        <p:spPr>
          <a:xfrm>
            <a:off x="5788152" y="3291840"/>
            <a:ext cx="2651760" cy="256032"/>
          </a:xfrm>
          <a:prstGeom prst="rect">
            <a:avLst/>
          </a:prstGeom>
          <a:noFill/>
          <a:ln/>
        </p:spPr>
        <p:txBody>
          <a:bodyPr wrap="square" rtlCol="0" anchor="ctr"/>
          <a:lstStyle/>
          <a:p>
            <a:pPr marL="0" indent="0">
              <a:buNone/>
            </a:pPr>
            <a:r>
              <a:rPr lang="en-US" sz="1200" b="1" dirty="0"/>
              <a:t>In-hospital deaths</a:t>
            </a:r>
          </a:p>
        </p:txBody>
      </p:sp>
      <p:sp>
        <p:nvSpPr>
          <p:cNvPr id="21" name="Shape 18"/>
          <p:cNvSpPr/>
          <p:nvPr/>
        </p:nvSpPr>
        <p:spPr>
          <a:xfrm>
            <a:off x="5623560" y="1129284"/>
            <a:ext cx="2880360" cy="749808"/>
          </a:xfrm>
          <a:prstGeom prst="rect">
            <a:avLst/>
          </a:prstGeom>
          <a:solidFill>
            <a:srgbClr val="FFFFFF"/>
          </a:solidFill>
          <a:ln w="12700">
            <a:solidFill>
              <a:srgbClr val="D9E2F3"/>
            </a:solidFill>
            <a:prstDash val="solid"/>
          </a:ln>
        </p:spPr>
      </p:sp>
      <p:sp>
        <p:nvSpPr>
          <p:cNvPr id="22" name="Shape 19"/>
          <p:cNvSpPr/>
          <p:nvPr/>
        </p:nvSpPr>
        <p:spPr>
          <a:xfrm>
            <a:off x="5512308" y="1121664"/>
            <a:ext cx="64008" cy="749808"/>
          </a:xfrm>
          <a:prstGeom prst="rect">
            <a:avLst/>
          </a:prstGeom>
          <a:solidFill>
            <a:srgbClr val="1F4E79"/>
          </a:solidFill>
          <a:ln w="12700">
            <a:solidFill>
              <a:srgbClr val="1F4E79"/>
            </a:solidFill>
            <a:prstDash val="solid"/>
          </a:ln>
        </p:spPr>
      </p:sp>
      <p:sp>
        <p:nvSpPr>
          <p:cNvPr id="23" name="Text 20"/>
          <p:cNvSpPr/>
          <p:nvPr/>
        </p:nvSpPr>
        <p:spPr>
          <a:xfrm>
            <a:off x="5760720" y="1175004"/>
            <a:ext cx="1463040" cy="457200"/>
          </a:xfrm>
          <a:prstGeom prst="rect">
            <a:avLst/>
          </a:prstGeom>
          <a:noFill/>
          <a:ln/>
        </p:spPr>
        <p:txBody>
          <a:bodyPr wrap="square" rtlCol="0" anchor="ctr"/>
          <a:lstStyle/>
          <a:p>
            <a:pPr marL="0" indent="0">
              <a:buNone/>
            </a:pPr>
            <a:r>
              <a:rPr lang="en-US" sz="2400" b="1" dirty="0">
                <a:solidFill>
                  <a:srgbClr val="0F2C4F"/>
                </a:solidFill>
                <a:latin typeface="Georgia" pitchFamily="34" charset="0"/>
                <a:ea typeface="Georgia" pitchFamily="34" charset="-122"/>
                <a:cs typeface="Georgia" pitchFamily="34" charset="-120"/>
              </a:rPr>
              <a:t>4,000</a:t>
            </a:r>
            <a:endParaRPr lang="en-US" sz="2400" dirty="0"/>
          </a:p>
        </p:txBody>
      </p:sp>
      <p:sp>
        <p:nvSpPr>
          <p:cNvPr id="24" name="Text 21"/>
          <p:cNvSpPr/>
          <p:nvPr/>
        </p:nvSpPr>
        <p:spPr>
          <a:xfrm>
            <a:off x="7178040" y="1220724"/>
            <a:ext cx="1234440" cy="292608"/>
          </a:xfrm>
          <a:prstGeom prst="rect">
            <a:avLst/>
          </a:prstGeom>
          <a:noFill/>
          <a:ln/>
        </p:spPr>
        <p:txBody>
          <a:bodyPr wrap="square" rtlCol="0" anchor="ctr"/>
          <a:lstStyle/>
          <a:p>
            <a:pPr marL="0" indent="0" algn="r">
              <a:buNone/>
            </a:pPr>
            <a:r>
              <a:rPr lang="en-US" sz="1400" b="1" dirty="0">
                <a:solidFill>
                  <a:srgbClr val="1F4E79"/>
                </a:solidFill>
              </a:rPr>
              <a:t>100%</a:t>
            </a:r>
            <a:endParaRPr lang="en-US" sz="1400" dirty="0"/>
          </a:p>
        </p:txBody>
      </p:sp>
      <p:sp>
        <p:nvSpPr>
          <p:cNvPr id="25" name="Text 22"/>
          <p:cNvSpPr/>
          <p:nvPr/>
        </p:nvSpPr>
        <p:spPr>
          <a:xfrm>
            <a:off x="5760720" y="1586484"/>
            <a:ext cx="2651760" cy="256032"/>
          </a:xfrm>
          <a:prstGeom prst="rect">
            <a:avLst/>
          </a:prstGeom>
          <a:noFill/>
          <a:ln/>
        </p:spPr>
        <p:txBody>
          <a:bodyPr wrap="square" rtlCol="0" anchor="ctr"/>
          <a:lstStyle/>
          <a:p>
            <a:pPr marL="0" indent="0">
              <a:buNone/>
            </a:pPr>
            <a:r>
              <a:rPr lang="en-US" sz="1200" b="1" dirty="0"/>
              <a:t>Total Set-A cohort</a:t>
            </a:r>
          </a:p>
        </p:txBody>
      </p:sp>
      <p:sp>
        <p:nvSpPr>
          <p:cNvPr id="26" name="Shape 23"/>
          <p:cNvSpPr/>
          <p:nvPr/>
        </p:nvSpPr>
        <p:spPr>
          <a:xfrm>
            <a:off x="5623560" y="3703320"/>
            <a:ext cx="2880360" cy="868680"/>
          </a:xfrm>
          <a:prstGeom prst="rect">
            <a:avLst/>
          </a:prstGeom>
          <a:solidFill>
            <a:srgbClr val="C77700"/>
          </a:solidFill>
          <a:ln w="12700">
            <a:solidFill>
              <a:srgbClr val="C77700"/>
            </a:solidFill>
            <a:prstDash val="solid"/>
          </a:ln>
        </p:spPr>
      </p:sp>
      <p:sp>
        <p:nvSpPr>
          <p:cNvPr id="27" name="Text 24"/>
          <p:cNvSpPr/>
          <p:nvPr/>
        </p:nvSpPr>
        <p:spPr>
          <a:xfrm>
            <a:off x="5715000" y="3749040"/>
            <a:ext cx="2697480" cy="228600"/>
          </a:xfrm>
          <a:prstGeom prst="rect">
            <a:avLst/>
          </a:prstGeom>
          <a:noFill/>
          <a:ln/>
        </p:spPr>
        <p:txBody>
          <a:bodyPr wrap="square" rtlCol="0" anchor="ctr"/>
          <a:lstStyle/>
          <a:p>
            <a:pPr marL="0" indent="0">
              <a:buNone/>
            </a:pPr>
            <a:r>
              <a:rPr lang="en-US" sz="900" b="1" kern="0" spc="150" dirty="0">
                <a:solidFill>
                  <a:srgbClr val="FFFFFF"/>
                </a:solidFill>
              </a:rPr>
              <a:t>★  CHALLENGE</a:t>
            </a:r>
            <a:endParaRPr lang="en-US" sz="900" dirty="0"/>
          </a:p>
        </p:txBody>
      </p:sp>
      <p:sp>
        <p:nvSpPr>
          <p:cNvPr id="28" name="Text 25"/>
          <p:cNvSpPr/>
          <p:nvPr/>
        </p:nvSpPr>
        <p:spPr>
          <a:xfrm>
            <a:off x="5715000" y="3950208"/>
            <a:ext cx="2697480" cy="36576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6.2 : 1</a:t>
            </a:r>
            <a:endParaRPr lang="en-US" sz="2200" dirty="0"/>
          </a:p>
        </p:txBody>
      </p:sp>
      <p:sp>
        <p:nvSpPr>
          <p:cNvPr id="29" name="Text 26"/>
          <p:cNvSpPr/>
          <p:nvPr/>
        </p:nvSpPr>
        <p:spPr>
          <a:xfrm>
            <a:off x="5715000" y="4343400"/>
            <a:ext cx="2697480" cy="201168"/>
          </a:xfrm>
          <a:prstGeom prst="rect">
            <a:avLst/>
          </a:prstGeom>
          <a:noFill/>
          <a:ln/>
        </p:spPr>
        <p:txBody>
          <a:bodyPr wrap="square" rtlCol="0" anchor="ctr"/>
          <a:lstStyle/>
          <a:p>
            <a:pPr marL="0" indent="0" algn="ctr">
              <a:buNone/>
            </a:pPr>
            <a:r>
              <a:rPr lang="en-US" sz="1200" i="1" dirty="0">
                <a:solidFill>
                  <a:srgbClr val="FFFFFF"/>
                </a:solidFill>
              </a:rPr>
              <a:t>survivor-to-death ratio</a:t>
            </a:r>
            <a:endParaRPr lang="en-US" sz="1200" dirty="0"/>
          </a:p>
        </p:txBody>
      </p:sp>
      <p:sp>
        <p:nvSpPr>
          <p:cNvPr id="30" name="Freeform 11">
            <a:extLst>
              <a:ext uri="{FF2B5EF4-FFF2-40B4-BE49-F238E27FC236}">
                <a16:creationId xmlns:a16="http://schemas.microsoft.com/office/drawing/2014/main" id="{BA86CBF5-1439-F20D-2AD6-2B0F7B3BDFE3}"/>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sp>
        <p:nvSpPr>
          <p:cNvPr id="5" name="Rectangle 4">
            <a:extLst>
              <a:ext uri="{FF2B5EF4-FFF2-40B4-BE49-F238E27FC236}">
                <a16:creationId xmlns:a16="http://schemas.microsoft.com/office/drawing/2014/main" id="{467260DD-27E5-6B4F-B100-D3D8876223C0}"/>
              </a:ext>
            </a:extLst>
          </p:cNvPr>
          <p:cNvSpPr/>
          <p:nvPr/>
        </p:nvSpPr>
        <p:spPr>
          <a:xfrm>
            <a:off x="1744980" y="960120"/>
            <a:ext cx="2827020" cy="1615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ln>
                <a:solidFill>
                  <a:schemeClr val="bg1"/>
                </a:solidFill>
              </a:ln>
              <a:solidFill>
                <a:schemeClr val="bg1"/>
              </a:solidFill>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07</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Exploratory Analysis  —  Key Predictors</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pic>
        <p:nvPicPr>
          <p:cNvPr id="9" name="Image 0" descr="real_figs/distributions_by_outcome.png"/>
          <p:cNvPicPr>
            <a:picLocks noChangeAspect="1"/>
          </p:cNvPicPr>
          <p:nvPr/>
        </p:nvPicPr>
        <p:blipFill>
          <a:blip r:embed="rId3"/>
          <a:stretch>
            <a:fillRect/>
          </a:stretch>
        </p:blipFill>
        <p:spPr>
          <a:xfrm>
            <a:off x="502920" y="1097685"/>
            <a:ext cx="5349240" cy="3638907"/>
          </a:xfrm>
          <a:prstGeom prst="rect">
            <a:avLst/>
          </a:prstGeom>
        </p:spPr>
      </p:pic>
      <p:sp>
        <p:nvSpPr>
          <p:cNvPr id="10" name="Text 7"/>
          <p:cNvSpPr/>
          <p:nvPr/>
        </p:nvSpPr>
        <p:spPr>
          <a:xfrm>
            <a:off x="466344" y="4759857"/>
            <a:ext cx="5120640" cy="228600"/>
          </a:xfrm>
          <a:prstGeom prst="rect">
            <a:avLst/>
          </a:prstGeom>
          <a:noFill/>
          <a:ln/>
        </p:spPr>
        <p:txBody>
          <a:bodyPr wrap="square" rtlCol="0" anchor="ctr"/>
          <a:lstStyle/>
          <a:p>
            <a:pPr marL="0" indent="0" algn="ctr">
              <a:buNone/>
            </a:pPr>
            <a:r>
              <a:rPr lang="en-US" sz="1200" b="1" i="1" dirty="0"/>
              <a:t>Figure 2.  Distribution of four key predictors by outcome.</a:t>
            </a:r>
            <a:endParaRPr lang="en-US" sz="1200" b="1" dirty="0"/>
          </a:p>
        </p:txBody>
      </p:sp>
      <p:sp>
        <p:nvSpPr>
          <p:cNvPr id="12" name="Text 8"/>
          <p:cNvSpPr/>
          <p:nvPr/>
        </p:nvSpPr>
        <p:spPr>
          <a:xfrm>
            <a:off x="5760720" y="3703320"/>
            <a:ext cx="2834640" cy="228600"/>
          </a:xfrm>
          <a:prstGeom prst="rect">
            <a:avLst/>
          </a:prstGeom>
          <a:noFill/>
          <a:ln/>
        </p:spPr>
        <p:txBody>
          <a:bodyPr wrap="square" rtlCol="0" anchor="ctr"/>
          <a:lstStyle/>
          <a:p>
            <a:pPr marL="0" indent="0" algn="ctr">
              <a:buNone/>
            </a:pPr>
            <a:r>
              <a:rPr lang="en-US" sz="1200" b="1" i="1" dirty="0"/>
              <a:t>Figure 3.  Inter-variable correlations.</a:t>
            </a:r>
            <a:endParaRPr lang="en-US" sz="1200" b="1" dirty="0"/>
          </a:p>
        </p:txBody>
      </p:sp>
      <p:sp>
        <p:nvSpPr>
          <p:cNvPr id="13" name="Shape 9"/>
          <p:cNvSpPr/>
          <p:nvPr/>
        </p:nvSpPr>
        <p:spPr>
          <a:xfrm>
            <a:off x="5760720" y="4023360"/>
            <a:ext cx="2834640" cy="713232"/>
          </a:xfrm>
          <a:prstGeom prst="rect">
            <a:avLst/>
          </a:prstGeom>
          <a:solidFill>
            <a:srgbClr val="0F2C4F"/>
          </a:solidFill>
          <a:ln w="12700">
            <a:solidFill>
              <a:srgbClr val="0F2C4F"/>
            </a:solidFill>
            <a:prstDash val="solid"/>
          </a:ln>
        </p:spPr>
      </p:sp>
      <p:sp>
        <p:nvSpPr>
          <p:cNvPr id="14" name="Text 10"/>
          <p:cNvSpPr/>
          <p:nvPr/>
        </p:nvSpPr>
        <p:spPr>
          <a:xfrm>
            <a:off x="5852160" y="4078224"/>
            <a:ext cx="2651760" cy="201168"/>
          </a:xfrm>
          <a:prstGeom prst="rect">
            <a:avLst/>
          </a:prstGeom>
          <a:noFill/>
          <a:ln/>
        </p:spPr>
        <p:txBody>
          <a:bodyPr wrap="square" rtlCol="0" anchor="ctr"/>
          <a:lstStyle/>
          <a:p>
            <a:pPr marL="0" indent="0">
              <a:buNone/>
            </a:pPr>
            <a:r>
              <a:rPr lang="en-US" sz="800" b="1" kern="0" spc="150" dirty="0">
                <a:solidFill>
                  <a:srgbClr val="B4C7E7"/>
                </a:solidFill>
              </a:rPr>
              <a:t>KEY FINDING</a:t>
            </a:r>
            <a:endParaRPr lang="en-US" sz="800" dirty="0"/>
          </a:p>
        </p:txBody>
      </p:sp>
      <p:sp>
        <p:nvSpPr>
          <p:cNvPr id="15" name="Text 11"/>
          <p:cNvSpPr/>
          <p:nvPr/>
        </p:nvSpPr>
        <p:spPr>
          <a:xfrm>
            <a:off x="5852160" y="4297680"/>
            <a:ext cx="2651760" cy="384048"/>
          </a:xfrm>
          <a:prstGeom prst="rect">
            <a:avLst/>
          </a:prstGeom>
          <a:noFill/>
          <a:ln/>
        </p:spPr>
        <p:txBody>
          <a:bodyPr wrap="square" rtlCol="0" anchor="ctr"/>
          <a:lstStyle/>
          <a:p>
            <a:pPr marL="0" indent="0">
              <a:lnSpc>
                <a:spcPct val="120000"/>
              </a:lnSpc>
              <a:buNone/>
            </a:pPr>
            <a:r>
              <a:rPr lang="en-US" sz="950" b="1" dirty="0">
                <a:solidFill>
                  <a:srgbClr val="FFFFFF"/>
                </a:solidFill>
              </a:rPr>
              <a:t>GCS, Age, Lactate, MAP</a:t>
            </a:r>
            <a:endParaRPr lang="en-US" sz="950" dirty="0"/>
          </a:p>
          <a:p>
            <a:pPr marL="0" indent="0">
              <a:lnSpc>
                <a:spcPct val="120000"/>
              </a:lnSpc>
              <a:buNone/>
            </a:pPr>
            <a:r>
              <a:rPr lang="en-US" sz="950" b="1" dirty="0">
                <a:solidFill>
                  <a:srgbClr val="FFFFFF"/>
                </a:solidFill>
              </a:rPr>
              <a:t>clearly separate outcomes</a:t>
            </a:r>
            <a:endParaRPr lang="en-US" sz="950" dirty="0"/>
          </a:p>
        </p:txBody>
      </p:sp>
      <p:sp>
        <p:nvSpPr>
          <p:cNvPr id="16" name="Freeform 11">
            <a:extLst>
              <a:ext uri="{FF2B5EF4-FFF2-40B4-BE49-F238E27FC236}">
                <a16:creationId xmlns:a16="http://schemas.microsoft.com/office/drawing/2014/main" id="{2F74F59E-9FE1-0C2D-AF1E-D6B28AEBE2CF}"/>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pic>
        <p:nvPicPr>
          <p:cNvPr id="17" name="Picture 16">
            <a:extLst>
              <a:ext uri="{FF2B5EF4-FFF2-40B4-BE49-F238E27FC236}">
                <a16:creationId xmlns:a16="http://schemas.microsoft.com/office/drawing/2014/main" id="{B2652FCE-9CAB-FFDB-FD71-AF3B37C0E062}"/>
              </a:ext>
            </a:extLst>
          </p:cNvPr>
          <p:cNvPicPr>
            <a:picLocks noChangeAspect="1"/>
          </p:cNvPicPr>
          <p:nvPr/>
        </p:nvPicPr>
        <p:blipFill>
          <a:blip r:embed="rId5"/>
          <a:stretch>
            <a:fillRect/>
          </a:stretch>
        </p:blipFill>
        <p:spPr>
          <a:xfrm>
            <a:off x="5943600" y="813816"/>
            <a:ext cx="3200400" cy="2889504"/>
          </a:xfrm>
          <a:prstGeom prst="rect">
            <a:avLst/>
          </a:prstGeom>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08</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endParaRPr lang="en-US" sz="2200" dirty="0"/>
          </a:p>
        </p:txBody>
      </p:sp>
      <p:sp>
        <p:nvSpPr>
          <p:cNvPr id="8" name="Shape 6"/>
          <p:cNvSpPr/>
          <p:nvPr/>
        </p:nvSpPr>
        <p:spPr>
          <a:xfrm>
            <a:off x="640080" y="989076"/>
            <a:ext cx="1005840" cy="45720"/>
          </a:xfrm>
          <a:prstGeom prst="rect">
            <a:avLst/>
          </a:prstGeom>
          <a:solidFill>
            <a:srgbClr val="2E75B6"/>
          </a:solidFill>
          <a:ln w="12700">
            <a:solidFill>
              <a:srgbClr val="2E75B6"/>
            </a:solidFill>
            <a:prstDash val="solid"/>
          </a:ln>
        </p:spPr>
      </p:sp>
      <p:sp>
        <p:nvSpPr>
          <p:cNvPr id="64" name="Freeform 11">
            <a:extLst>
              <a:ext uri="{FF2B5EF4-FFF2-40B4-BE49-F238E27FC236}">
                <a16:creationId xmlns:a16="http://schemas.microsoft.com/office/drawing/2014/main" id="{5543BC2C-A0AC-1A60-2249-5B6969330FEA}"/>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2"/>
            <a:stretch>
              <a:fillRect r="-131319"/>
            </a:stretch>
          </a:blipFill>
        </p:spPr>
        <p:txBody>
          <a:bodyPr/>
          <a:lstStyle/>
          <a:p>
            <a:endParaRPr lang="zh-CN" altLang="en-US"/>
          </a:p>
        </p:txBody>
      </p:sp>
      <p:sp>
        <p:nvSpPr>
          <p:cNvPr id="900" name="Content"/>
          <p:cNvSpPr txBox="1"/>
          <p:nvPr/>
        </p:nvSpPr>
        <p:spPr>
          <a:xfrm>
            <a:off x="566928" y="1078992"/>
            <a:ext cx="8439912" cy="4064508"/>
          </a:xfrm>
          <a:prstGeom prst="rect">
            <a:avLst/>
          </a:prstGeom>
        </p:spPr>
        <p:txBody>
          <a:bodyPr wrap="square" rtlCol="0">
            <a:normAutofit fontScale="70000" lnSpcReduction="20000"/>
          </a:bodyPr>
          <a:lstStyle/>
          <a:p>
            <a:pPr>
              <a:spcBef>
                <a:spcPts val="420"/>
              </a:spcBef>
            </a:pPr>
            <a:r>
              <a:rPr lang="en-US" sz="1820" b="1" dirty="0">
                <a:solidFill>
                  <a:srgbClr val="1F3B63"/>
                </a:solidFill>
                <a:latin typeface="Cambria Math"/>
              </a:rPr>
              <a:t>Φ(h, v) = Φᵥ · |X[h, v]| / Σₕ |X[h, v]|</a:t>
            </a:r>
          </a:p>
          <a:p>
            <a:pPr>
              <a:spcBef>
                <a:spcPts val="420"/>
              </a:spcBef>
            </a:pPr>
            <a:endParaRPr lang="en-US" sz="1400" b="1" dirty="0">
              <a:solidFill>
                <a:srgbClr val="1F3B63"/>
              </a:solidFill>
              <a:latin typeface="Cambria Math"/>
            </a:endParaRPr>
          </a:p>
          <a:p>
            <a:pPr marL="171450" indent="-171450">
              <a:spcBef>
                <a:spcPts val="100"/>
              </a:spcBef>
              <a:buFont typeface="Arial" panose="020B0604020202020204" pitchFamily="34" charset="0"/>
              <a:buChar char="•"/>
            </a:pPr>
            <a:r>
              <a:rPr lang="en-US" sz="1600" b="1" i="1" dirty="0">
                <a:latin typeface="Arial"/>
              </a:rPr>
              <a:t>where  Φᵥ = the variable's overall Shapley value (its global importance);  X[h, v] = the value of variable v at hour h;  the denominator sums |X| over all 48 hours (h = 0…48).</a:t>
            </a:r>
          </a:p>
          <a:p>
            <a:pPr marL="171450" indent="-171450">
              <a:spcBef>
                <a:spcPts val="100"/>
              </a:spcBef>
              <a:buFont typeface="Arial" panose="020B0604020202020204" pitchFamily="34" charset="0"/>
              <a:buChar char="•"/>
            </a:pPr>
            <a:endParaRPr lang="en-US" sz="1600" b="1" i="1" dirty="0">
              <a:solidFill>
                <a:srgbClr val="4A4A4A"/>
              </a:solidFill>
              <a:latin typeface="Arial"/>
            </a:endParaRPr>
          </a:p>
          <a:p>
            <a:pPr marL="171450" indent="-171450">
              <a:spcBef>
                <a:spcPts val="80"/>
              </a:spcBef>
              <a:buFont typeface="Arial" panose="020B0604020202020204" pitchFamily="34" charset="0"/>
              <a:buChar char="•"/>
            </a:pPr>
            <a:r>
              <a:rPr lang="en-US" sz="1600" b="1" dirty="0">
                <a:latin typeface="Arial"/>
              </a:rPr>
              <a:t>Time-step SHAP splits each variable's Shapley value Φᵥ across the 48 hours in proportion to its signal magnitude, so attribution is resolved in time while the per-variable total is preserved.</a:t>
            </a:r>
          </a:p>
          <a:p>
            <a:pPr>
              <a:spcBef>
                <a:spcPts val="80"/>
              </a:spcBef>
            </a:pPr>
            <a:endParaRPr lang="en-US" sz="1600" b="1" dirty="0">
              <a:latin typeface="Arial"/>
            </a:endParaRPr>
          </a:p>
          <a:p>
            <a:pPr marL="171450" indent="-171450">
              <a:spcBef>
                <a:spcPts val="70"/>
              </a:spcBef>
              <a:buFont typeface="Arial" panose="020B0604020202020204" pitchFamily="34" charset="0"/>
              <a:buChar char="•"/>
            </a:pPr>
            <a:r>
              <a:rPr lang="en-US" sz="1600" b="1" i="1" dirty="0">
                <a:solidFill>
                  <a:srgbClr val="7A2E1D"/>
                </a:solidFill>
                <a:latin typeface="Arial"/>
              </a:rPr>
              <a:t>Worked example: if Glasgow Coma Scale has Φᵥ = 0.99 and hour 0 holds 4% of its |X| over the 48 hours, then hour 0 receives 0.04 × 0.99 = 0.040; summing all 48 hourly shares returns the original 0.99.</a:t>
            </a:r>
          </a:p>
          <a:p>
            <a:pPr marL="171450" indent="-171450">
              <a:spcBef>
                <a:spcPts val="70"/>
              </a:spcBef>
              <a:buFont typeface="Arial" panose="020B0604020202020204" pitchFamily="34" charset="0"/>
              <a:buChar char="•"/>
            </a:pPr>
            <a:endParaRPr lang="en-US" sz="1200" b="1" i="1" dirty="0">
              <a:solidFill>
                <a:srgbClr val="7A2E1D"/>
              </a:solidFill>
              <a:latin typeface="Arial"/>
            </a:endParaRPr>
          </a:p>
          <a:p>
            <a:pPr>
              <a:spcBef>
                <a:spcPts val="420"/>
              </a:spcBef>
            </a:pPr>
            <a:r>
              <a:rPr lang="en-US" sz="1820" b="1" dirty="0">
                <a:solidFill>
                  <a:srgbClr val="1F3B63"/>
                </a:solidFill>
                <a:latin typeface="Cambria Math"/>
              </a:rPr>
              <a:t>C(p) = |Top₅(p) ∩ S| / 5 ,    ρ = Spearman(−C, Brier) = +0.139</a:t>
            </a:r>
          </a:p>
          <a:p>
            <a:pPr>
              <a:spcBef>
                <a:spcPts val="420"/>
              </a:spcBef>
            </a:pPr>
            <a:endParaRPr lang="en-US" sz="1400" b="1" dirty="0">
              <a:solidFill>
                <a:srgbClr val="1F3B63"/>
              </a:solidFill>
              <a:latin typeface="Cambria Math"/>
            </a:endParaRPr>
          </a:p>
          <a:p>
            <a:pPr marL="171450" indent="-171450">
              <a:spcBef>
                <a:spcPts val="100"/>
              </a:spcBef>
              <a:buFont typeface="Arial" panose="020B0604020202020204" pitchFamily="34" charset="0"/>
              <a:buChar char="•"/>
            </a:pPr>
            <a:r>
              <a:rPr lang="en-US" sz="1600" b="1" i="1" dirty="0">
                <a:latin typeface="Arial"/>
              </a:rPr>
              <a:t>where  Top₅(p) = patient p's five most-attributed variables;  S = the variables used by the SOFA / SAPS-I clinical scores;  Brier = the prediction's calibration error;  ρ = rank correlation across all patients.</a:t>
            </a:r>
          </a:p>
          <a:p>
            <a:pPr marL="171450" indent="-171450">
              <a:spcBef>
                <a:spcPts val="100"/>
              </a:spcBef>
              <a:buFont typeface="Arial" panose="020B0604020202020204" pitchFamily="34" charset="0"/>
              <a:buChar char="•"/>
            </a:pPr>
            <a:endParaRPr lang="en-US" sz="1600" b="1" i="1" dirty="0">
              <a:solidFill>
                <a:srgbClr val="4A4A4A"/>
              </a:solidFill>
              <a:latin typeface="Arial"/>
            </a:endParaRPr>
          </a:p>
          <a:p>
            <a:pPr marL="171450" indent="-171450">
              <a:spcBef>
                <a:spcPts val="80"/>
              </a:spcBef>
              <a:buFont typeface="Arial" panose="020B0604020202020204" pitchFamily="34" charset="0"/>
              <a:buChar char="•"/>
            </a:pPr>
            <a:r>
              <a:rPr lang="en-US" sz="1600" b="1" dirty="0">
                <a:solidFill>
                  <a:srgbClr val="222222"/>
                </a:solidFill>
                <a:latin typeface="Arial"/>
              </a:rPr>
              <a:t>Clinical concordance: the share of a patient's five most-attributed variables that belong to the clinical score set S. Higher concordance goes with better calibration (p &lt; 0.001).</a:t>
            </a:r>
          </a:p>
          <a:p>
            <a:pPr>
              <a:spcBef>
                <a:spcPts val="80"/>
              </a:spcBef>
            </a:pPr>
            <a:endParaRPr lang="en-US" sz="1100" b="1" dirty="0">
              <a:solidFill>
                <a:srgbClr val="222222"/>
              </a:solidFill>
              <a:latin typeface="Arial"/>
            </a:endParaRPr>
          </a:p>
          <a:p>
            <a:pPr>
              <a:spcBef>
                <a:spcPts val="420"/>
              </a:spcBef>
            </a:pPr>
            <a:r>
              <a:rPr lang="en-US" sz="1820" b="1" dirty="0">
                <a:solidFill>
                  <a:srgbClr val="1F3B63"/>
                </a:solidFill>
                <a:latin typeface="Cambria Math"/>
              </a:rPr>
              <a:t>FL(pₜ) = −α (1 − pₜ)^γ · log(pₜ)</a:t>
            </a:r>
          </a:p>
          <a:p>
            <a:pPr>
              <a:spcBef>
                <a:spcPts val="420"/>
              </a:spcBef>
            </a:pPr>
            <a:endParaRPr lang="en-US" sz="1600" b="1" dirty="0">
              <a:solidFill>
                <a:srgbClr val="1F3B63"/>
              </a:solidFill>
              <a:latin typeface="Cambria Math"/>
            </a:endParaRPr>
          </a:p>
          <a:p>
            <a:pPr marL="171450" indent="-171450">
              <a:spcBef>
                <a:spcPts val="100"/>
              </a:spcBef>
              <a:buFont typeface="Arial" panose="020B0604020202020204" pitchFamily="34" charset="0"/>
              <a:buChar char="•"/>
            </a:pPr>
            <a:r>
              <a:rPr lang="en-US" sz="1600" b="1" i="1" dirty="0">
                <a:latin typeface="Arial"/>
              </a:rPr>
              <a:t>where  pₜ = the predicted probability of the true class;  γ = 2 sets the focusing strength;  α = 0.86 weights the rare death class.</a:t>
            </a:r>
          </a:p>
          <a:p>
            <a:pPr marL="171450" indent="-171450">
              <a:spcBef>
                <a:spcPts val="100"/>
              </a:spcBef>
              <a:buFont typeface="Arial" panose="020B0604020202020204" pitchFamily="34" charset="0"/>
              <a:buChar char="•"/>
            </a:pPr>
            <a:endParaRPr lang="en-US" sz="1600" b="1" i="1" dirty="0">
              <a:solidFill>
                <a:srgbClr val="4A4A4A"/>
              </a:solidFill>
              <a:latin typeface="Arial"/>
            </a:endParaRPr>
          </a:p>
          <a:p>
            <a:pPr marL="171450" indent="-171450">
              <a:spcBef>
                <a:spcPts val="80"/>
              </a:spcBef>
              <a:buFont typeface="Arial" panose="020B0604020202020204" pitchFamily="34" charset="0"/>
              <a:buChar char="•"/>
            </a:pPr>
            <a:r>
              <a:rPr lang="en-US" sz="1600" b="1" dirty="0">
                <a:solidFill>
                  <a:srgbClr val="222222"/>
                </a:solidFill>
                <a:latin typeface="Arial"/>
              </a:rPr>
              <a:t>Focal loss (deep models): (1 − pₜ)^γ with γ = 2 down-weights easy cases and α = 0.86 rebalances classes, so training concentrates on the rare deaths.</a:t>
            </a:r>
          </a:p>
        </p:txBody>
      </p:sp>
      <p:sp>
        <p:nvSpPr>
          <p:cNvPr id="4" name="Text 5">
            <a:extLst>
              <a:ext uri="{FF2B5EF4-FFF2-40B4-BE49-F238E27FC236}">
                <a16:creationId xmlns:a16="http://schemas.microsoft.com/office/drawing/2014/main" id="{F257F0D4-C53F-0209-2FEE-08AEFEE8D1DB}"/>
              </a:ext>
            </a:extLst>
          </p:cNvPr>
          <p:cNvSpPr/>
          <p:nvPr/>
        </p:nvSpPr>
        <p:spPr>
          <a:xfrm>
            <a:off x="566928" y="295656"/>
            <a:ext cx="7498080" cy="502920"/>
          </a:xfrm>
          <a:prstGeom prst="rect">
            <a:avLst/>
          </a:prstGeom>
          <a:noFill/>
          <a:ln/>
        </p:spPr>
        <p:txBody>
          <a:bodyPr wrap="square" rtlCol="0" anchor="ctr"/>
          <a:lstStyle/>
          <a:p>
            <a:pPr marL="0" indent="0">
              <a:buNone/>
            </a:pPr>
            <a:endParaRPr lang="en-US" sz="2200" dirty="0"/>
          </a:p>
        </p:txBody>
      </p:sp>
      <p:sp>
        <p:nvSpPr>
          <p:cNvPr id="9" name="TextBox 8">
            <a:extLst>
              <a:ext uri="{FF2B5EF4-FFF2-40B4-BE49-F238E27FC236}">
                <a16:creationId xmlns:a16="http://schemas.microsoft.com/office/drawing/2014/main" id="{71F09C1B-3968-E7A4-34DF-4E095282F69B}"/>
              </a:ext>
            </a:extLst>
          </p:cNvPr>
          <p:cNvSpPr txBox="1"/>
          <p:nvPr/>
        </p:nvSpPr>
        <p:spPr>
          <a:xfrm>
            <a:off x="542544" y="219635"/>
            <a:ext cx="7711440" cy="769441"/>
          </a:xfrm>
          <a:prstGeom prst="rect">
            <a:avLst/>
          </a:prstGeom>
          <a:noFill/>
        </p:spPr>
        <p:txBody>
          <a:bodyPr wrap="square">
            <a:spAutoFit/>
          </a:bodyPr>
          <a:lstStyle/>
          <a:p>
            <a:r>
              <a:rPr lang="en-US" sz="2200" b="1" dirty="0">
                <a:solidFill>
                  <a:srgbClr val="0F2C4F"/>
                </a:solidFill>
                <a:latin typeface="Georgia" pitchFamily="34" charset="0"/>
              </a:rPr>
              <a:t>Key Formulas — Time-Step SHAP, Concordance, Focal Loss</a:t>
            </a:r>
            <a:endParaRPr lang="en-PK" sz="2200" b="1" dirty="0">
              <a:solidFill>
                <a:srgbClr val="0F2C4F"/>
              </a:solidFill>
              <a:latin typeface="Georgia" pitchFamily="34" charset="0"/>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09</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Method  —  Four-Stage Pipeline</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9" name="Shape 7"/>
          <p:cNvSpPr/>
          <p:nvPr/>
        </p:nvSpPr>
        <p:spPr>
          <a:xfrm>
            <a:off x="548640" y="960120"/>
            <a:ext cx="1920240" cy="1965960"/>
          </a:xfrm>
          <a:prstGeom prst="rect">
            <a:avLst/>
          </a:prstGeom>
          <a:solidFill>
            <a:srgbClr val="FFFFFF"/>
          </a:solidFill>
          <a:ln w="12700">
            <a:solidFill>
              <a:srgbClr val="D9E2F3"/>
            </a:solidFill>
            <a:prstDash val="solid"/>
          </a:ln>
        </p:spPr>
      </p:sp>
      <p:sp>
        <p:nvSpPr>
          <p:cNvPr id="10" name="Shape 8"/>
          <p:cNvSpPr/>
          <p:nvPr/>
        </p:nvSpPr>
        <p:spPr>
          <a:xfrm>
            <a:off x="548640" y="960120"/>
            <a:ext cx="1874520" cy="457200"/>
          </a:xfrm>
          <a:prstGeom prst="rect">
            <a:avLst/>
          </a:prstGeom>
          <a:solidFill>
            <a:srgbClr val="1F4E79"/>
          </a:solidFill>
          <a:ln w="12700">
            <a:solidFill>
              <a:srgbClr val="1F4E79"/>
            </a:solidFill>
            <a:prstDash val="solid"/>
          </a:ln>
        </p:spPr>
      </p:sp>
      <p:sp>
        <p:nvSpPr>
          <p:cNvPr id="11" name="Shape 9"/>
          <p:cNvSpPr/>
          <p:nvPr/>
        </p:nvSpPr>
        <p:spPr>
          <a:xfrm>
            <a:off x="685800" y="1033272"/>
            <a:ext cx="310896" cy="310896"/>
          </a:xfrm>
          <a:prstGeom prst="ellipse">
            <a:avLst/>
          </a:prstGeom>
          <a:solidFill>
            <a:srgbClr val="FFFFFF"/>
          </a:solidFill>
          <a:ln w="12700">
            <a:solidFill>
              <a:srgbClr val="FFFFFF"/>
            </a:solidFill>
            <a:prstDash val="solid"/>
          </a:ln>
        </p:spPr>
      </p:sp>
      <p:sp>
        <p:nvSpPr>
          <p:cNvPr id="12" name="Text 10"/>
          <p:cNvSpPr/>
          <p:nvPr/>
        </p:nvSpPr>
        <p:spPr>
          <a:xfrm>
            <a:off x="685800" y="1033272"/>
            <a:ext cx="310896" cy="310896"/>
          </a:xfrm>
          <a:prstGeom prst="rect">
            <a:avLst/>
          </a:prstGeom>
          <a:noFill/>
          <a:ln/>
        </p:spPr>
        <p:txBody>
          <a:bodyPr wrap="square" rtlCol="0" anchor="ctr"/>
          <a:lstStyle/>
          <a:p>
            <a:pPr marL="0" indent="0" algn="ctr">
              <a:buNone/>
            </a:pPr>
            <a:r>
              <a:rPr lang="en-US" sz="1200" b="1" dirty="0">
                <a:solidFill>
                  <a:srgbClr val="1F4E79"/>
                </a:solidFill>
              </a:rPr>
              <a:t>1</a:t>
            </a:r>
            <a:endParaRPr lang="en-US" sz="1200" dirty="0"/>
          </a:p>
        </p:txBody>
      </p:sp>
      <p:sp>
        <p:nvSpPr>
          <p:cNvPr id="13" name="Text 11"/>
          <p:cNvSpPr/>
          <p:nvPr/>
        </p:nvSpPr>
        <p:spPr>
          <a:xfrm>
            <a:off x="1051560" y="960120"/>
            <a:ext cx="1325880" cy="457200"/>
          </a:xfrm>
          <a:prstGeom prst="rect">
            <a:avLst/>
          </a:prstGeom>
          <a:noFill/>
          <a:ln/>
        </p:spPr>
        <p:txBody>
          <a:bodyPr wrap="square" rtlCol="0" anchor="ctr"/>
          <a:lstStyle/>
          <a:p>
            <a:pPr marL="0" indent="0">
              <a:buNone/>
            </a:pPr>
            <a:r>
              <a:rPr lang="en-US" sz="1100" b="1" dirty="0">
                <a:solidFill>
                  <a:srgbClr val="FFFFFF"/>
                </a:solidFill>
              </a:rPr>
              <a:t>Preprocessing</a:t>
            </a:r>
            <a:endParaRPr lang="en-US" sz="1100" dirty="0"/>
          </a:p>
        </p:txBody>
      </p:sp>
      <p:sp>
        <p:nvSpPr>
          <p:cNvPr id="14" name="Shape 12"/>
          <p:cNvSpPr/>
          <p:nvPr/>
        </p:nvSpPr>
        <p:spPr>
          <a:xfrm>
            <a:off x="685800" y="1700784"/>
            <a:ext cx="54864" cy="54864"/>
          </a:xfrm>
          <a:prstGeom prst="rect">
            <a:avLst/>
          </a:prstGeom>
          <a:solidFill>
            <a:srgbClr val="2E75B6"/>
          </a:solidFill>
          <a:ln w="12700">
            <a:solidFill>
              <a:srgbClr val="2E75B6"/>
            </a:solidFill>
            <a:prstDash val="solid"/>
          </a:ln>
        </p:spPr>
      </p:sp>
      <p:sp>
        <p:nvSpPr>
          <p:cNvPr id="15" name="Text 13"/>
          <p:cNvSpPr/>
          <p:nvPr/>
        </p:nvSpPr>
        <p:spPr>
          <a:xfrm>
            <a:off x="777240" y="1554480"/>
            <a:ext cx="1975104" cy="365760"/>
          </a:xfrm>
          <a:prstGeom prst="rect">
            <a:avLst/>
          </a:prstGeom>
          <a:noFill/>
          <a:ln/>
        </p:spPr>
        <p:txBody>
          <a:bodyPr wrap="square" rtlCol="0" anchor="ctr"/>
          <a:lstStyle/>
          <a:p>
            <a:pPr marL="0" indent="0">
              <a:lnSpc>
                <a:spcPct val="130000"/>
              </a:lnSpc>
              <a:buNone/>
            </a:pPr>
            <a:r>
              <a:rPr lang="en-US" sz="1100" b="1" dirty="0">
                <a:solidFill>
                  <a:srgbClr val="374151"/>
                </a:solidFill>
              </a:rPr>
              <a:t>Hourly median aggregation</a:t>
            </a:r>
            <a:endParaRPr lang="en-US" sz="1100" b="1" dirty="0"/>
          </a:p>
        </p:txBody>
      </p:sp>
      <p:sp>
        <p:nvSpPr>
          <p:cNvPr id="16" name="Shape 14"/>
          <p:cNvSpPr/>
          <p:nvPr/>
        </p:nvSpPr>
        <p:spPr>
          <a:xfrm>
            <a:off x="685800" y="2112264"/>
            <a:ext cx="54864" cy="54864"/>
          </a:xfrm>
          <a:prstGeom prst="rect">
            <a:avLst/>
          </a:prstGeom>
          <a:solidFill>
            <a:srgbClr val="2E75B6"/>
          </a:solidFill>
          <a:ln w="12700">
            <a:solidFill>
              <a:srgbClr val="2E75B6"/>
            </a:solidFill>
            <a:prstDash val="solid"/>
          </a:ln>
        </p:spPr>
      </p:sp>
      <p:sp>
        <p:nvSpPr>
          <p:cNvPr id="17" name="Text 15"/>
          <p:cNvSpPr/>
          <p:nvPr/>
        </p:nvSpPr>
        <p:spPr>
          <a:xfrm>
            <a:off x="749808" y="1965960"/>
            <a:ext cx="1837944" cy="365760"/>
          </a:xfrm>
          <a:prstGeom prst="rect">
            <a:avLst/>
          </a:prstGeom>
          <a:noFill/>
          <a:ln/>
        </p:spPr>
        <p:txBody>
          <a:bodyPr wrap="square" rtlCol="0" anchor="ctr"/>
          <a:lstStyle/>
          <a:p>
            <a:pPr marL="0" indent="0">
              <a:lnSpc>
                <a:spcPct val="130000"/>
              </a:lnSpc>
              <a:buNone/>
            </a:pPr>
            <a:r>
              <a:rPr lang="en-US" sz="1100" b="1" dirty="0">
                <a:solidFill>
                  <a:srgbClr val="374151"/>
                </a:solidFill>
              </a:rPr>
              <a:t>Missingness mask channel</a:t>
            </a:r>
            <a:endParaRPr lang="en-US" sz="1100" b="1" dirty="0"/>
          </a:p>
        </p:txBody>
      </p:sp>
      <p:sp>
        <p:nvSpPr>
          <p:cNvPr id="18" name="Shape 16"/>
          <p:cNvSpPr/>
          <p:nvPr/>
        </p:nvSpPr>
        <p:spPr>
          <a:xfrm>
            <a:off x="685800" y="2523744"/>
            <a:ext cx="54864" cy="54864"/>
          </a:xfrm>
          <a:prstGeom prst="rect">
            <a:avLst/>
          </a:prstGeom>
          <a:solidFill>
            <a:srgbClr val="2E75B6"/>
          </a:solidFill>
          <a:ln w="12700">
            <a:solidFill>
              <a:srgbClr val="2E75B6"/>
            </a:solidFill>
            <a:prstDash val="solid"/>
          </a:ln>
        </p:spPr>
      </p:sp>
      <p:sp>
        <p:nvSpPr>
          <p:cNvPr id="19" name="Text 17"/>
          <p:cNvSpPr/>
          <p:nvPr/>
        </p:nvSpPr>
        <p:spPr>
          <a:xfrm>
            <a:off x="749808" y="2377440"/>
            <a:ext cx="1741932" cy="365760"/>
          </a:xfrm>
          <a:prstGeom prst="rect">
            <a:avLst/>
          </a:prstGeom>
          <a:noFill/>
          <a:ln/>
        </p:spPr>
        <p:txBody>
          <a:bodyPr wrap="square" rtlCol="0" anchor="ctr"/>
          <a:lstStyle/>
          <a:p>
            <a:pPr marL="0" indent="0">
              <a:lnSpc>
                <a:spcPct val="130000"/>
              </a:lnSpc>
              <a:buNone/>
            </a:pPr>
            <a:r>
              <a:rPr lang="en-US" sz="1100" b="1" dirty="0">
                <a:solidFill>
                  <a:srgbClr val="374151"/>
                </a:solidFill>
              </a:rPr>
              <a:t>70/15/15 stratified split</a:t>
            </a:r>
            <a:endParaRPr lang="en-US" sz="1100" b="1" dirty="0"/>
          </a:p>
        </p:txBody>
      </p:sp>
      <p:sp>
        <p:nvSpPr>
          <p:cNvPr id="20" name="Text 18"/>
          <p:cNvSpPr/>
          <p:nvPr/>
        </p:nvSpPr>
        <p:spPr>
          <a:xfrm>
            <a:off x="2423160" y="1783080"/>
            <a:ext cx="164592" cy="274320"/>
          </a:xfrm>
          <a:prstGeom prst="rect">
            <a:avLst/>
          </a:prstGeom>
          <a:noFill/>
          <a:ln/>
        </p:spPr>
        <p:txBody>
          <a:bodyPr wrap="square" rtlCol="0" anchor="ctr"/>
          <a:lstStyle/>
          <a:p>
            <a:pPr marL="0" indent="0" algn="ctr">
              <a:buNone/>
            </a:pPr>
            <a:r>
              <a:rPr lang="en-US" sz="1800" b="1" dirty="0">
                <a:solidFill>
                  <a:srgbClr val="5B9BD5"/>
                </a:solidFill>
              </a:rPr>
              <a:t>▸</a:t>
            </a:r>
            <a:endParaRPr lang="en-US" sz="1800" dirty="0"/>
          </a:p>
        </p:txBody>
      </p:sp>
      <p:sp>
        <p:nvSpPr>
          <p:cNvPr id="21" name="Shape 19"/>
          <p:cNvSpPr/>
          <p:nvPr/>
        </p:nvSpPr>
        <p:spPr>
          <a:xfrm>
            <a:off x="2560320" y="960120"/>
            <a:ext cx="1874520" cy="1965960"/>
          </a:xfrm>
          <a:prstGeom prst="rect">
            <a:avLst/>
          </a:prstGeom>
          <a:solidFill>
            <a:srgbClr val="FFFFFF"/>
          </a:solidFill>
          <a:ln w="12700">
            <a:solidFill>
              <a:srgbClr val="D9E2F3"/>
            </a:solidFill>
            <a:prstDash val="solid"/>
          </a:ln>
        </p:spPr>
      </p:sp>
      <p:sp>
        <p:nvSpPr>
          <p:cNvPr id="22" name="Shape 20"/>
          <p:cNvSpPr/>
          <p:nvPr/>
        </p:nvSpPr>
        <p:spPr>
          <a:xfrm>
            <a:off x="2560320" y="960120"/>
            <a:ext cx="1874520" cy="457200"/>
          </a:xfrm>
          <a:prstGeom prst="rect">
            <a:avLst/>
          </a:prstGeom>
          <a:solidFill>
            <a:srgbClr val="1F4E79"/>
          </a:solidFill>
          <a:ln w="12700">
            <a:solidFill>
              <a:srgbClr val="1F4E79"/>
            </a:solidFill>
            <a:prstDash val="solid"/>
          </a:ln>
        </p:spPr>
      </p:sp>
      <p:sp>
        <p:nvSpPr>
          <p:cNvPr id="23" name="Shape 21"/>
          <p:cNvSpPr/>
          <p:nvPr/>
        </p:nvSpPr>
        <p:spPr>
          <a:xfrm>
            <a:off x="2697480" y="1033272"/>
            <a:ext cx="310896" cy="310896"/>
          </a:xfrm>
          <a:prstGeom prst="ellipse">
            <a:avLst/>
          </a:prstGeom>
          <a:solidFill>
            <a:srgbClr val="FFFFFF"/>
          </a:solidFill>
          <a:ln w="12700">
            <a:solidFill>
              <a:srgbClr val="FFFFFF"/>
            </a:solidFill>
            <a:prstDash val="solid"/>
          </a:ln>
        </p:spPr>
      </p:sp>
      <p:sp>
        <p:nvSpPr>
          <p:cNvPr id="24" name="Text 22"/>
          <p:cNvSpPr/>
          <p:nvPr/>
        </p:nvSpPr>
        <p:spPr>
          <a:xfrm>
            <a:off x="2697480" y="1033272"/>
            <a:ext cx="310896" cy="310896"/>
          </a:xfrm>
          <a:prstGeom prst="rect">
            <a:avLst/>
          </a:prstGeom>
          <a:noFill/>
          <a:ln/>
        </p:spPr>
        <p:txBody>
          <a:bodyPr wrap="square" rtlCol="0" anchor="ctr"/>
          <a:lstStyle/>
          <a:p>
            <a:pPr marL="0" indent="0" algn="ctr">
              <a:buNone/>
            </a:pPr>
            <a:r>
              <a:rPr lang="en-US" sz="1200" b="1" dirty="0">
                <a:solidFill>
                  <a:srgbClr val="1F4E79"/>
                </a:solidFill>
              </a:rPr>
              <a:t>2</a:t>
            </a:r>
            <a:endParaRPr lang="en-US" sz="1200" dirty="0"/>
          </a:p>
        </p:txBody>
      </p:sp>
      <p:sp>
        <p:nvSpPr>
          <p:cNvPr id="25" name="Text 23"/>
          <p:cNvSpPr/>
          <p:nvPr/>
        </p:nvSpPr>
        <p:spPr>
          <a:xfrm>
            <a:off x="3063240" y="960120"/>
            <a:ext cx="1325880" cy="457200"/>
          </a:xfrm>
          <a:prstGeom prst="rect">
            <a:avLst/>
          </a:prstGeom>
          <a:noFill/>
          <a:ln/>
        </p:spPr>
        <p:txBody>
          <a:bodyPr wrap="square" rtlCol="0" anchor="ctr"/>
          <a:lstStyle/>
          <a:p>
            <a:pPr marL="0" indent="0">
              <a:buNone/>
            </a:pPr>
            <a:r>
              <a:rPr lang="en-US" sz="1100" b="1" dirty="0">
                <a:solidFill>
                  <a:srgbClr val="FFFFFF"/>
                </a:solidFill>
              </a:rPr>
              <a:t>Modelling</a:t>
            </a:r>
            <a:endParaRPr lang="en-US" sz="1100" dirty="0"/>
          </a:p>
        </p:txBody>
      </p:sp>
      <p:sp>
        <p:nvSpPr>
          <p:cNvPr id="26" name="Shape 24"/>
          <p:cNvSpPr/>
          <p:nvPr/>
        </p:nvSpPr>
        <p:spPr>
          <a:xfrm>
            <a:off x="2697480" y="1700784"/>
            <a:ext cx="54864" cy="54864"/>
          </a:xfrm>
          <a:prstGeom prst="rect">
            <a:avLst/>
          </a:prstGeom>
          <a:solidFill>
            <a:srgbClr val="2E75B6"/>
          </a:solidFill>
          <a:ln w="12700">
            <a:solidFill>
              <a:srgbClr val="2E75B6"/>
            </a:solidFill>
            <a:prstDash val="solid"/>
          </a:ln>
        </p:spPr>
      </p:sp>
      <p:sp>
        <p:nvSpPr>
          <p:cNvPr id="27" name="Text 25"/>
          <p:cNvSpPr/>
          <p:nvPr/>
        </p:nvSpPr>
        <p:spPr>
          <a:xfrm>
            <a:off x="2816352" y="1554480"/>
            <a:ext cx="1554480" cy="365760"/>
          </a:xfrm>
          <a:prstGeom prst="rect">
            <a:avLst/>
          </a:prstGeom>
          <a:noFill/>
          <a:ln/>
        </p:spPr>
        <p:txBody>
          <a:bodyPr wrap="square" rtlCol="0" anchor="ctr"/>
          <a:lstStyle/>
          <a:p>
            <a:pPr marL="0" indent="0">
              <a:lnSpc>
                <a:spcPct val="130000"/>
              </a:lnSpc>
              <a:buNone/>
            </a:pPr>
            <a:r>
              <a:rPr lang="en-US" sz="1100" b="1" dirty="0">
                <a:solidFill>
                  <a:srgbClr val="374151"/>
                </a:solidFill>
              </a:rPr>
              <a:t>XGBoost (227 features)</a:t>
            </a:r>
            <a:endParaRPr lang="en-US" sz="1100" b="1" dirty="0"/>
          </a:p>
        </p:txBody>
      </p:sp>
      <p:sp>
        <p:nvSpPr>
          <p:cNvPr id="28" name="Shape 26"/>
          <p:cNvSpPr/>
          <p:nvPr/>
        </p:nvSpPr>
        <p:spPr>
          <a:xfrm>
            <a:off x="2697480" y="2112264"/>
            <a:ext cx="54864" cy="54864"/>
          </a:xfrm>
          <a:prstGeom prst="rect">
            <a:avLst/>
          </a:prstGeom>
          <a:solidFill>
            <a:srgbClr val="2E75B6"/>
          </a:solidFill>
          <a:ln w="12700">
            <a:solidFill>
              <a:srgbClr val="2E75B6"/>
            </a:solidFill>
            <a:prstDash val="solid"/>
          </a:ln>
        </p:spPr>
      </p:sp>
      <p:sp>
        <p:nvSpPr>
          <p:cNvPr id="29" name="Text 27"/>
          <p:cNvSpPr/>
          <p:nvPr/>
        </p:nvSpPr>
        <p:spPr>
          <a:xfrm>
            <a:off x="2816352" y="1965960"/>
            <a:ext cx="1554480" cy="365760"/>
          </a:xfrm>
          <a:prstGeom prst="rect">
            <a:avLst/>
          </a:prstGeom>
          <a:noFill/>
          <a:ln/>
        </p:spPr>
        <p:txBody>
          <a:bodyPr wrap="square" rtlCol="0" anchor="ctr"/>
          <a:lstStyle/>
          <a:p>
            <a:pPr marL="0" indent="0">
              <a:lnSpc>
                <a:spcPct val="130000"/>
              </a:lnSpc>
              <a:buNone/>
            </a:pPr>
            <a:r>
              <a:rPr lang="en-US" sz="1100" b="1" dirty="0">
                <a:solidFill>
                  <a:srgbClr val="374151"/>
                </a:solidFill>
              </a:rPr>
              <a:t>TCN (dilations 1·2·4·8)</a:t>
            </a:r>
            <a:endParaRPr lang="en-US" sz="1100" b="1" dirty="0"/>
          </a:p>
        </p:txBody>
      </p:sp>
      <p:sp>
        <p:nvSpPr>
          <p:cNvPr id="30" name="Shape 28"/>
          <p:cNvSpPr/>
          <p:nvPr/>
        </p:nvSpPr>
        <p:spPr>
          <a:xfrm>
            <a:off x="2697480" y="2523744"/>
            <a:ext cx="54864" cy="54864"/>
          </a:xfrm>
          <a:prstGeom prst="rect">
            <a:avLst/>
          </a:prstGeom>
          <a:solidFill>
            <a:srgbClr val="2E75B6"/>
          </a:solidFill>
          <a:ln w="12700">
            <a:solidFill>
              <a:srgbClr val="2E75B6"/>
            </a:solidFill>
            <a:prstDash val="solid"/>
          </a:ln>
        </p:spPr>
      </p:sp>
      <p:sp>
        <p:nvSpPr>
          <p:cNvPr id="31" name="Text 29"/>
          <p:cNvSpPr/>
          <p:nvPr/>
        </p:nvSpPr>
        <p:spPr>
          <a:xfrm>
            <a:off x="2816352" y="2377440"/>
            <a:ext cx="1709928" cy="365760"/>
          </a:xfrm>
          <a:prstGeom prst="rect">
            <a:avLst/>
          </a:prstGeom>
          <a:noFill/>
          <a:ln/>
        </p:spPr>
        <p:txBody>
          <a:bodyPr wrap="square" rtlCol="0" anchor="ctr"/>
          <a:lstStyle/>
          <a:p>
            <a:pPr marL="0" indent="0">
              <a:lnSpc>
                <a:spcPct val="130000"/>
              </a:lnSpc>
              <a:buNone/>
            </a:pPr>
            <a:r>
              <a:rPr lang="en-US" sz="1100" b="1" dirty="0">
                <a:solidFill>
                  <a:srgbClr val="374151"/>
                </a:solidFill>
              </a:rPr>
              <a:t>Time-Aware Transformer</a:t>
            </a:r>
            <a:endParaRPr lang="en-US" sz="1100" b="1" dirty="0"/>
          </a:p>
        </p:txBody>
      </p:sp>
      <p:sp>
        <p:nvSpPr>
          <p:cNvPr id="32" name="Text 30"/>
          <p:cNvSpPr/>
          <p:nvPr/>
        </p:nvSpPr>
        <p:spPr>
          <a:xfrm>
            <a:off x="4434840" y="1783080"/>
            <a:ext cx="164592" cy="274320"/>
          </a:xfrm>
          <a:prstGeom prst="rect">
            <a:avLst/>
          </a:prstGeom>
          <a:noFill/>
          <a:ln/>
        </p:spPr>
        <p:txBody>
          <a:bodyPr wrap="square" rtlCol="0" anchor="ctr"/>
          <a:lstStyle/>
          <a:p>
            <a:pPr marL="0" indent="0" algn="ctr">
              <a:buNone/>
            </a:pPr>
            <a:r>
              <a:rPr lang="en-US" sz="1800" b="1" dirty="0">
                <a:solidFill>
                  <a:srgbClr val="5B9BD5"/>
                </a:solidFill>
              </a:rPr>
              <a:t>▸</a:t>
            </a:r>
            <a:endParaRPr lang="en-US" sz="1800" dirty="0"/>
          </a:p>
        </p:txBody>
      </p:sp>
      <p:sp>
        <p:nvSpPr>
          <p:cNvPr id="33" name="Shape 31"/>
          <p:cNvSpPr/>
          <p:nvPr/>
        </p:nvSpPr>
        <p:spPr>
          <a:xfrm>
            <a:off x="4572000" y="960120"/>
            <a:ext cx="1874520" cy="1965960"/>
          </a:xfrm>
          <a:prstGeom prst="rect">
            <a:avLst/>
          </a:prstGeom>
          <a:solidFill>
            <a:srgbClr val="FFFFFF"/>
          </a:solidFill>
          <a:ln w="12700">
            <a:solidFill>
              <a:srgbClr val="D9E2F3"/>
            </a:solidFill>
            <a:prstDash val="solid"/>
          </a:ln>
        </p:spPr>
      </p:sp>
      <p:sp>
        <p:nvSpPr>
          <p:cNvPr id="34" name="Shape 32"/>
          <p:cNvSpPr/>
          <p:nvPr/>
        </p:nvSpPr>
        <p:spPr>
          <a:xfrm>
            <a:off x="4572000" y="960120"/>
            <a:ext cx="1874520" cy="457200"/>
          </a:xfrm>
          <a:prstGeom prst="rect">
            <a:avLst/>
          </a:prstGeom>
          <a:solidFill>
            <a:srgbClr val="1F4E79"/>
          </a:solidFill>
          <a:ln w="12700">
            <a:solidFill>
              <a:srgbClr val="1F4E79"/>
            </a:solidFill>
            <a:prstDash val="solid"/>
          </a:ln>
        </p:spPr>
      </p:sp>
      <p:sp>
        <p:nvSpPr>
          <p:cNvPr id="35" name="Shape 33"/>
          <p:cNvSpPr/>
          <p:nvPr/>
        </p:nvSpPr>
        <p:spPr>
          <a:xfrm>
            <a:off x="4709160" y="1033272"/>
            <a:ext cx="310896" cy="310896"/>
          </a:xfrm>
          <a:prstGeom prst="ellipse">
            <a:avLst/>
          </a:prstGeom>
          <a:solidFill>
            <a:srgbClr val="FFFFFF"/>
          </a:solidFill>
          <a:ln w="12700">
            <a:solidFill>
              <a:srgbClr val="FFFFFF"/>
            </a:solidFill>
            <a:prstDash val="solid"/>
          </a:ln>
        </p:spPr>
      </p:sp>
      <p:sp>
        <p:nvSpPr>
          <p:cNvPr id="36" name="Text 34"/>
          <p:cNvSpPr/>
          <p:nvPr/>
        </p:nvSpPr>
        <p:spPr>
          <a:xfrm>
            <a:off x="4709160" y="1033272"/>
            <a:ext cx="310896" cy="310896"/>
          </a:xfrm>
          <a:prstGeom prst="rect">
            <a:avLst/>
          </a:prstGeom>
          <a:noFill/>
          <a:ln/>
        </p:spPr>
        <p:txBody>
          <a:bodyPr wrap="square" rtlCol="0" anchor="ctr"/>
          <a:lstStyle/>
          <a:p>
            <a:pPr marL="0" indent="0" algn="ctr">
              <a:buNone/>
            </a:pPr>
            <a:r>
              <a:rPr lang="en-US" sz="1200" b="1" dirty="0">
                <a:solidFill>
                  <a:srgbClr val="1F4E79"/>
                </a:solidFill>
              </a:rPr>
              <a:t>3</a:t>
            </a:r>
            <a:endParaRPr lang="en-US" sz="1200" dirty="0"/>
          </a:p>
        </p:txBody>
      </p:sp>
      <p:sp>
        <p:nvSpPr>
          <p:cNvPr id="37" name="Text 35"/>
          <p:cNvSpPr/>
          <p:nvPr/>
        </p:nvSpPr>
        <p:spPr>
          <a:xfrm>
            <a:off x="5074920" y="960120"/>
            <a:ext cx="1325880" cy="457200"/>
          </a:xfrm>
          <a:prstGeom prst="rect">
            <a:avLst/>
          </a:prstGeom>
          <a:noFill/>
          <a:ln/>
        </p:spPr>
        <p:txBody>
          <a:bodyPr wrap="square" rtlCol="0" anchor="ctr"/>
          <a:lstStyle/>
          <a:p>
            <a:pPr marL="0" indent="0">
              <a:buNone/>
            </a:pPr>
            <a:r>
              <a:rPr lang="en-US" sz="1100" b="1" dirty="0">
                <a:solidFill>
                  <a:srgbClr val="FFFFFF"/>
                </a:solidFill>
              </a:rPr>
              <a:t>Time-step SHAP</a:t>
            </a:r>
            <a:endParaRPr lang="en-US" sz="1100" dirty="0"/>
          </a:p>
        </p:txBody>
      </p:sp>
      <p:sp>
        <p:nvSpPr>
          <p:cNvPr id="38" name="Shape 36"/>
          <p:cNvSpPr/>
          <p:nvPr/>
        </p:nvSpPr>
        <p:spPr>
          <a:xfrm>
            <a:off x="4709160" y="1700784"/>
            <a:ext cx="54864" cy="54864"/>
          </a:xfrm>
          <a:prstGeom prst="rect">
            <a:avLst/>
          </a:prstGeom>
          <a:solidFill>
            <a:srgbClr val="2E75B6"/>
          </a:solidFill>
          <a:ln w="12700">
            <a:solidFill>
              <a:srgbClr val="2E75B6"/>
            </a:solidFill>
            <a:prstDash val="solid"/>
          </a:ln>
        </p:spPr>
      </p:sp>
      <p:sp>
        <p:nvSpPr>
          <p:cNvPr id="39" name="Text 37"/>
          <p:cNvSpPr/>
          <p:nvPr/>
        </p:nvSpPr>
        <p:spPr>
          <a:xfrm>
            <a:off x="4828032" y="1554480"/>
            <a:ext cx="1691640" cy="365760"/>
          </a:xfrm>
          <a:prstGeom prst="rect">
            <a:avLst/>
          </a:prstGeom>
          <a:noFill/>
          <a:ln/>
        </p:spPr>
        <p:txBody>
          <a:bodyPr wrap="square" rtlCol="0" anchor="ctr"/>
          <a:lstStyle/>
          <a:p>
            <a:pPr marL="0" indent="0">
              <a:lnSpc>
                <a:spcPct val="130000"/>
              </a:lnSpc>
              <a:buNone/>
            </a:pPr>
            <a:r>
              <a:rPr lang="en-US" sz="1100" b="1" dirty="0">
                <a:solidFill>
                  <a:srgbClr val="374151"/>
                </a:solidFill>
              </a:rPr>
              <a:t>TreeSHAP on flat features</a:t>
            </a:r>
            <a:endParaRPr lang="en-US" sz="1100" b="1" dirty="0"/>
          </a:p>
        </p:txBody>
      </p:sp>
      <p:sp>
        <p:nvSpPr>
          <p:cNvPr id="40" name="Shape 38"/>
          <p:cNvSpPr/>
          <p:nvPr/>
        </p:nvSpPr>
        <p:spPr>
          <a:xfrm>
            <a:off x="4709160" y="2112264"/>
            <a:ext cx="54864" cy="54864"/>
          </a:xfrm>
          <a:prstGeom prst="rect">
            <a:avLst/>
          </a:prstGeom>
          <a:solidFill>
            <a:srgbClr val="2E75B6"/>
          </a:solidFill>
          <a:ln w="12700">
            <a:solidFill>
              <a:srgbClr val="2E75B6"/>
            </a:solidFill>
            <a:prstDash val="solid"/>
          </a:ln>
        </p:spPr>
      </p:sp>
      <p:sp>
        <p:nvSpPr>
          <p:cNvPr id="41" name="Text 39"/>
          <p:cNvSpPr/>
          <p:nvPr/>
        </p:nvSpPr>
        <p:spPr>
          <a:xfrm>
            <a:off x="4828032" y="1965960"/>
            <a:ext cx="1618488" cy="365760"/>
          </a:xfrm>
          <a:prstGeom prst="rect">
            <a:avLst/>
          </a:prstGeom>
          <a:noFill/>
          <a:ln/>
        </p:spPr>
        <p:txBody>
          <a:bodyPr wrap="square" rtlCol="0" anchor="ctr"/>
          <a:lstStyle/>
          <a:p>
            <a:pPr marL="0" indent="0">
              <a:lnSpc>
                <a:spcPct val="130000"/>
              </a:lnSpc>
              <a:buNone/>
            </a:pPr>
            <a:r>
              <a:rPr lang="en-US" sz="1100" b="1" dirty="0">
                <a:solidFill>
                  <a:srgbClr val="374151"/>
                </a:solidFill>
              </a:rPr>
              <a:t>Redistribute Φ over 48 h</a:t>
            </a:r>
            <a:endParaRPr lang="en-US" sz="1100" b="1" dirty="0"/>
          </a:p>
        </p:txBody>
      </p:sp>
      <p:sp>
        <p:nvSpPr>
          <p:cNvPr id="42" name="Shape 40"/>
          <p:cNvSpPr/>
          <p:nvPr/>
        </p:nvSpPr>
        <p:spPr>
          <a:xfrm>
            <a:off x="4709160" y="2523744"/>
            <a:ext cx="54864" cy="54864"/>
          </a:xfrm>
          <a:prstGeom prst="rect">
            <a:avLst/>
          </a:prstGeom>
          <a:solidFill>
            <a:srgbClr val="2E75B6"/>
          </a:solidFill>
          <a:ln w="12700">
            <a:solidFill>
              <a:srgbClr val="2E75B6"/>
            </a:solidFill>
            <a:prstDash val="solid"/>
          </a:ln>
        </p:spPr>
      </p:sp>
      <p:sp>
        <p:nvSpPr>
          <p:cNvPr id="43" name="Text 41"/>
          <p:cNvSpPr/>
          <p:nvPr/>
        </p:nvSpPr>
        <p:spPr>
          <a:xfrm>
            <a:off x="4828032" y="2377440"/>
            <a:ext cx="1554480" cy="365760"/>
          </a:xfrm>
          <a:prstGeom prst="rect">
            <a:avLst/>
          </a:prstGeom>
          <a:noFill/>
          <a:ln/>
        </p:spPr>
        <p:txBody>
          <a:bodyPr wrap="square" rtlCol="0" anchor="ctr"/>
          <a:lstStyle/>
          <a:p>
            <a:pPr marL="0" indent="0">
              <a:lnSpc>
                <a:spcPct val="130000"/>
              </a:lnSpc>
              <a:buNone/>
            </a:pPr>
            <a:r>
              <a:rPr lang="en-US" sz="1100" b="1" dirty="0">
                <a:solidFill>
                  <a:srgbClr val="374151"/>
                </a:solidFill>
              </a:rPr>
              <a:t>Weighted by | X[h,v] |</a:t>
            </a:r>
            <a:endParaRPr lang="en-US" sz="1100" b="1" dirty="0"/>
          </a:p>
        </p:txBody>
      </p:sp>
      <p:sp>
        <p:nvSpPr>
          <p:cNvPr id="44" name="Text 42"/>
          <p:cNvSpPr/>
          <p:nvPr/>
        </p:nvSpPr>
        <p:spPr>
          <a:xfrm>
            <a:off x="6446520" y="1783080"/>
            <a:ext cx="164592" cy="274320"/>
          </a:xfrm>
          <a:prstGeom prst="rect">
            <a:avLst/>
          </a:prstGeom>
          <a:noFill/>
          <a:ln/>
        </p:spPr>
        <p:txBody>
          <a:bodyPr wrap="square" rtlCol="0" anchor="ctr"/>
          <a:lstStyle/>
          <a:p>
            <a:pPr marL="0" indent="0" algn="ctr">
              <a:buNone/>
            </a:pPr>
            <a:r>
              <a:rPr lang="en-US" sz="1800" b="1" dirty="0">
                <a:solidFill>
                  <a:srgbClr val="5B9BD5"/>
                </a:solidFill>
              </a:rPr>
              <a:t>▸</a:t>
            </a:r>
            <a:endParaRPr lang="en-US" sz="1800" dirty="0"/>
          </a:p>
        </p:txBody>
      </p:sp>
      <p:sp>
        <p:nvSpPr>
          <p:cNvPr id="45" name="Shape 43"/>
          <p:cNvSpPr/>
          <p:nvPr/>
        </p:nvSpPr>
        <p:spPr>
          <a:xfrm>
            <a:off x="6583680" y="960120"/>
            <a:ext cx="2011680" cy="1965960"/>
          </a:xfrm>
          <a:prstGeom prst="rect">
            <a:avLst/>
          </a:prstGeom>
          <a:solidFill>
            <a:srgbClr val="FFFFFF"/>
          </a:solidFill>
          <a:ln w="12700">
            <a:solidFill>
              <a:srgbClr val="D9E2F3"/>
            </a:solidFill>
            <a:prstDash val="solid"/>
          </a:ln>
        </p:spPr>
      </p:sp>
      <p:sp>
        <p:nvSpPr>
          <p:cNvPr id="46" name="Shape 44"/>
          <p:cNvSpPr/>
          <p:nvPr/>
        </p:nvSpPr>
        <p:spPr>
          <a:xfrm>
            <a:off x="6583680" y="960120"/>
            <a:ext cx="1874520" cy="457200"/>
          </a:xfrm>
          <a:prstGeom prst="rect">
            <a:avLst/>
          </a:prstGeom>
          <a:solidFill>
            <a:srgbClr val="1F4E79"/>
          </a:solidFill>
          <a:ln w="12700">
            <a:solidFill>
              <a:srgbClr val="1F4E79"/>
            </a:solidFill>
            <a:prstDash val="solid"/>
          </a:ln>
        </p:spPr>
      </p:sp>
      <p:sp>
        <p:nvSpPr>
          <p:cNvPr id="47" name="Shape 45"/>
          <p:cNvSpPr/>
          <p:nvPr/>
        </p:nvSpPr>
        <p:spPr>
          <a:xfrm>
            <a:off x="6720840" y="1033272"/>
            <a:ext cx="310896" cy="310896"/>
          </a:xfrm>
          <a:prstGeom prst="ellipse">
            <a:avLst/>
          </a:prstGeom>
          <a:solidFill>
            <a:srgbClr val="FFFFFF"/>
          </a:solidFill>
          <a:ln w="12700">
            <a:solidFill>
              <a:srgbClr val="FFFFFF"/>
            </a:solidFill>
            <a:prstDash val="solid"/>
          </a:ln>
        </p:spPr>
      </p:sp>
      <p:sp>
        <p:nvSpPr>
          <p:cNvPr id="48" name="Text 46"/>
          <p:cNvSpPr/>
          <p:nvPr/>
        </p:nvSpPr>
        <p:spPr>
          <a:xfrm>
            <a:off x="6720840" y="1033272"/>
            <a:ext cx="310896" cy="310896"/>
          </a:xfrm>
          <a:prstGeom prst="rect">
            <a:avLst/>
          </a:prstGeom>
          <a:noFill/>
          <a:ln/>
        </p:spPr>
        <p:txBody>
          <a:bodyPr wrap="square" rtlCol="0" anchor="ctr"/>
          <a:lstStyle/>
          <a:p>
            <a:pPr marL="0" indent="0" algn="ctr">
              <a:buNone/>
            </a:pPr>
            <a:r>
              <a:rPr lang="en-US" sz="1200" b="1" dirty="0">
                <a:solidFill>
                  <a:srgbClr val="1F4E79"/>
                </a:solidFill>
              </a:rPr>
              <a:t>4</a:t>
            </a:r>
            <a:endParaRPr lang="en-US" sz="1200" dirty="0"/>
          </a:p>
        </p:txBody>
      </p:sp>
      <p:sp>
        <p:nvSpPr>
          <p:cNvPr id="49" name="Text 47"/>
          <p:cNvSpPr/>
          <p:nvPr/>
        </p:nvSpPr>
        <p:spPr>
          <a:xfrm>
            <a:off x="7086600" y="960120"/>
            <a:ext cx="1325880" cy="457200"/>
          </a:xfrm>
          <a:prstGeom prst="rect">
            <a:avLst/>
          </a:prstGeom>
          <a:noFill/>
          <a:ln/>
        </p:spPr>
        <p:txBody>
          <a:bodyPr wrap="square" rtlCol="0" anchor="ctr"/>
          <a:lstStyle/>
          <a:p>
            <a:pPr marL="0" indent="0">
              <a:buNone/>
            </a:pPr>
            <a:r>
              <a:rPr lang="en-US" sz="1100" b="1" dirty="0">
                <a:solidFill>
                  <a:srgbClr val="FFFFFF"/>
                </a:solidFill>
              </a:rPr>
              <a:t>Clinical validation</a:t>
            </a:r>
            <a:endParaRPr lang="en-US" sz="1100" dirty="0"/>
          </a:p>
        </p:txBody>
      </p:sp>
      <p:sp>
        <p:nvSpPr>
          <p:cNvPr id="50" name="Shape 48"/>
          <p:cNvSpPr/>
          <p:nvPr/>
        </p:nvSpPr>
        <p:spPr>
          <a:xfrm>
            <a:off x="6720840" y="1700784"/>
            <a:ext cx="54864" cy="54864"/>
          </a:xfrm>
          <a:prstGeom prst="rect">
            <a:avLst/>
          </a:prstGeom>
          <a:solidFill>
            <a:srgbClr val="2E75B6"/>
          </a:solidFill>
          <a:ln w="12700">
            <a:solidFill>
              <a:srgbClr val="2E75B6"/>
            </a:solidFill>
            <a:prstDash val="solid"/>
          </a:ln>
        </p:spPr>
      </p:sp>
      <p:sp>
        <p:nvSpPr>
          <p:cNvPr id="51" name="Text 49"/>
          <p:cNvSpPr/>
          <p:nvPr/>
        </p:nvSpPr>
        <p:spPr>
          <a:xfrm>
            <a:off x="6839712" y="1554480"/>
            <a:ext cx="1920240" cy="365760"/>
          </a:xfrm>
          <a:prstGeom prst="rect">
            <a:avLst/>
          </a:prstGeom>
          <a:noFill/>
          <a:ln/>
        </p:spPr>
        <p:txBody>
          <a:bodyPr wrap="square" rtlCol="0" anchor="ctr"/>
          <a:lstStyle/>
          <a:p>
            <a:pPr marL="0" indent="0">
              <a:lnSpc>
                <a:spcPct val="130000"/>
              </a:lnSpc>
              <a:buNone/>
            </a:pPr>
            <a:r>
              <a:rPr lang="en-US" sz="1100" b="1" dirty="0">
                <a:solidFill>
                  <a:srgbClr val="374151"/>
                </a:solidFill>
              </a:rPr>
              <a:t>SOFA / SAPS-I concordance</a:t>
            </a:r>
            <a:endParaRPr lang="en-US" sz="1100" b="1" dirty="0"/>
          </a:p>
        </p:txBody>
      </p:sp>
      <p:sp>
        <p:nvSpPr>
          <p:cNvPr id="52" name="Shape 50"/>
          <p:cNvSpPr/>
          <p:nvPr/>
        </p:nvSpPr>
        <p:spPr>
          <a:xfrm>
            <a:off x="6720840" y="2112264"/>
            <a:ext cx="54864" cy="54864"/>
          </a:xfrm>
          <a:prstGeom prst="rect">
            <a:avLst/>
          </a:prstGeom>
          <a:solidFill>
            <a:srgbClr val="2E75B6"/>
          </a:solidFill>
          <a:ln w="12700">
            <a:solidFill>
              <a:srgbClr val="2E75B6"/>
            </a:solidFill>
            <a:prstDash val="solid"/>
          </a:ln>
        </p:spPr>
      </p:sp>
      <p:sp>
        <p:nvSpPr>
          <p:cNvPr id="53" name="Text 51"/>
          <p:cNvSpPr/>
          <p:nvPr/>
        </p:nvSpPr>
        <p:spPr>
          <a:xfrm>
            <a:off x="6839712" y="1965960"/>
            <a:ext cx="1728216" cy="365760"/>
          </a:xfrm>
          <a:prstGeom prst="rect">
            <a:avLst/>
          </a:prstGeom>
          <a:noFill/>
          <a:ln/>
        </p:spPr>
        <p:txBody>
          <a:bodyPr wrap="square" rtlCol="0" anchor="ctr"/>
          <a:lstStyle/>
          <a:p>
            <a:pPr marL="0" indent="0">
              <a:lnSpc>
                <a:spcPct val="130000"/>
              </a:lnSpc>
              <a:buNone/>
            </a:pPr>
            <a:r>
              <a:rPr lang="en-US" sz="1100" b="1" dirty="0">
                <a:solidFill>
                  <a:srgbClr val="374151"/>
                </a:solidFill>
              </a:rPr>
              <a:t>Spearman ρ vs calibration</a:t>
            </a:r>
            <a:endParaRPr lang="en-US" sz="1100" b="1" dirty="0"/>
          </a:p>
        </p:txBody>
      </p:sp>
      <p:sp>
        <p:nvSpPr>
          <p:cNvPr id="54" name="Shape 52"/>
          <p:cNvSpPr/>
          <p:nvPr/>
        </p:nvSpPr>
        <p:spPr>
          <a:xfrm>
            <a:off x="6720840" y="2523744"/>
            <a:ext cx="54864" cy="54864"/>
          </a:xfrm>
          <a:prstGeom prst="rect">
            <a:avLst/>
          </a:prstGeom>
          <a:solidFill>
            <a:srgbClr val="2E75B6"/>
          </a:solidFill>
          <a:ln w="12700">
            <a:solidFill>
              <a:srgbClr val="2E75B6"/>
            </a:solidFill>
            <a:prstDash val="solid"/>
          </a:ln>
        </p:spPr>
      </p:sp>
      <p:sp>
        <p:nvSpPr>
          <p:cNvPr id="55" name="Text 53"/>
          <p:cNvSpPr/>
          <p:nvPr/>
        </p:nvSpPr>
        <p:spPr>
          <a:xfrm>
            <a:off x="6839712" y="2377440"/>
            <a:ext cx="1554480" cy="365760"/>
          </a:xfrm>
          <a:prstGeom prst="rect">
            <a:avLst/>
          </a:prstGeom>
          <a:noFill/>
          <a:ln/>
        </p:spPr>
        <p:txBody>
          <a:bodyPr wrap="square" rtlCol="0" anchor="ctr"/>
          <a:lstStyle/>
          <a:p>
            <a:pPr marL="0" indent="0">
              <a:lnSpc>
                <a:spcPct val="130000"/>
              </a:lnSpc>
              <a:buNone/>
            </a:pPr>
            <a:r>
              <a:rPr lang="en-US" sz="1100" b="1" dirty="0">
                <a:solidFill>
                  <a:srgbClr val="374151"/>
                </a:solidFill>
              </a:rPr>
              <a:t>4-variant ablation</a:t>
            </a:r>
            <a:endParaRPr lang="en-US" sz="1100" b="1" dirty="0"/>
          </a:p>
        </p:txBody>
      </p:sp>
      <p:sp>
        <p:nvSpPr>
          <p:cNvPr id="56" name="Text 54"/>
          <p:cNvSpPr/>
          <p:nvPr/>
        </p:nvSpPr>
        <p:spPr>
          <a:xfrm>
            <a:off x="640080" y="3200400"/>
            <a:ext cx="7680960" cy="292608"/>
          </a:xfrm>
          <a:prstGeom prst="rect">
            <a:avLst/>
          </a:prstGeom>
          <a:noFill/>
          <a:ln/>
        </p:spPr>
        <p:txBody>
          <a:bodyPr wrap="square" rtlCol="0" anchor="ctr"/>
          <a:lstStyle/>
          <a:p>
            <a:pPr marL="0" indent="0">
              <a:buNone/>
            </a:pPr>
            <a:r>
              <a:rPr lang="en-US" sz="1300" b="1" kern="0" spc="200" dirty="0">
                <a:solidFill>
                  <a:srgbClr val="0F2C4F"/>
                </a:solidFill>
              </a:rPr>
              <a:t>NOVELTY  IN  THE  PIPELINE</a:t>
            </a:r>
            <a:endParaRPr lang="en-US" sz="1300" b="1" dirty="0"/>
          </a:p>
        </p:txBody>
      </p:sp>
      <p:sp>
        <p:nvSpPr>
          <p:cNvPr id="57" name="Shape 55"/>
          <p:cNvSpPr/>
          <p:nvPr/>
        </p:nvSpPr>
        <p:spPr>
          <a:xfrm>
            <a:off x="640080" y="3511296"/>
            <a:ext cx="1371600" cy="27432"/>
          </a:xfrm>
          <a:prstGeom prst="rect">
            <a:avLst/>
          </a:prstGeom>
          <a:solidFill>
            <a:srgbClr val="2E75B6"/>
          </a:solidFill>
          <a:ln w="12700">
            <a:solidFill>
              <a:srgbClr val="2E75B6"/>
            </a:solidFill>
            <a:prstDash val="solid"/>
          </a:ln>
        </p:spPr>
      </p:sp>
      <p:sp>
        <p:nvSpPr>
          <p:cNvPr id="58" name="Shape 56"/>
          <p:cNvSpPr/>
          <p:nvPr/>
        </p:nvSpPr>
        <p:spPr>
          <a:xfrm>
            <a:off x="640080" y="3703320"/>
            <a:ext cx="3749040" cy="1325880"/>
          </a:xfrm>
          <a:prstGeom prst="rect">
            <a:avLst/>
          </a:prstGeom>
          <a:solidFill>
            <a:srgbClr val="F5F8FC"/>
          </a:solidFill>
          <a:ln w="12700">
            <a:solidFill>
              <a:srgbClr val="4472C4"/>
            </a:solidFill>
            <a:prstDash val="solid"/>
          </a:ln>
        </p:spPr>
      </p:sp>
      <p:sp>
        <p:nvSpPr>
          <p:cNvPr id="59" name="Text 57"/>
          <p:cNvSpPr/>
          <p:nvPr/>
        </p:nvSpPr>
        <p:spPr>
          <a:xfrm>
            <a:off x="777240" y="3776472"/>
            <a:ext cx="3474720" cy="274320"/>
          </a:xfrm>
          <a:prstGeom prst="rect">
            <a:avLst/>
          </a:prstGeom>
          <a:noFill/>
          <a:ln/>
        </p:spPr>
        <p:txBody>
          <a:bodyPr wrap="square" rtlCol="0" anchor="ctr"/>
          <a:lstStyle/>
          <a:p>
            <a:pPr marL="0" indent="0">
              <a:buNone/>
            </a:pPr>
            <a:r>
              <a:rPr lang="en-US" sz="1200" b="1" dirty="0">
                <a:solidFill>
                  <a:srgbClr val="0F2C4F"/>
                </a:solidFill>
                <a:latin typeface="Georgia" pitchFamily="34" charset="0"/>
                <a:ea typeface="Georgia" pitchFamily="34" charset="-122"/>
                <a:cs typeface="Georgia" pitchFamily="34" charset="-120"/>
              </a:rPr>
              <a:t>★  Time-Aware Transformer</a:t>
            </a:r>
            <a:endParaRPr lang="en-US" sz="1200" dirty="0"/>
          </a:p>
        </p:txBody>
      </p:sp>
      <p:sp>
        <p:nvSpPr>
          <p:cNvPr id="60" name="Text 58"/>
          <p:cNvSpPr/>
          <p:nvPr/>
        </p:nvSpPr>
        <p:spPr>
          <a:xfrm>
            <a:off x="777240" y="4069080"/>
            <a:ext cx="3474720" cy="749808"/>
          </a:xfrm>
          <a:prstGeom prst="rect">
            <a:avLst/>
          </a:prstGeom>
          <a:noFill/>
          <a:ln/>
        </p:spPr>
        <p:txBody>
          <a:bodyPr wrap="square" rtlCol="0" anchor="ctr"/>
          <a:lstStyle/>
          <a:p>
            <a:pPr marL="0" indent="0">
              <a:lnSpc>
                <a:spcPct val="130000"/>
              </a:lnSpc>
              <a:buNone/>
            </a:pPr>
            <a:r>
              <a:rPr lang="en-US" sz="1100" b="1" dirty="0">
                <a:solidFill>
                  <a:srgbClr val="374151"/>
                </a:solidFill>
              </a:rPr>
              <a:t>Missingness-aware (48 × 74) input · learnable sinusoidal positional encoding · CLS-token classification head · focal loss for imbalanced cohort. Designed for irregularly-sampled critical-care data.</a:t>
            </a:r>
            <a:endParaRPr lang="en-US" sz="1100" b="1" dirty="0"/>
          </a:p>
        </p:txBody>
      </p:sp>
      <p:sp>
        <p:nvSpPr>
          <p:cNvPr id="61" name="Shape 59"/>
          <p:cNvSpPr/>
          <p:nvPr/>
        </p:nvSpPr>
        <p:spPr>
          <a:xfrm>
            <a:off x="4572000" y="3703320"/>
            <a:ext cx="3749040" cy="1325880"/>
          </a:xfrm>
          <a:prstGeom prst="rect">
            <a:avLst/>
          </a:prstGeom>
          <a:solidFill>
            <a:srgbClr val="F5F8FC"/>
          </a:solidFill>
          <a:ln w="12700">
            <a:solidFill>
              <a:srgbClr val="4472C4"/>
            </a:solidFill>
            <a:prstDash val="solid"/>
          </a:ln>
        </p:spPr>
      </p:sp>
      <p:sp>
        <p:nvSpPr>
          <p:cNvPr id="62" name="Text 60"/>
          <p:cNvSpPr/>
          <p:nvPr/>
        </p:nvSpPr>
        <p:spPr>
          <a:xfrm>
            <a:off x="4709160" y="3776472"/>
            <a:ext cx="3474720" cy="274320"/>
          </a:xfrm>
          <a:prstGeom prst="rect">
            <a:avLst/>
          </a:prstGeom>
          <a:noFill/>
          <a:ln/>
        </p:spPr>
        <p:txBody>
          <a:bodyPr wrap="square" rtlCol="0" anchor="ctr"/>
          <a:lstStyle/>
          <a:p>
            <a:pPr marL="0" indent="0">
              <a:buNone/>
            </a:pPr>
            <a:r>
              <a:rPr lang="en-US" sz="1200" b="1" dirty="0">
                <a:solidFill>
                  <a:srgbClr val="0F2C4F"/>
                </a:solidFill>
                <a:latin typeface="Georgia" pitchFamily="34" charset="0"/>
                <a:ea typeface="Georgia" pitchFamily="34" charset="-122"/>
                <a:cs typeface="Georgia" pitchFamily="34" charset="-120"/>
              </a:rPr>
              <a:t>★  Time-Step SHAP Redistribution</a:t>
            </a:r>
            <a:endParaRPr lang="en-US" sz="1200" dirty="0"/>
          </a:p>
        </p:txBody>
      </p:sp>
      <p:sp>
        <p:nvSpPr>
          <p:cNvPr id="63" name="Text 61"/>
          <p:cNvSpPr/>
          <p:nvPr/>
        </p:nvSpPr>
        <p:spPr>
          <a:xfrm>
            <a:off x="4709160" y="4069080"/>
            <a:ext cx="3474720" cy="731520"/>
          </a:xfrm>
          <a:prstGeom prst="rect">
            <a:avLst/>
          </a:prstGeom>
          <a:noFill/>
          <a:ln/>
        </p:spPr>
        <p:txBody>
          <a:bodyPr wrap="square" rtlCol="0" anchor="ctr"/>
          <a:lstStyle/>
          <a:p>
            <a:pPr marL="0" indent="0">
              <a:lnSpc>
                <a:spcPct val="130000"/>
              </a:lnSpc>
              <a:buNone/>
            </a:pPr>
            <a:r>
              <a:rPr lang="en-US" sz="1100" b="1" dirty="0">
                <a:solidFill>
                  <a:srgbClr val="374151"/>
                </a:solidFill>
              </a:rPr>
              <a:t>TreeSHAP gives one Φ per flat feature → temporal axis is lost. We sum Φ across the 5 stats per variable, then redistribute over 48 hours weighted by | X[h, v] |. Conservation and locality preserved.</a:t>
            </a:r>
            <a:endParaRPr lang="en-US" sz="1100" b="1" dirty="0"/>
          </a:p>
        </p:txBody>
      </p:sp>
      <p:sp>
        <p:nvSpPr>
          <p:cNvPr id="64" name="Freeform 11">
            <a:extLst>
              <a:ext uri="{FF2B5EF4-FFF2-40B4-BE49-F238E27FC236}">
                <a16:creationId xmlns:a16="http://schemas.microsoft.com/office/drawing/2014/main" id="{5543BC2C-A0AC-1A60-2249-5B6969330FEA}"/>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10</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Training Convergence  —  Both Deep Models</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13" name="Shape 9"/>
          <p:cNvSpPr/>
          <p:nvPr/>
        </p:nvSpPr>
        <p:spPr>
          <a:xfrm>
            <a:off x="6400800" y="1042416"/>
            <a:ext cx="2697480" cy="3694176"/>
          </a:xfrm>
          <a:prstGeom prst="rect">
            <a:avLst/>
          </a:prstGeom>
          <a:solidFill>
            <a:srgbClr val="F5F8FC"/>
          </a:solidFill>
          <a:ln w="12700">
            <a:solidFill>
              <a:srgbClr val="D9E2F3"/>
            </a:solidFill>
            <a:prstDash val="solid"/>
          </a:ln>
        </p:spPr>
        <p:txBody>
          <a:bodyPr/>
          <a:lstStyle/>
          <a:p>
            <a:endParaRPr lang="en-PK" dirty="0"/>
          </a:p>
        </p:txBody>
      </p:sp>
      <p:sp>
        <p:nvSpPr>
          <p:cNvPr id="14" name="Text 10"/>
          <p:cNvSpPr/>
          <p:nvPr/>
        </p:nvSpPr>
        <p:spPr>
          <a:xfrm>
            <a:off x="6492240" y="1133856"/>
            <a:ext cx="2560320" cy="256032"/>
          </a:xfrm>
          <a:prstGeom prst="rect">
            <a:avLst/>
          </a:prstGeom>
          <a:noFill/>
          <a:ln/>
        </p:spPr>
        <p:txBody>
          <a:bodyPr wrap="square" rtlCol="0" anchor="ctr"/>
          <a:lstStyle/>
          <a:p>
            <a:pPr marL="0" indent="0">
              <a:buNone/>
            </a:pPr>
            <a:r>
              <a:rPr lang="en-US" sz="1200" b="1" kern="0" spc="150" dirty="0">
                <a:solidFill>
                  <a:srgbClr val="0F2C4F"/>
                </a:solidFill>
              </a:rPr>
              <a:t>TRAINING PROTOCOL</a:t>
            </a:r>
            <a:endParaRPr lang="en-US" sz="1200" dirty="0"/>
          </a:p>
        </p:txBody>
      </p:sp>
      <p:sp>
        <p:nvSpPr>
          <p:cNvPr id="15" name="Shape 11"/>
          <p:cNvSpPr/>
          <p:nvPr/>
        </p:nvSpPr>
        <p:spPr>
          <a:xfrm>
            <a:off x="6606540" y="1385316"/>
            <a:ext cx="457200" cy="27432"/>
          </a:xfrm>
          <a:prstGeom prst="rect">
            <a:avLst/>
          </a:prstGeom>
          <a:solidFill>
            <a:srgbClr val="2E75B6"/>
          </a:solidFill>
          <a:ln w="12700">
            <a:solidFill>
              <a:srgbClr val="2E75B6"/>
            </a:solidFill>
            <a:prstDash val="solid"/>
          </a:ln>
        </p:spPr>
      </p:sp>
      <p:sp>
        <p:nvSpPr>
          <p:cNvPr id="16" name="Text 12"/>
          <p:cNvSpPr/>
          <p:nvPr/>
        </p:nvSpPr>
        <p:spPr>
          <a:xfrm>
            <a:off x="6492240" y="1545336"/>
            <a:ext cx="1143000" cy="320040"/>
          </a:xfrm>
          <a:prstGeom prst="rect">
            <a:avLst/>
          </a:prstGeom>
          <a:noFill/>
          <a:ln/>
        </p:spPr>
        <p:txBody>
          <a:bodyPr wrap="square" rtlCol="0" anchor="ctr"/>
          <a:lstStyle/>
          <a:p>
            <a:pPr marL="0" indent="0">
              <a:buNone/>
            </a:pPr>
            <a:r>
              <a:rPr lang="en-US" sz="1100" b="1" dirty="0">
                <a:solidFill>
                  <a:srgbClr val="1F4E79"/>
                </a:solidFill>
              </a:rPr>
              <a:t>Optimizer</a:t>
            </a:r>
            <a:endParaRPr lang="en-US" sz="1100" b="1" dirty="0"/>
          </a:p>
        </p:txBody>
      </p:sp>
      <p:sp>
        <p:nvSpPr>
          <p:cNvPr id="17" name="Text 13"/>
          <p:cNvSpPr/>
          <p:nvPr/>
        </p:nvSpPr>
        <p:spPr>
          <a:xfrm>
            <a:off x="7680960" y="1545336"/>
            <a:ext cx="1417320" cy="320040"/>
          </a:xfrm>
          <a:prstGeom prst="rect">
            <a:avLst/>
          </a:prstGeom>
          <a:noFill/>
          <a:ln/>
        </p:spPr>
        <p:txBody>
          <a:bodyPr wrap="square" rtlCol="0" anchor="ctr"/>
          <a:lstStyle/>
          <a:p>
            <a:pPr marL="0" indent="0">
              <a:buNone/>
            </a:pPr>
            <a:r>
              <a:rPr lang="en-US" sz="1100" b="1" dirty="0">
                <a:solidFill>
                  <a:srgbClr val="374151"/>
                </a:solidFill>
              </a:rPr>
              <a:t>Adam (lr 3e-4)</a:t>
            </a:r>
            <a:endParaRPr lang="en-US" sz="1100" b="1" dirty="0"/>
          </a:p>
        </p:txBody>
      </p:sp>
      <p:sp>
        <p:nvSpPr>
          <p:cNvPr id="18" name="Text 14"/>
          <p:cNvSpPr/>
          <p:nvPr/>
        </p:nvSpPr>
        <p:spPr>
          <a:xfrm>
            <a:off x="6492240" y="1929384"/>
            <a:ext cx="1143000" cy="320040"/>
          </a:xfrm>
          <a:prstGeom prst="rect">
            <a:avLst/>
          </a:prstGeom>
          <a:noFill/>
          <a:ln/>
        </p:spPr>
        <p:txBody>
          <a:bodyPr wrap="square" rtlCol="0" anchor="ctr"/>
          <a:lstStyle/>
          <a:p>
            <a:pPr marL="0" indent="0">
              <a:buNone/>
            </a:pPr>
            <a:r>
              <a:rPr lang="en-US" sz="1100" b="1" dirty="0">
                <a:solidFill>
                  <a:srgbClr val="1F4E79"/>
                </a:solidFill>
              </a:rPr>
              <a:t>Loss</a:t>
            </a:r>
            <a:endParaRPr lang="en-US" sz="1100" b="1" dirty="0"/>
          </a:p>
        </p:txBody>
      </p:sp>
      <p:sp>
        <p:nvSpPr>
          <p:cNvPr id="19" name="Text 15"/>
          <p:cNvSpPr/>
          <p:nvPr/>
        </p:nvSpPr>
        <p:spPr>
          <a:xfrm>
            <a:off x="7680960" y="1929384"/>
            <a:ext cx="1417320" cy="320040"/>
          </a:xfrm>
          <a:prstGeom prst="rect">
            <a:avLst/>
          </a:prstGeom>
          <a:noFill/>
          <a:ln/>
        </p:spPr>
        <p:txBody>
          <a:bodyPr wrap="square" rtlCol="0" anchor="ctr"/>
          <a:lstStyle/>
          <a:p>
            <a:pPr marL="0" indent="0">
              <a:buNone/>
            </a:pPr>
            <a:r>
              <a:rPr lang="en-US" sz="1100" b="1" dirty="0">
                <a:solidFill>
                  <a:srgbClr val="374151"/>
                </a:solidFill>
              </a:rPr>
              <a:t>Focal γ=2  α=0.861</a:t>
            </a:r>
            <a:endParaRPr lang="en-US" sz="1100" b="1" dirty="0"/>
          </a:p>
        </p:txBody>
      </p:sp>
      <p:sp>
        <p:nvSpPr>
          <p:cNvPr id="20" name="Text 16"/>
          <p:cNvSpPr/>
          <p:nvPr/>
        </p:nvSpPr>
        <p:spPr>
          <a:xfrm>
            <a:off x="6492240" y="2313432"/>
            <a:ext cx="1143000" cy="320040"/>
          </a:xfrm>
          <a:prstGeom prst="rect">
            <a:avLst/>
          </a:prstGeom>
          <a:noFill/>
          <a:ln/>
        </p:spPr>
        <p:txBody>
          <a:bodyPr wrap="square" rtlCol="0" anchor="ctr"/>
          <a:lstStyle/>
          <a:p>
            <a:pPr marL="0" indent="0">
              <a:buNone/>
            </a:pPr>
            <a:r>
              <a:rPr lang="en-US" sz="1100" b="1" dirty="0">
                <a:solidFill>
                  <a:srgbClr val="1F4E79"/>
                </a:solidFill>
              </a:rPr>
              <a:t>Batch size</a:t>
            </a:r>
            <a:endParaRPr lang="en-US" sz="1100" b="1" dirty="0"/>
          </a:p>
        </p:txBody>
      </p:sp>
      <p:sp>
        <p:nvSpPr>
          <p:cNvPr id="21" name="Text 17"/>
          <p:cNvSpPr/>
          <p:nvPr/>
        </p:nvSpPr>
        <p:spPr>
          <a:xfrm>
            <a:off x="7680960" y="2313432"/>
            <a:ext cx="1417320" cy="320040"/>
          </a:xfrm>
          <a:prstGeom prst="rect">
            <a:avLst/>
          </a:prstGeom>
          <a:noFill/>
          <a:ln/>
        </p:spPr>
        <p:txBody>
          <a:bodyPr wrap="square" rtlCol="0" anchor="ctr"/>
          <a:lstStyle/>
          <a:p>
            <a:pPr marL="0" indent="0">
              <a:buNone/>
            </a:pPr>
            <a:r>
              <a:rPr lang="en-US" sz="1100" b="1" dirty="0">
                <a:solidFill>
                  <a:srgbClr val="374151"/>
                </a:solidFill>
              </a:rPr>
              <a:t>64</a:t>
            </a:r>
            <a:endParaRPr lang="en-US" sz="1100" b="1" dirty="0"/>
          </a:p>
        </p:txBody>
      </p:sp>
      <p:sp>
        <p:nvSpPr>
          <p:cNvPr id="22" name="Text 18"/>
          <p:cNvSpPr/>
          <p:nvPr/>
        </p:nvSpPr>
        <p:spPr>
          <a:xfrm>
            <a:off x="6492240" y="2697480"/>
            <a:ext cx="1143000" cy="320040"/>
          </a:xfrm>
          <a:prstGeom prst="rect">
            <a:avLst/>
          </a:prstGeom>
          <a:noFill/>
          <a:ln/>
        </p:spPr>
        <p:txBody>
          <a:bodyPr wrap="square" rtlCol="0" anchor="ctr"/>
          <a:lstStyle/>
          <a:p>
            <a:pPr marL="0" indent="0">
              <a:buNone/>
            </a:pPr>
            <a:r>
              <a:rPr lang="en-US" sz="1100" b="1" dirty="0">
                <a:solidFill>
                  <a:srgbClr val="1F4E79"/>
                </a:solidFill>
              </a:rPr>
              <a:t>Early stopping</a:t>
            </a:r>
            <a:endParaRPr lang="en-US" sz="1100" b="1" dirty="0"/>
          </a:p>
        </p:txBody>
      </p:sp>
      <p:sp>
        <p:nvSpPr>
          <p:cNvPr id="23" name="Text 19"/>
          <p:cNvSpPr/>
          <p:nvPr/>
        </p:nvSpPr>
        <p:spPr>
          <a:xfrm>
            <a:off x="7680960" y="2697480"/>
            <a:ext cx="1417320" cy="320040"/>
          </a:xfrm>
          <a:prstGeom prst="rect">
            <a:avLst/>
          </a:prstGeom>
          <a:noFill/>
          <a:ln/>
        </p:spPr>
        <p:txBody>
          <a:bodyPr wrap="square" rtlCol="0" anchor="ctr"/>
          <a:lstStyle/>
          <a:p>
            <a:pPr marL="0" indent="0">
              <a:buNone/>
            </a:pPr>
            <a:r>
              <a:rPr lang="en-US" sz="1100" b="1" dirty="0"/>
              <a:t>Val AUPRC</a:t>
            </a:r>
          </a:p>
        </p:txBody>
      </p:sp>
      <p:sp>
        <p:nvSpPr>
          <p:cNvPr id="24" name="Text 20"/>
          <p:cNvSpPr/>
          <p:nvPr/>
        </p:nvSpPr>
        <p:spPr>
          <a:xfrm>
            <a:off x="6492240" y="3081528"/>
            <a:ext cx="1249680" cy="320040"/>
          </a:xfrm>
          <a:prstGeom prst="rect">
            <a:avLst/>
          </a:prstGeom>
          <a:noFill/>
          <a:ln/>
        </p:spPr>
        <p:txBody>
          <a:bodyPr wrap="square" rtlCol="0" anchor="ctr"/>
          <a:lstStyle/>
          <a:p>
            <a:pPr marL="0" indent="0">
              <a:buNone/>
            </a:pPr>
            <a:r>
              <a:rPr lang="en-US" sz="1100" b="1" dirty="0">
                <a:solidFill>
                  <a:srgbClr val="1F4E79"/>
                </a:solidFill>
              </a:rPr>
              <a:t>Train / Val / Test</a:t>
            </a:r>
            <a:endParaRPr lang="en-US" sz="1100" b="1" dirty="0"/>
          </a:p>
        </p:txBody>
      </p:sp>
      <p:sp>
        <p:nvSpPr>
          <p:cNvPr id="25" name="Text 21"/>
          <p:cNvSpPr/>
          <p:nvPr/>
        </p:nvSpPr>
        <p:spPr>
          <a:xfrm>
            <a:off x="7680960" y="3081528"/>
            <a:ext cx="1417320" cy="320040"/>
          </a:xfrm>
          <a:prstGeom prst="rect">
            <a:avLst/>
          </a:prstGeom>
          <a:noFill/>
          <a:ln/>
        </p:spPr>
        <p:txBody>
          <a:bodyPr wrap="square" rtlCol="0" anchor="ctr"/>
          <a:lstStyle/>
          <a:p>
            <a:pPr marL="0" indent="0">
              <a:buNone/>
            </a:pPr>
            <a:r>
              <a:rPr lang="en-US" sz="1100" b="1" dirty="0"/>
              <a:t>2800 / 600 / 600</a:t>
            </a:r>
          </a:p>
        </p:txBody>
      </p:sp>
      <p:sp>
        <p:nvSpPr>
          <p:cNvPr id="26" name="Text 22"/>
          <p:cNvSpPr/>
          <p:nvPr/>
        </p:nvSpPr>
        <p:spPr>
          <a:xfrm>
            <a:off x="6492240" y="3465576"/>
            <a:ext cx="1143000" cy="320040"/>
          </a:xfrm>
          <a:prstGeom prst="rect">
            <a:avLst/>
          </a:prstGeom>
          <a:noFill/>
          <a:ln/>
        </p:spPr>
        <p:txBody>
          <a:bodyPr wrap="square" rtlCol="0" anchor="ctr"/>
          <a:lstStyle/>
          <a:p>
            <a:pPr marL="0" indent="0">
              <a:buNone/>
            </a:pPr>
            <a:r>
              <a:rPr lang="en-US" sz="1100" b="1" dirty="0">
                <a:solidFill>
                  <a:srgbClr val="1F4E79"/>
                </a:solidFill>
              </a:rPr>
              <a:t>TCN params</a:t>
            </a:r>
            <a:endParaRPr lang="en-US" sz="1100" dirty="0"/>
          </a:p>
        </p:txBody>
      </p:sp>
      <p:sp>
        <p:nvSpPr>
          <p:cNvPr id="27" name="Text 23"/>
          <p:cNvSpPr/>
          <p:nvPr/>
        </p:nvSpPr>
        <p:spPr>
          <a:xfrm>
            <a:off x="7680960" y="3465576"/>
            <a:ext cx="1417320" cy="320040"/>
          </a:xfrm>
          <a:prstGeom prst="rect">
            <a:avLst/>
          </a:prstGeom>
          <a:noFill/>
          <a:ln/>
        </p:spPr>
        <p:txBody>
          <a:bodyPr wrap="square" rtlCol="0" anchor="ctr"/>
          <a:lstStyle/>
          <a:p>
            <a:pPr marL="0" indent="0">
              <a:buNone/>
            </a:pPr>
            <a:r>
              <a:rPr lang="en-US" sz="1100" b="1" dirty="0"/>
              <a:t>162 K</a:t>
            </a:r>
          </a:p>
        </p:txBody>
      </p:sp>
      <p:sp>
        <p:nvSpPr>
          <p:cNvPr id="28" name="Text 24"/>
          <p:cNvSpPr/>
          <p:nvPr/>
        </p:nvSpPr>
        <p:spPr>
          <a:xfrm>
            <a:off x="6492240" y="3849624"/>
            <a:ext cx="1143000" cy="320040"/>
          </a:xfrm>
          <a:prstGeom prst="rect">
            <a:avLst/>
          </a:prstGeom>
          <a:noFill/>
          <a:ln/>
        </p:spPr>
        <p:txBody>
          <a:bodyPr wrap="square" rtlCol="0" anchor="ctr"/>
          <a:lstStyle/>
          <a:p>
            <a:pPr marL="0" indent="0">
              <a:buNone/>
            </a:pPr>
            <a:r>
              <a:rPr lang="en-US" sz="1100" b="1" dirty="0">
                <a:solidFill>
                  <a:srgbClr val="1F4E79"/>
                </a:solidFill>
              </a:rPr>
              <a:t>Transformer</a:t>
            </a:r>
            <a:endParaRPr lang="en-US" sz="1100" dirty="0"/>
          </a:p>
        </p:txBody>
      </p:sp>
      <p:sp>
        <p:nvSpPr>
          <p:cNvPr id="29" name="Text 25"/>
          <p:cNvSpPr/>
          <p:nvPr/>
        </p:nvSpPr>
        <p:spPr>
          <a:xfrm>
            <a:off x="7680960" y="3849624"/>
            <a:ext cx="1417320" cy="320040"/>
          </a:xfrm>
          <a:prstGeom prst="rect">
            <a:avLst/>
          </a:prstGeom>
          <a:noFill/>
          <a:ln/>
        </p:spPr>
        <p:txBody>
          <a:bodyPr wrap="square" rtlCol="0" anchor="ctr"/>
          <a:lstStyle/>
          <a:p>
            <a:pPr marL="0" indent="0">
              <a:buNone/>
            </a:pPr>
            <a:r>
              <a:rPr lang="en-US" sz="1100" b="1" dirty="0"/>
              <a:t>205 K · 4 heads</a:t>
            </a:r>
          </a:p>
        </p:txBody>
      </p:sp>
      <p:sp>
        <p:nvSpPr>
          <p:cNvPr id="30" name="Text 26"/>
          <p:cNvSpPr/>
          <p:nvPr/>
        </p:nvSpPr>
        <p:spPr>
          <a:xfrm>
            <a:off x="6492240" y="4233672"/>
            <a:ext cx="1143000" cy="320040"/>
          </a:xfrm>
          <a:prstGeom prst="rect">
            <a:avLst/>
          </a:prstGeom>
          <a:noFill/>
          <a:ln/>
        </p:spPr>
        <p:txBody>
          <a:bodyPr wrap="square" rtlCol="0" anchor="ctr"/>
          <a:lstStyle/>
          <a:p>
            <a:pPr marL="0" indent="0">
              <a:buNone/>
            </a:pPr>
            <a:r>
              <a:rPr lang="en-US" sz="1100" b="1" dirty="0">
                <a:solidFill>
                  <a:srgbClr val="1F4E79"/>
                </a:solidFill>
              </a:rPr>
              <a:t>Hardware</a:t>
            </a:r>
            <a:endParaRPr lang="en-US" sz="1100" dirty="0"/>
          </a:p>
        </p:txBody>
      </p:sp>
      <p:sp>
        <p:nvSpPr>
          <p:cNvPr id="31" name="Text 27"/>
          <p:cNvSpPr/>
          <p:nvPr/>
        </p:nvSpPr>
        <p:spPr>
          <a:xfrm>
            <a:off x="7680960" y="4233672"/>
            <a:ext cx="1417320" cy="320040"/>
          </a:xfrm>
          <a:prstGeom prst="rect">
            <a:avLst/>
          </a:prstGeom>
          <a:noFill/>
          <a:ln/>
        </p:spPr>
        <p:txBody>
          <a:bodyPr wrap="square" rtlCol="0" anchor="ctr"/>
          <a:lstStyle/>
          <a:p>
            <a:pPr marL="0" indent="0">
              <a:buNone/>
            </a:pPr>
            <a:r>
              <a:rPr lang="en-US" sz="1100" b="1" dirty="0"/>
              <a:t>NVIDIA GPU</a:t>
            </a:r>
          </a:p>
        </p:txBody>
      </p:sp>
      <p:sp>
        <p:nvSpPr>
          <p:cNvPr id="32" name="Shape 28"/>
          <p:cNvSpPr/>
          <p:nvPr/>
        </p:nvSpPr>
        <p:spPr>
          <a:xfrm>
            <a:off x="6400800" y="4504944"/>
            <a:ext cx="2560320" cy="27432"/>
          </a:xfrm>
          <a:prstGeom prst="rect">
            <a:avLst/>
          </a:prstGeom>
          <a:solidFill>
            <a:srgbClr val="E5E7EB"/>
          </a:solidFill>
          <a:ln w="12700">
            <a:solidFill>
              <a:srgbClr val="E5E7EB"/>
            </a:solidFill>
            <a:prstDash val="solid"/>
          </a:ln>
        </p:spPr>
      </p:sp>
      <p:sp>
        <p:nvSpPr>
          <p:cNvPr id="33" name="Text 29"/>
          <p:cNvSpPr/>
          <p:nvPr/>
        </p:nvSpPr>
        <p:spPr>
          <a:xfrm>
            <a:off x="-510540" y="4736592"/>
            <a:ext cx="8090313" cy="374904"/>
          </a:xfrm>
          <a:prstGeom prst="rect">
            <a:avLst/>
          </a:prstGeom>
          <a:noFill/>
          <a:ln/>
        </p:spPr>
        <p:txBody>
          <a:bodyPr wrap="square" rtlCol="0" anchor="ctr"/>
          <a:lstStyle/>
          <a:p>
            <a:pPr marL="0" indent="0" algn="ctr">
              <a:lnSpc>
                <a:spcPct val="130000"/>
              </a:lnSpc>
              <a:buNone/>
            </a:pPr>
            <a:r>
              <a:rPr lang="en-US" sz="1200" b="1" i="1" dirty="0"/>
              <a:t>Both deep models converge cleanly</a:t>
            </a:r>
            <a:r>
              <a:rPr lang="en-US" sz="1200" b="1" dirty="0"/>
              <a:t> </a:t>
            </a:r>
            <a:r>
              <a:rPr lang="en-US" sz="1200" b="1" i="1" dirty="0"/>
              <a:t>before overfit; early stopping triggers.</a:t>
            </a:r>
            <a:endParaRPr lang="en-US" sz="1200" b="1" dirty="0"/>
          </a:p>
        </p:txBody>
      </p:sp>
      <p:sp>
        <p:nvSpPr>
          <p:cNvPr id="34" name="Freeform 11">
            <a:extLst>
              <a:ext uri="{FF2B5EF4-FFF2-40B4-BE49-F238E27FC236}">
                <a16:creationId xmlns:a16="http://schemas.microsoft.com/office/drawing/2014/main" id="{E4766823-A00B-9BB5-333A-27D1968201C1}"/>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pic>
        <p:nvPicPr>
          <p:cNvPr id="6" name="Picture 5">
            <a:extLst>
              <a:ext uri="{FF2B5EF4-FFF2-40B4-BE49-F238E27FC236}">
                <a16:creationId xmlns:a16="http://schemas.microsoft.com/office/drawing/2014/main" id="{DD90C184-69BE-5FD1-1F49-35218FEB3CCC}"/>
              </a:ext>
            </a:extLst>
          </p:cNvPr>
          <p:cNvPicPr>
            <a:picLocks noChangeAspect="1"/>
          </p:cNvPicPr>
          <p:nvPr/>
        </p:nvPicPr>
        <p:blipFill>
          <a:blip r:embed="rId4"/>
          <a:stretch>
            <a:fillRect/>
          </a:stretch>
        </p:blipFill>
        <p:spPr>
          <a:xfrm>
            <a:off x="429768" y="1216152"/>
            <a:ext cx="5917692" cy="3497054"/>
          </a:xfrm>
          <a:prstGeom prst="rect">
            <a:avLst/>
          </a:prstGeom>
        </p:spPr>
      </p:pic>
      <p:sp>
        <p:nvSpPr>
          <p:cNvPr id="10" name="Text 29">
            <a:extLst>
              <a:ext uri="{FF2B5EF4-FFF2-40B4-BE49-F238E27FC236}">
                <a16:creationId xmlns:a16="http://schemas.microsoft.com/office/drawing/2014/main" id="{C25E7697-15E0-6902-E08D-AD11504DDEEC}"/>
              </a:ext>
            </a:extLst>
          </p:cNvPr>
          <p:cNvSpPr/>
          <p:nvPr/>
        </p:nvSpPr>
        <p:spPr>
          <a:xfrm>
            <a:off x="176181" y="713232"/>
            <a:ext cx="7060692" cy="374904"/>
          </a:xfrm>
          <a:prstGeom prst="rect">
            <a:avLst/>
          </a:prstGeom>
          <a:noFill/>
          <a:ln/>
        </p:spPr>
        <p:txBody>
          <a:bodyPr wrap="square" rtlCol="0" anchor="ctr"/>
          <a:lstStyle/>
          <a:p>
            <a:pPr marL="0" indent="0" algn="ctr">
              <a:lnSpc>
                <a:spcPct val="130000"/>
              </a:lnSpc>
              <a:buNone/>
            </a:pPr>
            <a:r>
              <a:rPr lang="en-US" sz="1200" b="1" i="1" dirty="0"/>
              <a:t> Training and validation curves – TCN and Time Aware Transformer(focal loss, Early stopping on </a:t>
            </a:r>
            <a:r>
              <a:rPr lang="en-US" sz="1200" b="1" i="1" dirty="0" err="1"/>
              <a:t>val</a:t>
            </a:r>
            <a:r>
              <a:rPr lang="en-US" sz="1200" b="1" i="1" dirty="0"/>
              <a:t> AUPRC </a:t>
            </a:r>
            <a:endParaRPr lang="en-US" sz="1200" b="1" dirty="0"/>
          </a:p>
        </p:txBody>
      </p:sp>
      <p:sp>
        <p:nvSpPr>
          <p:cNvPr id="11" name="Rectangle 10">
            <a:extLst>
              <a:ext uri="{FF2B5EF4-FFF2-40B4-BE49-F238E27FC236}">
                <a16:creationId xmlns:a16="http://schemas.microsoft.com/office/drawing/2014/main" id="{6CCBD961-2E88-8108-43F5-1D6045340562}"/>
              </a:ext>
            </a:extLst>
          </p:cNvPr>
          <p:cNvSpPr/>
          <p:nvPr/>
        </p:nvSpPr>
        <p:spPr>
          <a:xfrm>
            <a:off x="429768" y="1249054"/>
            <a:ext cx="5925312" cy="16369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K">
              <a:ln>
                <a:solidFill>
                  <a:schemeClr val="bg1"/>
                </a:solidFill>
              </a:ln>
            </a:endParaRP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11</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endParaRPr lang="en-US" sz="2200" dirty="0"/>
          </a:p>
        </p:txBody>
      </p:sp>
      <p:sp>
        <p:nvSpPr>
          <p:cNvPr id="8" name="Shape 6"/>
          <p:cNvSpPr/>
          <p:nvPr/>
        </p:nvSpPr>
        <p:spPr>
          <a:xfrm>
            <a:off x="640080" y="795528"/>
            <a:ext cx="1005840" cy="45720"/>
          </a:xfrm>
          <a:prstGeom prst="rect">
            <a:avLst/>
          </a:prstGeom>
          <a:solidFill>
            <a:srgbClr val="2E75B6"/>
          </a:solidFill>
          <a:ln w="12700">
            <a:solidFill>
              <a:srgbClr val="2E75B6"/>
            </a:solidFill>
            <a:prstDash val="solid"/>
          </a:ln>
        </p:spPr>
      </p:sp>
      <p:sp>
        <p:nvSpPr>
          <p:cNvPr id="64" name="Freeform 11">
            <a:extLst>
              <a:ext uri="{FF2B5EF4-FFF2-40B4-BE49-F238E27FC236}">
                <a16:creationId xmlns:a16="http://schemas.microsoft.com/office/drawing/2014/main" id="{5543BC2C-A0AC-1A60-2249-5B6969330FEA}"/>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2"/>
            <a:stretch>
              <a:fillRect r="-131319"/>
            </a:stretch>
          </a:blipFill>
        </p:spPr>
        <p:txBody>
          <a:bodyPr/>
          <a:lstStyle/>
          <a:p>
            <a:endParaRPr lang="zh-CN" altLang="en-US"/>
          </a:p>
        </p:txBody>
      </p:sp>
      <p:sp>
        <p:nvSpPr>
          <p:cNvPr id="900" name="Content"/>
          <p:cNvSpPr txBox="1"/>
          <p:nvPr/>
        </p:nvSpPr>
        <p:spPr>
          <a:xfrm>
            <a:off x="566928" y="952321"/>
            <a:ext cx="8183879" cy="4191179"/>
          </a:xfrm>
          <a:prstGeom prst="rect">
            <a:avLst/>
          </a:prstGeom>
        </p:spPr>
        <p:txBody>
          <a:bodyPr wrap="square" rtlCol="0">
            <a:normAutofit fontScale="92500" lnSpcReduction="10000"/>
          </a:bodyPr>
          <a:lstStyle/>
          <a:p>
            <a:pPr marL="171450" indent="-171450">
              <a:spcBef>
                <a:spcPts val="80"/>
              </a:spcBef>
              <a:buFont typeface="Arial" panose="020B0604020202020204" pitchFamily="34" charset="0"/>
              <a:buChar char="•"/>
            </a:pPr>
            <a:r>
              <a:rPr lang="en-US" sz="1200" b="1" i="1" dirty="0">
                <a:latin typeface="Arial"/>
              </a:rPr>
              <a:t>TP = deaths correctly flagged   ·   FP = false alarms   ·   FN = missed deaths   ·   TN = survivors correctly cleared</a:t>
            </a:r>
          </a:p>
          <a:p>
            <a:pPr>
              <a:spcBef>
                <a:spcPts val="80"/>
              </a:spcBef>
            </a:pPr>
            <a:endParaRPr lang="en-US" sz="1100" b="1" i="1" dirty="0">
              <a:latin typeface="Arial"/>
            </a:endParaRPr>
          </a:p>
          <a:p>
            <a:pPr>
              <a:spcBef>
                <a:spcPts val="300"/>
              </a:spcBef>
            </a:pPr>
            <a:r>
              <a:rPr lang="en-US" sz="1560" b="1" dirty="0">
                <a:solidFill>
                  <a:srgbClr val="1F3B63"/>
                </a:solidFill>
                <a:latin typeface="Cambria Math"/>
              </a:rPr>
              <a:t>Precision = TP / (TP + FP)</a:t>
            </a:r>
          </a:p>
          <a:p>
            <a:pPr>
              <a:spcBef>
                <a:spcPts val="300"/>
              </a:spcBef>
            </a:pPr>
            <a:endParaRPr lang="en-US" sz="1560" b="1" dirty="0">
              <a:solidFill>
                <a:srgbClr val="1F3B63"/>
              </a:solidFill>
              <a:latin typeface="Cambria Math"/>
            </a:endParaRPr>
          </a:p>
          <a:p>
            <a:pPr marL="171450" indent="-171450">
              <a:spcBef>
                <a:spcPts val="70"/>
              </a:spcBef>
              <a:buFont typeface="Arial" panose="020B0604020202020204" pitchFamily="34" charset="0"/>
              <a:buChar char="•"/>
            </a:pPr>
            <a:r>
              <a:rPr lang="en-US" sz="1200" b="1" dirty="0">
                <a:latin typeface="Arial"/>
              </a:rPr>
              <a:t>Of the patients flagged as high-risk, the share who truly died (positive predictive value).</a:t>
            </a:r>
          </a:p>
          <a:p>
            <a:pPr>
              <a:spcBef>
                <a:spcPts val="70"/>
              </a:spcBef>
            </a:pPr>
            <a:endParaRPr lang="en-US" sz="1100" b="1" dirty="0">
              <a:latin typeface="Arial"/>
            </a:endParaRPr>
          </a:p>
          <a:p>
            <a:pPr>
              <a:spcBef>
                <a:spcPts val="300"/>
              </a:spcBef>
            </a:pPr>
            <a:r>
              <a:rPr lang="en-US" sz="1560" b="1" dirty="0">
                <a:solidFill>
                  <a:srgbClr val="1F3B63"/>
                </a:solidFill>
                <a:latin typeface="Cambria Math"/>
              </a:rPr>
              <a:t>Recall (Sensitivity) = TP / (TP + FN)</a:t>
            </a:r>
          </a:p>
          <a:p>
            <a:pPr>
              <a:spcBef>
                <a:spcPts val="300"/>
              </a:spcBef>
            </a:pPr>
            <a:endParaRPr lang="en-US" sz="1560" b="1" dirty="0">
              <a:solidFill>
                <a:srgbClr val="1F3B63"/>
              </a:solidFill>
              <a:latin typeface="Cambria Math"/>
            </a:endParaRPr>
          </a:p>
          <a:p>
            <a:pPr marL="171450" indent="-171450">
              <a:spcBef>
                <a:spcPts val="70"/>
              </a:spcBef>
              <a:buFont typeface="Arial" panose="020B0604020202020204" pitchFamily="34" charset="0"/>
              <a:buChar char="•"/>
            </a:pPr>
            <a:r>
              <a:rPr lang="en-US" sz="1200" b="1" dirty="0">
                <a:latin typeface="Arial"/>
              </a:rPr>
              <a:t>Of the patients who truly died, the share the model caught (a missed death is the costly error).</a:t>
            </a:r>
          </a:p>
          <a:p>
            <a:pPr>
              <a:spcBef>
                <a:spcPts val="70"/>
              </a:spcBef>
            </a:pPr>
            <a:endParaRPr lang="en-US" sz="1100" b="1" dirty="0">
              <a:latin typeface="Arial"/>
            </a:endParaRPr>
          </a:p>
          <a:p>
            <a:pPr>
              <a:spcBef>
                <a:spcPts val="300"/>
              </a:spcBef>
            </a:pPr>
            <a:r>
              <a:rPr lang="en-US" sz="1560" b="1" dirty="0">
                <a:solidFill>
                  <a:srgbClr val="1F3B63"/>
                </a:solidFill>
                <a:latin typeface="Cambria Math"/>
              </a:rPr>
              <a:t>F1 = 2·Precision·Recall / (Precision + Recall)      Score₁ = min(Recall, Precision)</a:t>
            </a:r>
          </a:p>
          <a:p>
            <a:pPr>
              <a:spcBef>
                <a:spcPts val="300"/>
              </a:spcBef>
            </a:pPr>
            <a:endParaRPr lang="en-US" sz="1560" b="1" dirty="0">
              <a:solidFill>
                <a:srgbClr val="1F3B63"/>
              </a:solidFill>
              <a:latin typeface="Cambria Math"/>
            </a:endParaRPr>
          </a:p>
          <a:p>
            <a:pPr marL="171450" indent="-171450">
              <a:spcBef>
                <a:spcPts val="70"/>
              </a:spcBef>
              <a:buFont typeface="Arial" panose="020B0604020202020204" pitchFamily="34" charset="0"/>
              <a:buChar char="•"/>
            </a:pPr>
            <a:r>
              <a:rPr lang="en-US" sz="1200" b="1" dirty="0">
                <a:latin typeface="Arial"/>
              </a:rPr>
              <a:t>F1 is their harmonic mean; Score₁ (PhysioNet 2012 official metric) is high only when BOTH precision and recall are high.</a:t>
            </a:r>
          </a:p>
          <a:p>
            <a:pPr>
              <a:spcBef>
                <a:spcPts val="70"/>
              </a:spcBef>
            </a:pPr>
            <a:endParaRPr lang="en-US" sz="1100" b="1" dirty="0">
              <a:latin typeface="Arial"/>
            </a:endParaRPr>
          </a:p>
          <a:p>
            <a:pPr>
              <a:spcBef>
                <a:spcPts val="300"/>
              </a:spcBef>
            </a:pPr>
            <a:r>
              <a:rPr lang="en-US" sz="1560" b="1" dirty="0">
                <a:solidFill>
                  <a:srgbClr val="1F3B63"/>
                </a:solidFill>
                <a:latin typeface="Cambria Math"/>
              </a:rPr>
              <a:t>AUROC = area under ROC curve      AUPRC = area under precision–recall curve</a:t>
            </a:r>
          </a:p>
          <a:p>
            <a:pPr marL="171450" indent="-171450">
              <a:spcBef>
                <a:spcPts val="300"/>
              </a:spcBef>
              <a:buFont typeface="Arial" panose="020B0604020202020204" pitchFamily="34" charset="0"/>
              <a:buChar char="•"/>
            </a:pPr>
            <a:endParaRPr lang="en-US" sz="100" b="1" dirty="0">
              <a:solidFill>
                <a:srgbClr val="1F3B63"/>
              </a:solidFill>
              <a:latin typeface="Cambria Math"/>
            </a:endParaRPr>
          </a:p>
          <a:p>
            <a:pPr marL="171450" indent="-171450">
              <a:spcBef>
                <a:spcPts val="70"/>
              </a:spcBef>
              <a:buFont typeface="Arial" panose="020B0604020202020204" pitchFamily="34" charset="0"/>
              <a:buChar char="•"/>
            </a:pPr>
            <a:r>
              <a:rPr lang="en-US" sz="100" b="1" dirty="0">
                <a:latin typeface="Arial"/>
              </a:rPr>
              <a:t>AUROC = chance a random death is ranked above a random survivor (threshold-free); AUPRC is more informative under heavy imbalance (13.9% deaths).</a:t>
            </a:r>
          </a:p>
          <a:p>
            <a:pPr marL="171450" indent="-171450">
              <a:spcBef>
                <a:spcPts val="70"/>
              </a:spcBef>
              <a:buFont typeface="Arial" panose="020B0604020202020204" pitchFamily="34" charset="0"/>
              <a:buChar char="•"/>
            </a:pPr>
            <a:endParaRPr lang="en-US" sz="1200" b="1" dirty="0">
              <a:latin typeface="Arial"/>
            </a:endParaRPr>
          </a:p>
          <a:p>
            <a:pPr marL="171450" indent="-171450">
              <a:spcBef>
                <a:spcPts val="240"/>
              </a:spcBef>
              <a:buFont typeface="Arial" panose="020B0604020202020204" pitchFamily="34" charset="0"/>
              <a:buChar char="•"/>
            </a:pPr>
            <a:r>
              <a:rPr lang="en-US" sz="1200" i="1" dirty="0">
                <a:solidFill>
                  <a:srgbClr val="7A2E1D"/>
                </a:solidFill>
                <a:latin typeface="Arial"/>
              </a:rPr>
              <a:t>Illustrative: a model with Recall = 0.80 but Precision = 0.30 still scores Score₁ = min(0.80, 0.30) = 0.30 — it cannot hide weak precision behind high recall.</a:t>
            </a:r>
          </a:p>
          <a:p>
            <a:pPr>
              <a:spcBef>
                <a:spcPts val="240"/>
              </a:spcBef>
            </a:pPr>
            <a:endParaRPr lang="en-US" sz="1100" i="1" dirty="0">
              <a:solidFill>
                <a:srgbClr val="7A2E1D"/>
              </a:solidFill>
              <a:latin typeface="Arial"/>
            </a:endParaRPr>
          </a:p>
          <a:p>
            <a:pPr marL="171450" indent="-171450">
              <a:spcBef>
                <a:spcPts val="200"/>
              </a:spcBef>
              <a:buFont typeface="Arial" panose="020B0604020202020204" pitchFamily="34" charset="0"/>
              <a:buChar char="•"/>
            </a:pPr>
            <a:r>
              <a:rPr lang="en-US" sz="1200" b="1" dirty="0">
                <a:solidFill>
                  <a:srgbClr val="1F3B63"/>
                </a:solidFill>
                <a:latin typeface="Arial"/>
              </a:rPr>
              <a:t>On the 600-patient test set (83 deaths), the best model (</a:t>
            </a:r>
            <a:r>
              <a:rPr lang="en-US" sz="1200" b="1" dirty="0" err="1">
                <a:solidFill>
                  <a:srgbClr val="1F3B63"/>
                </a:solidFill>
                <a:latin typeface="Arial"/>
              </a:rPr>
              <a:t>XGBoost</a:t>
            </a:r>
            <a:r>
              <a:rPr lang="en-US" sz="1200" b="1" dirty="0">
                <a:solidFill>
                  <a:srgbClr val="1F3B63"/>
                </a:solidFill>
                <a:latin typeface="Arial"/>
              </a:rPr>
              <a:t>) reached  Score₁ = 0.542,  AUROC = 0.880,  AUPRC = 0.538.</a:t>
            </a:r>
          </a:p>
        </p:txBody>
      </p:sp>
      <p:sp>
        <p:nvSpPr>
          <p:cNvPr id="6" name="TextBox 5">
            <a:extLst>
              <a:ext uri="{FF2B5EF4-FFF2-40B4-BE49-F238E27FC236}">
                <a16:creationId xmlns:a16="http://schemas.microsoft.com/office/drawing/2014/main" id="{E925EACB-00A7-887D-6106-249AC1677F6F}"/>
              </a:ext>
            </a:extLst>
          </p:cNvPr>
          <p:cNvSpPr txBox="1"/>
          <p:nvPr/>
        </p:nvSpPr>
        <p:spPr>
          <a:xfrm>
            <a:off x="429768" y="39041"/>
            <a:ext cx="7993380" cy="769441"/>
          </a:xfrm>
          <a:prstGeom prst="rect">
            <a:avLst/>
          </a:prstGeom>
          <a:noFill/>
        </p:spPr>
        <p:txBody>
          <a:bodyPr wrap="square">
            <a:spAutoFit/>
          </a:bodyPr>
          <a:lstStyle/>
          <a:p>
            <a:r>
              <a:rPr lang="en-US" sz="2200" b="1" dirty="0">
                <a:solidFill>
                  <a:srgbClr val="0F2C4F"/>
                </a:solidFill>
                <a:latin typeface="Georgia" pitchFamily="34" charset="0"/>
              </a:rPr>
              <a:t>How Model Performance Is Measured/Evaluation Metrics and Their Formulas</a:t>
            </a:r>
            <a:endParaRPr lang="en-PK" sz="2200" b="1" dirty="0">
              <a:solidFill>
                <a:srgbClr val="0F2C4F"/>
              </a:solidFill>
              <a:latin typeface="Georgia" pitchFamily="34" charset="0"/>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12</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Final Results  —  Model Comparison</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pic>
        <p:nvPicPr>
          <p:cNvPr id="9" name="Image 0" descr="real_figs/final_comparison.png"/>
          <p:cNvPicPr>
            <a:picLocks noChangeAspect="1"/>
          </p:cNvPicPr>
          <p:nvPr/>
        </p:nvPicPr>
        <p:blipFill>
          <a:blip r:embed="rId3"/>
          <a:stretch>
            <a:fillRect/>
          </a:stretch>
        </p:blipFill>
        <p:spPr>
          <a:xfrm>
            <a:off x="411480" y="813816"/>
            <a:ext cx="8732520" cy="4027932"/>
          </a:xfrm>
          <a:prstGeom prst="rect">
            <a:avLst/>
          </a:prstGeom>
        </p:spPr>
      </p:pic>
      <p:sp>
        <p:nvSpPr>
          <p:cNvPr id="10" name="Text 7"/>
          <p:cNvSpPr/>
          <p:nvPr/>
        </p:nvSpPr>
        <p:spPr>
          <a:xfrm>
            <a:off x="1455420" y="4841748"/>
            <a:ext cx="5212080" cy="228600"/>
          </a:xfrm>
          <a:prstGeom prst="rect">
            <a:avLst/>
          </a:prstGeom>
          <a:noFill/>
          <a:ln/>
        </p:spPr>
        <p:txBody>
          <a:bodyPr wrap="square" rtlCol="0" anchor="ctr"/>
          <a:lstStyle/>
          <a:p>
            <a:pPr marL="0" indent="0" algn="ctr">
              <a:buNone/>
            </a:pPr>
            <a:r>
              <a:rPr lang="en-US" sz="1200" b="1" i="1" dirty="0"/>
              <a:t>Figure 6.  Final comparison on 600-patient held-out test set.</a:t>
            </a:r>
            <a:endParaRPr lang="en-US" sz="1200" b="1" dirty="0"/>
          </a:p>
        </p:txBody>
      </p:sp>
      <p:sp>
        <p:nvSpPr>
          <p:cNvPr id="12" name="Text 9"/>
          <p:cNvSpPr/>
          <p:nvPr/>
        </p:nvSpPr>
        <p:spPr>
          <a:xfrm>
            <a:off x="5943600" y="1005840"/>
            <a:ext cx="2468880" cy="256032"/>
          </a:xfrm>
          <a:prstGeom prst="rect">
            <a:avLst/>
          </a:prstGeom>
          <a:noFill/>
          <a:ln/>
        </p:spPr>
        <p:txBody>
          <a:bodyPr wrap="square" rtlCol="0" anchor="ctr"/>
          <a:lstStyle/>
          <a:p>
            <a:pPr marL="0" indent="0">
              <a:buNone/>
            </a:pPr>
            <a:r>
              <a:rPr lang="en-US" sz="900" b="1" kern="0" spc="150" dirty="0">
                <a:solidFill>
                  <a:srgbClr val="FFFFFF"/>
                </a:solidFill>
              </a:rPr>
              <a:t>★  BEST OVERALL</a:t>
            </a:r>
            <a:endParaRPr lang="en-US" sz="900" dirty="0"/>
          </a:p>
        </p:txBody>
      </p:sp>
      <p:sp>
        <p:nvSpPr>
          <p:cNvPr id="17" name="Text 14"/>
          <p:cNvSpPr/>
          <p:nvPr/>
        </p:nvSpPr>
        <p:spPr>
          <a:xfrm>
            <a:off x="5943600" y="2697480"/>
            <a:ext cx="2468880" cy="54864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 </a:t>
            </a:r>
            <a:endParaRPr lang="en-US" sz="3600" dirty="0"/>
          </a:p>
        </p:txBody>
      </p:sp>
      <p:sp>
        <p:nvSpPr>
          <p:cNvPr id="22" name="Freeform 11">
            <a:extLst>
              <a:ext uri="{FF2B5EF4-FFF2-40B4-BE49-F238E27FC236}">
                <a16:creationId xmlns:a16="http://schemas.microsoft.com/office/drawing/2014/main" id="{52B3025F-3E74-FB1A-342A-2A3363139EF7}"/>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13</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Final Results  —  Model Comparison</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11" name="Shape 8"/>
          <p:cNvSpPr/>
          <p:nvPr/>
        </p:nvSpPr>
        <p:spPr>
          <a:xfrm>
            <a:off x="6736080" y="946404"/>
            <a:ext cx="2354580" cy="1280160"/>
          </a:xfrm>
          <a:prstGeom prst="rect">
            <a:avLst/>
          </a:prstGeom>
          <a:solidFill>
            <a:srgbClr val="1B7A3F"/>
          </a:solidFill>
          <a:ln w="12700">
            <a:solidFill>
              <a:srgbClr val="1B7A3F"/>
            </a:solidFill>
            <a:prstDash val="solid"/>
          </a:ln>
        </p:spPr>
      </p:sp>
      <p:sp>
        <p:nvSpPr>
          <p:cNvPr id="12" name="Text 9"/>
          <p:cNvSpPr/>
          <p:nvPr/>
        </p:nvSpPr>
        <p:spPr>
          <a:xfrm>
            <a:off x="6530340" y="1037844"/>
            <a:ext cx="2468880" cy="256032"/>
          </a:xfrm>
          <a:prstGeom prst="rect">
            <a:avLst/>
          </a:prstGeom>
          <a:noFill/>
          <a:ln/>
        </p:spPr>
        <p:txBody>
          <a:bodyPr wrap="square" rtlCol="0" anchor="ctr"/>
          <a:lstStyle/>
          <a:p>
            <a:pPr marL="0" indent="0">
              <a:buNone/>
            </a:pPr>
            <a:r>
              <a:rPr lang="en-US" sz="900" b="1" kern="0" spc="150" dirty="0">
                <a:solidFill>
                  <a:srgbClr val="FFFFFF"/>
                </a:solidFill>
              </a:rPr>
              <a:t>★  BEST OVERALL</a:t>
            </a:r>
            <a:endParaRPr lang="en-US" sz="900" dirty="0"/>
          </a:p>
        </p:txBody>
      </p:sp>
      <p:sp>
        <p:nvSpPr>
          <p:cNvPr id="13" name="Text 10"/>
          <p:cNvSpPr/>
          <p:nvPr/>
        </p:nvSpPr>
        <p:spPr>
          <a:xfrm>
            <a:off x="6530340" y="1312164"/>
            <a:ext cx="2468880" cy="50292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XGBoost</a:t>
            </a:r>
            <a:endParaRPr lang="en-US" sz="3000" dirty="0"/>
          </a:p>
        </p:txBody>
      </p:sp>
      <p:sp>
        <p:nvSpPr>
          <p:cNvPr id="14" name="Text 11"/>
          <p:cNvSpPr/>
          <p:nvPr/>
        </p:nvSpPr>
        <p:spPr>
          <a:xfrm>
            <a:off x="6530340" y="1860804"/>
            <a:ext cx="2468880" cy="274320"/>
          </a:xfrm>
          <a:prstGeom prst="rect">
            <a:avLst/>
          </a:prstGeom>
          <a:noFill/>
          <a:ln/>
        </p:spPr>
        <p:txBody>
          <a:bodyPr wrap="square" rtlCol="0" anchor="ctr"/>
          <a:lstStyle/>
          <a:p>
            <a:pPr marL="0" indent="0" algn="ctr">
              <a:buNone/>
            </a:pPr>
            <a:r>
              <a:rPr lang="en-US" sz="1000" i="1" dirty="0">
                <a:solidFill>
                  <a:srgbClr val="FFFFFF"/>
                </a:solidFill>
              </a:rPr>
              <a:t>AUROC 0.880 · Score₁ 0.5422</a:t>
            </a:r>
            <a:endParaRPr lang="en-US" sz="1000" dirty="0"/>
          </a:p>
        </p:txBody>
      </p:sp>
      <p:sp>
        <p:nvSpPr>
          <p:cNvPr id="15" name="Shape 12"/>
          <p:cNvSpPr/>
          <p:nvPr/>
        </p:nvSpPr>
        <p:spPr>
          <a:xfrm>
            <a:off x="6736080" y="2358390"/>
            <a:ext cx="2354580" cy="1280160"/>
          </a:xfrm>
          <a:prstGeom prst="rect">
            <a:avLst/>
          </a:prstGeom>
          <a:solidFill>
            <a:srgbClr val="0F2C4F"/>
          </a:solidFill>
          <a:ln w="12700">
            <a:solidFill>
              <a:srgbClr val="0F2C4F"/>
            </a:solidFill>
            <a:prstDash val="solid"/>
          </a:ln>
        </p:spPr>
      </p:sp>
      <p:sp>
        <p:nvSpPr>
          <p:cNvPr id="16" name="Text 13"/>
          <p:cNvSpPr/>
          <p:nvPr/>
        </p:nvSpPr>
        <p:spPr>
          <a:xfrm>
            <a:off x="6903720" y="2441448"/>
            <a:ext cx="2468880" cy="256032"/>
          </a:xfrm>
          <a:prstGeom prst="rect">
            <a:avLst/>
          </a:prstGeom>
          <a:noFill/>
          <a:ln/>
        </p:spPr>
        <p:txBody>
          <a:bodyPr wrap="square" rtlCol="0" anchor="ctr"/>
          <a:lstStyle/>
          <a:p>
            <a:pPr marL="0" indent="0">
              <a:buNone/>
            </a:pPr>
            <a:r>
              <a:rPr lang="en-US" sz="900" b="1" kern="0" spc="150" dirty="0">
                <a:solidFill>
                  <a:srgbClr val="B4C7E7"/>
                </a:solidFill>
              </a:rPr>
              <a:t>vs.  SAPS-I baseline</a:t>
            </a:r>
            <a:endParaRPr lang="en-US" sz="900" dirty="0"/>
          </a:p>
        </p:txBody>
      </p:sp>
      <p:sp>
        <p:nvSpPr>
          <p:cNvPr id="17" name="Text 14"/>
          <p:cNvSpPr/>
          <p:nvPr/>
        </p:nvSpPr>
        <p:spPr>
          <a:xfrm>
            <a:off x="6530340" y="2724150"/>
            <a:ext cx="2468880" cy="54864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+75%</a:t>
            </a:r>
            <a:endParaRPr lang="en-US" sz="3600" dirty="0"/>
          </a:p>
        </p:txBody>
      </p:sp>
      <p:sp>
        <p:nvSpPr>
          <p:cNvPr id="18" name="Text 15"/>
          <p:cNvSpPr/>
          <p:nvPr/>
        </p:nvSpPr>
        <p:spPr>
          <a:xfrm>
            <a:off x="6530340" y="3272790"/>
            <a:ext cx="2468880" cy="320040"/>
          </a:xfrm>
          <a:prstGeom prst="rect">
            <a:avLst/>
          </a:prstGeom>
          <a:noFill/>
          <a:ln/>
        </p:spPr>
        <p:txBody>
          <a:bodyPr wrap="square" rtlCol="0" anchor="ctr"/>
          <a:lstStyle/>
          <a:p>
            <a:pPr marL="0" indent="0" algn="ctr">
              <a:lnSpc>
                <a:spcPct val="120000"/>
              </a:lnSpc>
              <a:buNone/>
            </a:pPr>
            <a:r>
              <a:rPr lang="en-US" sz="900" i="1" dirty="0">
                <a:solidFill>
                  <a:srgbClr val="B4C7E7"/>
                </a:solidFill>
              </a:rPr>
              <a:t>absolute gain on Score₁</a:t>
            </a:r>
            <a:endParaRPr lang="en-US" sz="900" dirty="0"/>
          </a:p>
          <a:p>
            <a:pPr marL="0" indent="0" algn="ctr">
              <a:lnSpc>
                <a:spcPct val="120000"/>
              </a:lnSpc>
              <a:buNone/>
            </a:pPr>
            <a:r>
              <a:rPr lang="en-US" sz="900" i="1" dirty="0">
                <a:solidFill>
                  <a:srgbClr val="B4C7E7"/>
                </a:solidFill>
              </a:rPr>
              <a:t>0.3097  →  0.5422</a:t>
            </a:r>
            <a:endParaRPr lang="en-US" sz="900" dirty="0"/>
          </a:p>
        </p:txBody>
      </p:sp>
      <p:sp>
        <p:nvSpPr>
          <p:cNvPr id="19" name="Shape 16"/>
          <p:cNvSpPr/>
          <p:nvPr/>
        </p:nvSpPr>
        <p:spPr>
          <a:xfrm>
            <a:off x="6736080" y="3749040"/>
            <a:ext cx="2354580" cy="1005840"/>
          </a:xfrm>
          <a:prstGeom prst="rect">
            <a:avLst/>
          </a:prstGeom>
          <a:solidFill>
            <a:srgbClr val="FEF3E2"/>
          </a:solidFill>
          <a:ln w="12700">
            <a:solidFill>
              <a:srgbClr val="C77700"/>
            </a:solidFill>
            <a:prstDash val="solid"/>
          </a:ln>
        </p:spPr>
      </p:sp>
      <p:sp>
        <p:nvSpPr>
          <p:cNvPr id="20" name="Text 17"/>
          <p:cNvSpPr/>
          <p:nvPr/>
        </p:nvSpPr>
        <p:spPr>
          <a:xfrm>
            <a:off x="6736080" y="3867912"/>
            <a:ext cx="2468880" cy="228600"/>
          </a:xfrm>
          <a:prstGeom prst="rect">
            <a:avLst/>
          </a:prstGeom>
          <a:noFill/>
          <a:ln/>
        </p:spPr>
        <p:txBody>
          <a:bodyPr wrap="square" rtlCol="0" anchor="ctr"/>
          <a:lstStyle/>
          <a:p>
            <a:pPr marL="0" indent="0">
              <a:buNone/>
            </a:pPr>
            <a:r>
              <a:rPr lang="en-US" sz="900" b="1" kern="0" spc="150" dirty="0">
                <a:solidFill>
                  <a:srgbClr val="C77700"/>
                </a:solidFill>
              </a:rPr>
              <a:t>CALIBRATION TRADE-OFF</a:t>
            </a:r>
            <a:endParaRPr lang="en-US" sz="900" dirty="0"/>
          </a:p>
        </p:txBody>
      </p:sp>
      <p:sp>
        <p:nvSpPr>
          <p:cNvPr id="21" name="Text 18"/>
          <p:cNvSpPr/>
          <p:nvPr/>
        </p:nvSpPr>
        <p:spPr>
          <a:xfrm>
            <a:off x="6827520" y="4105656"/>
            <a:ext cx="2468880" cy="640080"/>
          </a:xfrm>
          <a:prstGeom prst="rect">
            <a:avLst/>
          </a:prstGeom>
          <a:noFill/>
          <a:ln/>
        </p:spPr>
        <p:txBody>
          <a:bodyPr wrap="square" rtlCol="0" anchor="ctr"/>
          <a:lstStyle/>
          <a:p>
            <a:pPr marL="0" indent="0">
              <a:lnSpc>
                <a:spcPct val="135000"/>
              </a:lnSpc>
              <a:buNone/>
            </a:pPr>
            <a:r>
              <a:rPr lang="en-US" sz="900" dirty="0">
                <a:solidFill>
                  <a:srgbClr val="374151"/>
                </a:solidFill>
              </a:rPr>
              <a:t>Deep models (HL-H 165, 206)</a:t>
            </a:r>
            <a:endParaRPr lang="en-US" sz="900" dirty="0"/>
          </a:p>
          <a:p>
            <a:pPr marL="0" indent="0">
              <a:lnSpc>
                <a:spcPct val="135000"/>
              </a:lnSpc>
              <a:buNone/>
            </a:pPr>
            <a:r>
              <a:rPr lang="en-US" sz="900" dirty="0">
                <a:solidFill>
                  <a:srgbClr val="374151"/>
                </a:solidFill>
              </a:rPr>
              <a:t>sacrifice calibration for</a:t>
            </a:r>
            <a:endParaRPr lang="en-US" sz="900" dirty="0"/>
          </a:p>
          <a:p>
            <a:pPr marL="0" indent="0">
              <a:lnSpc>
                <a:spcPct val="135000"/>
              </a:lnSpc>
              <a:buNone/>
            </a:pPr>
            <a:r>
              <a:rPr lang="en-US" sz="900" dirty="0">
                <a:solidFill>
                  <a:srgbClr val="374151"/>
                </a:solidFill>
              </a:rPr>
              <a:t>discrimination — see Slide 12.</a:t>
            </a:r>
            <a:endParaRPr lang="en-US" sz="900" dirty="0"/>
          </a:p>
        </p:txBody>
      </p:sp>
      <p:sp>
        <p:nvSpPr>
          <p:cNvPr id="22" name="Freeform 11">
            <a:extLst>
              <a:ext uri="{FF2B5EF4-FFF2-40B4-BE49-F238E27FC236}">
                <a16:creationId xmlns:a16="http://schemas.microsoft.com/office/drawing/2014/main" id="{52B3025F-3E74-FB1A-342A-2A3363139EF7}"/>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pic>
        <p:nvPicPr>
          <p:cNvPr id="6" name="Picture 5">
            <a:extLst>
              <a:ext uri="{FF2B5EF4-FFF2-40B4-BE49-F238E27FC236}">
                <a16:creationId xmlns:a16="http://schemas.microsoft.com/office/drawing/2014/main" id="{DFC0715D-0F90-9D1B-DB3B-DDCBD66B89A1}"/>
              </a:ext>
            </a:extLst>
          </p:cNvPr>
          <p:cNvPicPr>
            <a:picLocks noChangeAspect="1"/>
          </p:cNvPicPr>
          <p:nvPr/>
        </p:nvPicPr>
        <p:blipFill>
          <a:blip r:embed="rId4"/>
          <a:stretch>
            <a:fillRect/>
          </a:stretch>
        </p:blipFill>
        <p:spPr>
          <a:xfrm>
            <a:off x="384048" y="850393"/>
            <a:ext cx="6352032" cy="3920934"/>
          </a:xfrm>
          <a:prstGeom prst="rect">
            <a:avLst/>
          </a:prstGeom>
        </p:spPr>
      </p:pic>
      <p:sp>
        <p:nvSpPr>
          <p:cNvPr id="1101" name="Score1Formula"/>
          <p:cNvSpPr txBox="1"/>
          <p:nvPr/>
        </p:nvSpPr>
        <p:spPr>
          <a:xfrm>
            <a:off x="365760" y="4846320"/>
            <a:ext cx="6126480" cy="256032"/>
          </a:xfrm>
          <a:prstGeom prst="rect">
            <a:avLst/>
          </a:prstGeom>
        </p:spPr>
        <p:txBody>
          <a:bodyPr wrap="square" lIns="0" tIns="0" bIns="0" rtlCol="0">
            <a:normAutofit/>
          </a:bodyPr>
          <a:lstStyle/>
          <a:p>
            <a:pPr algn="l"/>
            <a:r>
              <a:rPr lang="en-US" sz="1050" b="1" dirty="0">
                <a:solidFill>
                  <a:srgbClr val="000000"/>
                </a:solidFill>
                <a:latin typeface="Cambria Math"/>
              </a:rPr>
              <a:t>Score₁ = min(Recall, Precision) = min(Sensitivity, Positive Predictivity)</a:t>
            </a:r>
          </a:p>
        </p:txBody>
      </p:sp>
    </p:spTree>
    <p:extLst>
      <p:ext uri="{BB962C8B-B14F-4D97-AF65-F5344CB8AC3E}">
        <p14:creationId xmlns:p14="http://schemas.microsoft.com/office/powerpoint/2010/main" val="420695586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14</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Time-Step SHAP in Action  —  Patient 419</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pic>
        <p:nvPicPr>
          <p:cNvPr id="9" name="Image 0" descr="real_figs/patient_419_shap_heatmap.png"/>
          <p:cNvPicPr>
            <a:picLocks noChangeAspect="1"/>
          </p:cNvPicPr>
          <p:nvPr/>
        </p:nvPicPr>
        <p:blipFill>
          <a:blip r:embed="rId3"/>
          <a:stretch>
            <a:fillRect/>
          </a:stretch>
        </p:blipFill>
        <p:spPr>
          <a:xfrm>
            <a:off x="292608" y="960120"/>
            <a:ext cx="5422392" cy="3776471"/>
          </a:xfrm>
          <a:prstGeom prst="rect">
            <a:avLst/>
          </a:prstGeom>
        </p:spPr>
      </p:pic>
      <p:sp>
        <p:nvSpPr>
          <p:cNvPr id="10" name="Text 7"/>
          <p:cNvSpPr/>
          <p:nvPr/>
        </p:nvSpPr>
        <p:spPr>
          <a:xfrm>
            <a:off x="502920" y="4736592"/>
            <a:ext cx="5212080" cy="228600"/>
          </a:xfrm>
          <a:prstGeom prst="rect">
            <a:avLst/>
          </a:prstGeom>
          <a:noFill/>
          <a:ln/>
        </p:spPr>
        <p:txBody>
          <a:bodyPr wrap="square" rtlCol="0" anchor="ctr"/>
          <a:lstStyle/>
          <a:p>
            <a:pPr marL="0" indent="0" algn="ctr">
              <a:buNone/>
            </a:pPr>
            <a:r>
              <a:rPr lang="en-US" sz="1200" b="1" i="1" dirty="0"/>
              <a:t>Figure 7.  Per-patient time-step SHAP heatmap — Patient 419 (Survivor).</a:t>
            </a:r>
            <a:endParaRPr lang="en-US" sz="1200" b="1" dirty="0"/>
          </a:p>
        </p:txBody>
      </p:sp>
      <p:sp>
        <p:nvSpPr>
          <p:cNvPr id="11" name="Text 8"/>
          <p:cNvSpPr/>
          <p:nvPr/>
        </p:nvSpPr>
        <p:spPr>
          <a:xfrm>
            <a:off x="5852160" y="960120"/>
            <a:ext cx="3081528" cy="114300"/>
          </a:xfrm>
          <a:prstGeom prst="rect">
            <a:avLst/>
          </a:prstGeom>
          <a:noFill/>
          <a:ln/>
        </p:spPr>
        <p:txBody>
          <a:bodyPr wrap="square" rtlCol="0" anchor="ctr"/>
          <a:lstStyle/>
          <a:p>
            <a:pPr marL="0" indent="0">
              <a:buNone/>
            </a:pPr>
            <a:r>
              <a:rPr lang="en-US" sz="1300" b="1" kern="0" spc="150" dirty="0">
                <a:solidFill>
                  <a:srgbClr val="0F2C4F"/>
                </a:solidFill>
              </a:rPr>
              <a:t>WHAT TO READ FROM THIS HEATMAP</a:t>
            </a:r>
            <a:endParaRPr lang="en-US" sz="1300" b="1" dirty="0"/>
          </a:p>
        </p:txBody>
      </p:sp>
      <p:sp>
        <p:nvSpPr>
          <p:cNvPr id="12" name="Shape 9"/>
          <p:cNvSpPr/>
          <p:nvPr/>
        </p:nvSpPr>
        <p:spPr>
          <a:xfrm>
            <a:off x="5852160" y="1234440"/>
            <a:ext cx="457200" cy="27432"/>
          </a:xfrm>
          <a:prstGeom prst="rect">
            <a:avLst/>
          </a:prstGeom>
          <a:solidFill>
            <a:srgbClr val="2E75B6"/>
          </a:solidFill>
          <a:ln w="12700">
            <a:solidFill>
              <a:srgbClr val="2E75B6"/>
            </a:solidFill>
            <a:prstDash val="solid"/>
          </a:ln>
        </p:spPr>
      </p:sp>
      <p:sp>
        <p:nvSpPr>
          <p:cNvPr id="13" name="Shape 10"/>
          <p:cNvSpPr/>
          <p:nvPr/>
        </p:nvSpPr>
        <p:spPr>
          <a:xfrm>
            <a:off x="5852160" y="1417320"/>
            <a:ext cx="685800" cy="274320"/>
          </a:xfrm>
          <a:prstGeom prst="roundRect">
            <a:avLst>
              <a:gd name="adj" fmla="val 13333"/>
            </a:avLst>
          </a:prstGeom>
          <a:solidFill>
            <a:srgbClr val="B22222"/>
          </a:solidFill>
          <a:ln w="12700">
            <a:solidFill>
              <a:srgbClr val="B22222"/>
            </a:solidFill>
            <a:prstDash val="solid"/>
          </a:ln>
        </p:spPr>
      </p:sp>
      <p:sp>
        <p:nvSpPr>
          <p:cNvPr id="14" name="Text 11"/>
          <p:cNvSpPr/>
          <p:nvPr/>
        </p:nvSpPr>
        <p:spPr>
          <a:xfrm>
            <a:off x="5852160" y="1417320"/>
            <a:ext cx="685800" cy="274320"/>
          </a:xfrm>
          <a:prstGeom prst="rect">
            <a:avLst/>
          </a:prstGeom>
          <a:noFill/>
          <a:ln/>
        </p:spPr>
        <p:txBody>
          <a:bodyPr wrap="square" rtlCol="0" anchor="ctr"/>
          <a:lstStyle/>
          <a:p>
            <a:pPr marL="0" indent="0" algn="ctr">
              <a:buNone/>
            </a:pPr>
            <a:r>
              <a:rPr lang="en-US" sz="800" b="1" kern="0" spc="100" dirty="0">
                <a:solidFill>
                  <a:srgbClr val="FFFFFF"/>
                </a:solidFill>
              </a:rPr>
              <a:t>RED</a:t>
            </a:r>
            <a:endParaRPr lang="en-US" sz="800" dirty="0"/>
          </a:p>
        </p:txBody>
      </p:sp>
      <p:sp>
        <p:nvSpPr>
          <p:cNvPr id="15" name="Text 12"/>
          <p:cNvSpPr/>
          <p:nvPr/>
        </p:nvSpPr>
        <p:spPr>
          <a:xfrm>
            <a:off x="6601968" y="1399032"/>
            <a:ext cx="2331720" cy="594360"/>
          </a:xfrm>
          <a:prstGeom prst="rect">
            <a:avLst/>
          </a:prstGeom>
          <a:noFill/>
          <a:ln/>
        </p:spPr>
        <p:txBody>
          <a:bodyPr wrap="square" rtlCol="0" anchor="ctr"/>
          <a:lstStyle/>
          <a:p>
            <a:pPr marL="0" indent="0">
              <a:lnSpc>
                <a:spcPct val="130000"/>
              </a:lnSpc>
              <a:buNone/>
            </a:pPr>
            <a:r>
              <a:rPr lang="en-US" sz="1100" b="1" dirty="0"/>
              <a:t>GCS dominates the attribution — model picked up the strongest clinical signal.</a:t>
            </a:r>
          </a:p>
        </p:txBody>
      </p:sp>
      <p:sp>
        <p:nvSpPr>
          <p:cNvPr id="16" name="Shape 13"/>
          <p:cNvSpPr/>
          <p:nvPr/>
        </p:nvSpPr>
        <p:spPr>
          <a:xfrm>
            <a:off x="5852160" y="2130552"/>
            <a:ext cx="685800" cy="274320"/>
          </a:xfrm>
          <a:prstGeom prst="roundRect">
            <a:avLst>
              <a:gd name="adj" fmla="val 13333"/>
            </a:avLst>
          </a:prstGeom>
          <a:solidFill>
            <a:srgbClr val="C77700"/>
          </a:solidFill>
          <a:ln w="12700">
            <a:solidFill>
              <a:srgbClr val="C77700"/>
            </a:solidFill>
            <a:prstDash val="solid"/>
          </a:ln>
        </p:spPr>
      </p:sp>
      <p:sp>
        <p:nvSpPr>
          <p:cNvPr id="17" name="Text 14"/>
          <p:cNvSpPr/>
          <p:nvPr/>
        </p:nvSpPr>
        <p:spPr>
          <a:xfrm>
            <a:off x="5852160" y="2130552"/>
            <a:ext cx="685800" cy="274320"/>
          </a:xfrm>
          <a:prstGeom prst="rect">
            <a:avLst/>
          </a:prstGeom>
          <a:noFill/>
          <a:ln/>
        </p:spPr>
        <p:txBody>
          <a:bodyPr wrap="square" rtlCol="0" anchor="ctr"/>
          <a:lstStyle/>
          <a:p>
            <a:pPr marL="0" indent="0" algn="ctr">
              <a:buNone/>
            </a:pPr>
            <a:r>
              <a:rPr lang="en-US" sz="800" b="1" kern="0" spc="100" dirty="0">
                <a:solidFill>
                  <a:srgbClr val="FFFFFF"/>
                </a:solidFill>
              </a:rPr>
              <a:t>ORANGE</a:t>
            </a:r>
            <a:endParaRPr lang="en-US" sz="800" dirty="0"/>
          </a:p>
        </p:txBody>
      </p:sp>
      <p:sp>
        <p:nvSpPr>
          <p:cNvPr id="18" name="Text 15"/>
          <p:cNvSpPr/>
          <p:nvPr/>
        </p:nvSpPr>
        <p:spPr>
          <a:xfrm>
            <a:off x="6601968" y="2037588"/>
            <a:ext cx="2331720" cy="594360"/>
          </a:xfrm>
          <a:prstGeom prst="rect">
            <a:avLst/>
          </a:prstGeom>
          <a:noFill/>
          <a:ln/>
        </p:spPr>
        <p:txBody>
          <a:bodyPr wrap="square" rtlCol="0" anchor="ctr"/>
          <a:lstStyle/>
          <a:p>
            <a:pPr marL="0" indent="0">
              <a:lnSpc>
                <a:spcPct val="130000"/>
              </a:lnSpc>
              <a:buNone/>
            </a:pPr>
            <a:r>
              <a:rPr lang="en-US" sz="1100" b="1" dirty="0"/>
              <a:t>Lactate carries strong secondary evidence across the full window.</a:t>
            </a:r>
          </a:p>
        </p:txBody>
      </p:sp>
      <p:sp>
        <p:nvSpPr>
          <p:cNvPr id="19" name="Shape 16"/>
          <p:cNvSpPr/>
          <p:nvPr/>
        </p:nvSpPr>
        <p:spPr>
          <a:xfrm>
            <a:off x="5852160" y="2843784"/>
            <a:ext cx="685800" cy="274320"/>
          </a:xfrm>
          <a:prstGeom prst="roundRect">
            <a:avLst>
              <a:gd name="adj" fmla="val 13333"/>
            </a:avLst>
          </a:prstGeom>
          <a:solidFill>
            <a:srgbClr val="5B9BD5"/>
          </a:solidFill>
          <a:ln w="12700">
            <a:solidFill>
              <a:srgbClr val="5B9BD5"/>
            </a:solidFill>
            <a:prstDash val="solid"/>
          </a:ln>
        </p:spPr>
      </p:sp>
      <p:sp>
        <p:nvSpPr>
          <p:cNvPr id="20" name="Text 17"/>
          <p:cNvSpPr/>
          <p:nvPr/>
        </p:nvSpPr>
        <p:spPr>
          <a:xfrm>
            <a:off x="5852160" y="2843784"/>
            <a:ext cx="685800" cy="274320"/>
          </a:xfrm>
          <a:prstGeom prst="rect">
            <a:avLst/>
          </a:prstGeom>
          <a:noFill/>
          <a:ln/>
        </p:spPr>
        <p:txBody>
          <a:bodyPr wrap="square" rtlCol="0" anchor="ctr"/>
          <a:lstStyle/>
          <a:p>
            <a:pPr marL="0" indent="0" algn="ctr">
              <a:buNone/>
            </a:pPr>
            <a:r>
              <a:rPr lang="en-US" sz="800" b="1" kern="0" spc="100" dirty="0">
                <a:solidFill>
                  <a:srgbClr val="FFFFFF"/>
                </a:solidFill>
              </a:rPr>
              <a:t>LIGHT Green</a:t>
            </a:r>
            <a:endParaRPr lang="en-US" sz="800" dirty="0"/>
          </a:p>
        </p:txBody>
      </p:sp>
      <p:sp>
        <p:nvSpPr>
          <p:cNvPr id="21" name="Text 18"/>
          <p:cNvSpPr/>
          <p:nvPr/>
        </p:nvSpPr>
        <p:spPr>
          <a:xfrm>
            <a:off x="6601968" y="2709672"/>
            <a:ext cx="2331720" cy="594360"/>
          </a:xfrm>
          <a:prstGeom prst="rect">
            <a:avLst/>
          </a:prstGeom>
          <a:noFill/>
          <a:ln/>
        </p:spPr>
        <p:txBody>
          <a:bodyPr wrap="square" rtlCol="0" anchor="ctr"/>
          <a:lstStyle/>
          <a:p>
            <a:pPr marL="0" indent="0">
              <a:lnSpc>
                <a:spcPct val="130000"/>
              </a:lnSpc>
              <a:buNone/>
            </a:pPr>
            <a:r>
              <a:rPr lang="en-US" sz="1100" b="1" dirty="0"/>
              <a:t>Glucose, BUN, NIMAP contribute moderate support to the prediction.</a:t>
            </a:r>
          </a:p>
        </p:txBody>
      </p:sp>
      <p:sp>
        <p:nvSpPr>
          <p:cNvPr id="22" name="Shape 19"/>
          <p:cNvSpPr/>
          <p:nvPr/>
        </p:nvSpPr>
        <p:spPr>
          <a:xfrm>
            <a:off x="5852160" y="3557016"/>
            <a:ext cx="685800" cy="274320"/>
          </a:xfrm>
          <a:prstGeom prst="roundRect">
            <a:avLst>
              <a:gd name="adj" fmla="val 13333"/>
            </a:avLst>
          </a:prstGeom>
          <a:solidFill>
            <a:srgbClr val="1F4E79"/>
          </a:solidFill>
          <a:ln w="12700">
            <a:solidFill>
              <a:srgbClr val="1F4E79"/>
            </a:solidFill>
            <a:prstDash val="solid"/>
          </a:ln>
        </p:spPr>
      </p:sp>
      <p:sp>
        <p:nvSpPr>
          <p:cNvPr id="23" name="Text 20"/>
          <p:cNvSpPr/>
          <p:nvPr/>
        </p:nvSpPr>
        <p:spPr>
          <a:xfrm>
            <a:off x="5852160" y="3557016"/>
            <a:ext cx="685800" cy="274320"/>
          </a:xfrm>
          <a:prstGeom prst="rect">
            <a:avLst/>
          </a:prstGeom>
          <a:noFill/>
          <a:ln/>
        </p:spPr>
        <p:txBody>
          <a:bodyPr wrap="square" rtlCol="0" anchor="ctr"/>
          <a:lstStyle/>
          <a:p>
            <a:pPr marL="0" indent="0" algn="ctr">
              <a:buNone/>
            </a:pPr>
            <a:r>
              <a:rPr lang="en-US" sz="800" b="1" kern="0" spc="100" dirty="0">
                <a:solidFill>
                  <a:srgbClr val="FFFFFF"/>
                </a:solidFill>
              </a:rPr>
              <a:t>BLUE</a:t>
            </a:r>
            <a:endParaRPr lang="en-US" sz="800" dirty="0"/>
          </a:p>
        </p:txBody>
      </p:sp>
      <p:sp>
        <p:nvSpPr>
          <p:cNvPr id="24" name="Text 21"/>
          <p:cNvSpPr/>
          <p:nvPr/>
        </p:nvSpPr>
        <p:spPr>
          <a:xfrm>
            <a:off x="6601968" y="3538728"/>
            <a:ext cx="2465832" cy="594360"/>
          </a:xfrm>
          <a:prstGeom prst="rect">
            <a:avLst/>
          </a:prstGeom>
          <a:noFill/>
          <a:ln/>
        </p:spPr>
        <p:txBody>
          <a:bodyPr wrap="square" rtlCol="0" anchor="ctr"/>
          <a:lstStyle/>
          <a:p>
            <a:pPr marL="0" indent="0">
              <a:lnSpc>
                <a:spcPct val="130000"/>
              </a:lnSpc>
              <a:buNone/>
            </a:pPr>
            <a:r>
              <a:rPr lang="en-US" sz="1100" b="1" dirty="0"/>
              <a:t>The remaining labs (Heart rate, Potassium, Urine…) carry the least attribution — the model concentrates on a few strong signals.</a:t>
            </a:r>
          </a:p>
        </p:txBody>
      </p:sp>
      <p:sp>
        <p:nvSpPr>
          <p:cNvPr id="25" name="Shape 22"/>
          <p:cNvSpPr/>
          <p:nvPr/>
        </p:nvSpPr>
        <p:spPr>
          <a:xfrm>
            <a:off x="5852160" y="4297680"/>
            <a:ext cx="2651760" cy="457200"/>
          </a:xfrm>
          <a:prstGeom prst="rect">
            <a:avLst/>
          </a:prstGeom>
          <a:solidFill>
            <a:srgbClr val="0F2C4F"/>
          </a:solidFill>
          <a:ln w="12700">
            <a:solidFill>
              <a:srgbClr val="0F2C4F"/>
            </a:solidFill>
            <a:prstDash val="solid"/>
          </a:ln>
        </p:spPr>
      </p:sp>
      <p:sp>
        <p:nvSpPr>
          <p:cNvPr id="26" name="Text 23"/>
          <p:cNvSpPr/>
          <p:nvPr/>
        </p:nvSpPr>
        <p:spPr>
          <a:xfrm>
            <a:off x="5852160" y="4297680"/>
            <a:ext cx="2651760" cy="457200"/>
          </a:xfrm>
          <a:prstGeom prst="rect">
            <a:avLst/>
          </a:prstGeom>
          <a:noFill/>
          <a:ln/>
        </p:spPr>
        <p:txBody>
          <a:bodyPr wrap="square" rtlCol="0" anchor="ctr"/>
          <a:lstStyle/>
          <a:p>
            <a:pPr marL="0" indent="0" algn="ctr">
              <a:lnSpc>
                <a:spcPct val="130000"/>
              </a:lnSpc>
              <a:buNone/>
            </a:pPr>
            <a:r>
              <a:rPr lang="en-US" sz="1000" b="1" i="1" dirty="0">
                <a:solidFill>
                  <a:srgbClr val="FFFFFF"/>
                </a:solidFill>
              </a:rPr>
              <a:t>Attribution lives in the</a:t>
            </a:r>
            <a:endParaRPr lang="en-US" sz="1000" dirty="0"/>
          </a:p>
          <a:p>
            <a:pPr marL="0" indent="0" algn="ctr">
              <a:lnSpc>
                <a:spcPct val="130000"/>
              </a:lnSpc>
              <a:buNone/>
            </a:pPr>
            <a:r>
              <a:rPr lang="en-US" sz="1000" b="1" i="1" dirty="0">
                <a:solidFill>
                  <a:srgbClr val="FFFFFF"/>
                </a:solidFill>
              </a:rPr>
              <a:t>clinician's mental model.</a:t>
            </a:r>
            <a:endParaRPr lang="en-US" sz="1000" dirty="0"/>
          </a:p>
        </p:txBody>
      </p:sp>
      <p:sp>
        <p:nvSpPr>
          <p:cNvPr id="27" name="Freeform 11">
            <a:extLst>
              <a:ext uri="{FF2B5EF4-FFF2-40B4-BE49-F238E27FC236}">
                <a16:creationId xmlns:a16="http://schemas.microsoft.com/office/drawing/2014/main" id="{87CBDFEB-34E7-0820-B21A-C3D92A9475B4}"/>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15</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6" name="Text 4"/>
          <p:cNvSpPr/>
          <p:nvPr/>
        </p:nvSpPr>
        <p:spPr>
          <a:xfrm>
            <a:off x="8275320" y="566928"/>
            <a:ext cx="658368" cy="201168"/>
          </a:xfrm>
          <a:prstGeom prst="rect">
            <a:avLst/>
          </a:prstGeom>
          <a:noFill/>
          <a:ln/>
        </p:spPr>
        <p:txBody>
          <a:bodyPr wrap="square" rtlCol="0" anchor="ctr"/>
          <a:lstStyle/>
          <a:p>
            <a:pPr marL="0" indent="0" algn="ctr">
              <a:buNone/>
            </a:pPr>
            <a:r>
              <a:rPr lang="en-US" sz="600" b="1" kern="0" spc="100" dirty="0">
                <a:solidFill>
                  <a:srgbClr val="FFFFFF"/>
                </a:solidFill>
              </a:rPr>
              <a:t>TOMSK · 187</a:t>
            </a:r>
            <a:endParaRPr lang="en-US" sz="6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Cohort-Level SHAP  —  What Matters Globally</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pic>
        <p:nvPicPr>
          <p:cNvPr id="9" name="Image 0" descr="real_figs/global_feature_importance.png"/>
          <p:cNvPicPr>
            <a:picLocks noChangeAspect="1"/>
          </p:cNvPicPr>
          <p:nvPr/>
        </p:nvPicPr>
        <p:blipFill>
          <a:blip r:embed="rId3"/>
          <a:stretch>
            <a:fillRect/>
          </a:stretch>
        </p:blipFill>
        <p:spPr>
          <a:xfrm>
            <a:off x="502920" y="896112"/>
            <a:ext cx="4023360" cy="3776472"/>
          </a:xfrm>
          <a:prstGeom prst="rect">
            <a:avLst/>
          </a:prstGeom>
        </p:spPr>
      </p:pic>
      <p:sp>
        <p:nvSpPr>
          <p:cNvPr id="10" name="Text 7"/>
          <p:cNvSpPr/>
          <p:nvPr/>
        </p:nvSpPr>
        <p:spPr>
          <a:xfrm>
            <a:off x="502920" y="4736592"/>
            <a:ext cx="4884420" cy="263318"/>
          </a:xfrm>
          <a:prstGeom prst="rect">
            <a:avLst/>
          </a:prstGeom>
          <a:noFill/>
          <a:ln/>
        </p:spPr>
        <p:txBody>
          <a:bodyPr wrap="square" rtlCol="0" anchor="ctr"/>
          <a:lstStyle/>
          <a:p>
            <a:pPr marL="0" indent="0" algn="ctr">
              <a:buNone/>
            </a:pPr>
            <a:r>
              <a:rPr lang="en-US" sz="1200" b="1" i="1" dirty="0"/>
              <a:t>Figure 8.  Top variables by mean |SHAP| across 4,000 patients.</a:t>
            </a:r>
            <a:endParaRPr lang="en-US" sz="1200" b="1" dirty="0"/>
          </a:p>
        </p:txBody>
      </p:sp>
      <p:sp>
        <p:nvSpPr>
          <p:cNvPr id="12" name="Text 8"/>
          <p:cNvSpPr/>
          <p:nvPr/>
        </p:nvSpPr>
        <p:spPr>
          <a:xfrm>
            <a:off x="4663440" y="2834640"/>
            <a:ext cx="4343400" cy="120730"/>
          </a:xfrm>
          <a:prstGeom prst="rect">
            <a:avLst/>
          </a:prstGeom>
          <a:noFill/>
          <a:ln/>
        </p:spPr>
        <p:txBody>
          <a:bodyPr wrap="square" rtlCol="0" anchor="ctr"/>
          <a:lstStyle/>
          <a:p>
            <a:pPr marL="0" indent="0" algn="ctr">
              <a:buNone/>
            </a:pPr>
            <a:r>
              <a:rPr lang="en-US" sz="1200" b="1" i="1" dirty="0"/>
              <a:t>Figure 9.  Total |SHAP| per hour — which hours matter most.</a:t>
            </a:r>
            <a:endParaRPr lang="en-US" sz="1200" b="1" dirty="0"/>
          </a:p>
        </p:txBody>
      </p:sp>
      <p:sp>
        <p:nvSpPr>
          <p:cNvPr id="13" name="Shape 9"/>
          <p:cNvSpPr/>
          <p:nvPr/>
        </p:nvSpPr>
        <p:spPr>
          <a:xfrm>
            <a:off x="4663440" y="3200400"/>
            <a:ext cx="4343400" cy="1554480"/>
          </a:xfrm>
          <a:prstGeom prst="rect">
            <a:avLst/>
          </a:prstGeom>
          <a:solidFill>
            <a:srgbClr val="F5F8FC"/>
          </a:solidFill>
          <a:ln w="12700">
            <a:solidFill>
              <a:srgbClr val="D9E2F3"/>
            </a:solidFill>
            <a:prstDash val="solid"/>
          </a:ln>
        </p:spPr>
      </p:sp>
      <p:sp>
        <p:nvSpPr>
          <p:cNvPr id="14" name="Text 10"/>
          <p:cNvSpPr/>
          <p:nvPr/>
        </p:nvSpPr>
        <p:spPr>
          <a:xfrm>
            <a:off x="4800600" y="3291840"/>
            <a:ext cx="3657600" cy="274320"/>
          </a:xfrm>
          <a:prstGeom prst="rect">
            <a:avLst/>
          </a:prstGeom>
          <a:noFill/>
          <a:ln/>
        </p:spPr>
        <p:txBody>
          <a:bodyPr wrap="square" rtlCol="0" anchor="ctr"/>
          <a:lstStyle/>
          <a:p>
            <a:pPr marL="0" indent="0">
              <a:buNone/>
            </a:pPr>
            <a:r>
              <a:rPr lang="en-US" sz="1000" b="1" kern="0" spc="150" dirty="0">
                <a:solidFill>
                  <a:srgbClr val="0F2C4F"/>
                </a:solidFill>
              </a:rPr>
              <a:t>KEY  CLINICAL  FINDINGS</a:t>
            </a:r>
            <a:endParaRPr lang="en-US" sz="1000" dirty="0"/>
          </a:p>
        </p:txBody>
      </p:sp>
      <p:sp>
        <p:nvSpPr>
          <p:cNvPr id="15" name="Shape 11"/>
          <p:cNvSpPr/>
          <p:nvPr/>
        </p:nvSpPr>
        <p:spPr>
          <a:xfrm>
            <a:off x="4800600" y="3566160"/>
            <a:ext cx="457200" cy="27432"/>
          </a:xfrm>
          <a:prstGeom prst="rect">
            <a:avLst/>
          </a:prstGeom>
          <a:solidFill>
            <a:srgbClr val="2E75B6"/>
          </a:solidFill>
          <a:ln w="12700">
            <a:solidFill>
              <a:srgbClr val="2E75B6"/>
            </a:solidFill>
            <a:prstDash val="solid"/>
          </a:ln>
        </p:spPr>
      </p:sp>
      <p:sp>
        <p:nvSpPr>
          <p:cNvPr id="16" name="Text 12"/>
          <p:cNvSpPr/>
          <p:nvPr/>
        </p:nvSpPr>
        <p:spPr>
          <a:xfrm>
            <a:off x="4800600" y="3703320"/>
            <a:ext cx="228600" cy="274320"/>
          </a:xfrm>
          <a:prstGeom prst="rect">
            <a:avLst/>
          </a:prstGeom>
          <a:noFill/>
          <a:ln/>
        </p:spPr>
        <p:txBody>
          <a:bodyPr wrap="square" rtlCol="0" anchor="ctr"/>
          <a:lstStyle/>
          <a:p>
            <a:pPr marL="0" indent="0" algn="ctr">
              <a:buNone/>
            </a:pPr>
            <a:r>
              <a:rPr lang="en-US" sz="1200" b="1" dirty="0">
                <a:solidFill>
                  <a:srgbClr val="2E75B6"/>
                </a:solidFill>
              </a:rPr>
              <a:t>★</a:t>
            </a:r>
            <a:endParaRPr lang="en-US" sz="1200" dirty="0"/>
          </a:p>
        </p:txBody>
      </p:sp>
      <p:sp>
        <p:nvSpPr>
          <p:cNvPr id="17" name="Text 13"/>
          <p:cNvSpPr/>
          <p:nvPr/>
        </p:nvSpPr>
        <p:spPr>
          <a:xfrm>
            <a:off x="5074920" y="3703320"/>
            <a:ext cx="1463040" cy="274320"/>
          </a:xfrm>
          <a:prstGeom prst="rect">
            <a:avLst/>
          </a:prstGeom>
          <a:noFill/>
          <a:ln/>
        </p:spPr>
        <p:txBody>
          <a:bodyPr wrap="square" rtlCol="0" anchor="ctr"/>
          <a:lstStyle/>
          <a:p>
            <a:pPr marL="0" indent="0">
              <a:buNone/>
            </a:pPr>
            <a:r>
              <a:rPr lang="en-US" sz="1000" b="1" dirty="0">
                <a:solidFill>
                  <a:srgbClr val="1F4E79"/>
                </a:solidFill>
              </a:rPr>
              <a:t>GCS dominates</a:t>
            </a:r>
            <a:endParaRPr lang="en-US" sz="1000" dirty="0"/>
          </a:p>
        </p:txBody>
      </p:sp>
      <p:sp>
        <p:nvSpPr>
          <p:cNvPr id="18" name="Text 14"/>
          <p:cNvSpPr/>
          <p:nvPr/>
        </p:nvSpPr>
        <p:spPr>
          <a:xfrm>
            <a:off x="6565392" y="3593592"/>
            <a:ext cx="2331720" cy="384048"/>
          </a:xfrm>
          <a:prstGeom prst="rect">
            <a:avLst/>
          </a:prstGeom>
          <a:noFill/>
          <a:ln/>
        </p:spPr>
        <p:txBody>
          <a:bodyPr wrap="square" rtlCol="0" anchor="ctr"/>
          <a:lstStyle/>
          <a:p>
            <a:pPr marL="0" indent="0">
              <a:buNone/>
            </a:pPr>
            <a:r>
              <a:rPr lang="en-US" sz="1100" b="1" i="1" dirty="0"/>
              <a:t>by far the strongest predictor — 2× any other</a:t>
            </a:r>
            <a:endParaRPr lang="en-US" sz="1100" b="1" dirty="0"/>
          </a:p>
        </p:txBody>
      </p:sp>
      <p:sp>
        <p:nvSpPr>
          <p:cNvPr id="19" name="Text 15"/>
          <p:cNvSpPr/>
          <p:nvPr/>
        </p:nvSpPr>
        <p:spPr>
          <a:xfrm>
            <a:off x="4800600" y="4050792"/>
            <a:ext cx="228600" cy="274320"/>
          </a:xfrm>
          <a:prstGeom prst="rect">
            <a:avLst/>
          </a:prstGeom>
          <a:noFill/>
          <a:ln/>
        </p:spPr>
        <p:txBody>
          <a:bodyPr wrap="square" rtlCol="0" anchor="ctr"/>
          <a:lstStyle/>
          <a:p>
            <a:pPr marL="0" indent="0" algn="ctr">
              <a:buNone/>
            </a:pPr>
            <a:r>
              <a:rPr lang="en-US" sz="1200" b="1" dirty="0">
                <a:solidFill>
                  <a:srgbClr val="2E75B6"/>
                </a:solidFill>
              </a:rPr>
              <a:t>✓</a:t>
            </a:r>
            <a:endParaRPr lang="en-US" sz="1200" dirty="0"/>
          </a:p>
        </p:txBody>
      </p:sp>
      <p:sp>
        <p:nvSpPr>
          <p:cNvPr id="20" name="Text 16"/>
          <p:cNvSpPr/>
          <p:nvPr/>
        </p:nvSpPr>
        <p:spPr>
          <a:xfrm>
            <a:off x="5074920" y="4050792"/>
            <a:ext cx="1463040" cy="274320"/>
          </a:xfrm>
          <a:prstGeom prst="rect">
            <a:avLst/>
          </a:prstGeom>
          <a:noFill/>
          <a:ln/>
        </p:spPr>
        <p:txBody>
          <a:bodyPr wrap="square" rtlCol="0" anchor="ctr"/>
          <a:lstStyle/>
          <a:p>
            <a:pPr marL="0" indent="0">
              <a:buNone/>
            </a:pPr>
            <a:r>
              <a:rPr lang="en-US" sz="1000" b="1" dirty="0">
                <a:solidFill>
                  <a:srgbClr val="1F4E79"/>
                </a:solidFill>
              </a:rPr>
              <a:t>Top-10 are clinical</a:t>
            </a:r>
            <a:endParaRPr lang="en-US" sz="1000" dirty="0"/>
          </a:p>
        </p:txBody>
      </p:sp>
      <p:sp>
        <p:nvSpPr>
          <p:cNvPr id="21" name="Text 17"/>
          <p:cNvSpPr/>
          <p:nvPr/>
        </p:nvSpPr>
        <p:spPr>
          <a:xfrm>
            <a:off x="6565392" y="4041648"/>
            <a:ext cx="2331720" cy="283464"/>
          </a:xfrm>
          <a:prstGeom prst="rect">
            <a:avLst/>
          </a:prstGeom>
          <a:noFill/>
          <a:ln/>
        </p:spPr>
        <p:txBody>
          <a:bodyPr wrap="square" rtlCol="0" anchor="ctr"/>
          <a:lstStyle/>
          <a:p>
            <a:pPr marL="0" indent="0">
              <a:buNone/>
            </a:pPr>
            <a:r>
              <a:rPr lang="en-US" sz="1100" b="1" i="1" dirty="0"/>
              <a:t>all appear in SAPS / APACHE / SOFA scores</a:t>
            </a:r>
            <a:endParaRPr lang="en-US" sz="1100" b="1" dirty="0"/>
          </a:p>
        </p:txBody>
      </p:sp>
      <p:sp>
        <p:nvSpPr>
          <p:cNvPr id="22" name="Text 18"/>
          <p:cNvSpPr/>
          <p:nvPr/>
        </p:nvSpPr>
        <p:spPr>
          <a:xfrm>
            <a:off x="4800600" y="4398264"/>
            <a:ext cx="228600" cy="274320"/>
          </a:xfrm>
          <a:prstGeom prst="rect">
            <a:avLst/>
          </a:prstGeom>
          <a:noFill/>
          <a:ln/>
        </p:spPr>
        <p:txBody>
          <a:bodyPr wrap="square" rtlCol="0" anchor="ctr"/>
          <a:lstStyle/>
          <a:p>
            <a:pPr marL="0" indent="0" algn="ctr">
              <a:buNone/>
            </a:pPr>
            <a:r>
              <a:rPr lang="en-US" sz="1200" b="1" dirty="0">
                <a:solidFill>
                  <a:srgbClr val="2E75B6"/>
                </a:solidFill>
              </a:rPr>
              <a:t>⌚</a:t>
            </a:r>
            <a:endParaRPr lang="en-US" sz="1200" dirty="0"/>
          </a:p>
        </p:txBody>
      </p:sp>
      <p:sp>
        <p:nvSpPr>
          <p:cNvPr id="23" name="Text 19"/>
          <p:cNvSpPr/>
          <p:nvPr/>
        </p:nvSpPr>
        <p:spPr>
          <a:xfrm>
            <a:off x="5074920" y="4398264"/>
            <a:ext cx="1463040" cy="274320"/>
          </a:xfrm>
          <a:prstGeom prst="rect">
            <a:avLst/>
          </a:prstGeom>
          <a:noFill/>
          <a:ln/>
        </p:spPr>
        <p:txBody>
          <a:bodyPr wrap="square" rtlCol="0" anchor="ctr"/>
          <a:lstStyle/>
          <a:p>
            <a:pPr marL="0" indent="0">
              <a:buNone/>
            </a:pPr>
            <a:r>
              <a:rPr lang="en-US" sz="1000" b="1" dirty="0">
                <a:solidFill>
                  <a:srgbClr val="1F4E79"/>
                </a:solidFill>
              </a:rPr>
              <a:t>First hour matters</a:t>
            </a:r>
            <a:endParaRPr lang="en-US" sz="1000" dirty="0"/>
          </a:p>
        </p:txBody>
      </p:sp>
      <p:sp>
        <p:nvSpPr>
          <p:cNvPr id="24" name="Text 20"/>
          <p:cNvSpPr/>
          <p:nvPr/>
        </p:nvSpPr>
        <p:spPr>
          <a:xfrm>
            <a:off x="6565392" y="4370832"/>
            <a:ext cx="2441448" cy="301752"/>
          </a:xfrm>
          <a:prstGeom prst="rect">
            <a:avLst/>
          </a:prstGeom>
          <a:noFill/>
          <a:ln/>
        </p:spPr>
        <p:txBody>
          <a:bodyPr wrap="square" rtlCol="0" anchor="ctr"/>
          <a:lstStyle/>
          <a:p>
            <a:pPr marL="0" indent="0">
              <a:buNone/>
            </a:pPr>
            <a:r>
              <a:rPr lang="en-US" sz="1100" b="1" i="1" dirty="0"/>
              <a:t>early measurements carry slightly more weight</a:t>
            </a:r>
            <a:endParaRPr lang="en-US" sz="1100" b="1" dirty="0"/>
          </a:p>
        </p:txBody>
      </p:sp>
      <p:sp>
        <p:nvSpPr>
          <p:cNvPr id="25" name="Freeform 11">
            <a:extLst>
              <a:ext uri="{FF2B5EF4-FFF2-40B4-BE49-F238E27FC236}">
                <a16:creationId xmlns:a16="http://schemas.microsoft.com/office/drawing/2014/main" id="{7758007A-30BA-7F3D-75CD-CFEE9902914C}"/>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pic>
        <p:nvPicPr>
          <p:cNvPr id="27" name="Image 1" descr="real_figs/critical_hours_distribution.png">
            <a:extLst>
              <a:ext uri="{FF2B5EF4-FFF2-40B4-BE49-F238E27FC236}">
                <a16:creationId xmlns:a16="http://schemas.microsoft.com/office/drawing/2014/main" id="{CDE3899D-AB4D-129D-7201-395C9DE51281}"/>
              </a:ext>
            </a:extLst>
          </p:cNvPr>
          <p:cNvPicPr>
            <a:picLocks noChangeAspect="1"/>
          </p:cNvPicPr>
          <p:nvPr/>
        </p:nvPicPr>
        <p:blipFill>
          <a:blip r:embed="rId5"/>
          <a:stretch>
            <a:fillRect/>
          </a:stretch>
        </p:blipFill>
        <p:spPr>
          <a:xfrm>
            <a:off x="4663440" y="832104"/>
            <a:ext cx="4187952" cy="1860228"/>
          </a:xfrm>
          <a:prstGeom prst="rect">
            <a:avLst/>
          </a:prstGeom>
        </p:spPr>
      </p:pic>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16</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6" name="Text 4"/>
          <p:cNvSpPr/>
          <p:nvPr/>
        </p:nvSpPr>
        <p:spPr>
          <a:xfrm>
            <a:off x="8275320" y="566928"/>
            <a:ext cx="658368" cy="201168"/>
          </a:xfrm>
          <a:prstGeom prst="rect">
            <a:avLst/>
          </a:prstGeom>
          <a:noFill/>
          <a:ln/>
        </p:spPr>
        <p:txBody>
          <a:bodyPr wrap="square" rtlCol="0" anchor="ctr"/>
          <a:lstStyle/>
          <a:p>
            <a:pPr marL="0" indent="0" algn="ctr">
              <a:buNone/>
            </a:pPr>
            <a:r>
              <a:rPr lang="en-US" sz="600" b="1" kern="0" spc="100" dirty="0">
                <a:solidFill>
                  <a:srgbClr val="FFFFFF"/>
                </a:solidFill>
              </a:rPr>
              <a:t>TOMSK · 187</a:t>
            </a:r>
            <a:endParaRPr lang="en-US" sz="600" dirty="0"/>
          </a:p>
        </p:txBody>
      </p:sp>
      <p:sp>
        <p:nvSpPr>
          <p:cNvPr id="7" name="Text 5"/>
          <p:cNvSpPr/>
          <p:nvPr/>
        </p:nvSpPr>
        <p:spPr>
          <a:xfrm>
            <a:off x="566928" y="38862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 SHAP  — Global Feature Importance</a:t>
            </a:r>
          </a:p>
          <a:p>
            <a:pPr marL="0" indent="0">
              <a:buNone/>
            </a:pP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10" name="Text 7"/>
          <p:cNvSpPr/>
          <p:nvPr/>
        </p:nvSpPr>
        <p:spPr>
          <a:xfrm>
            <a:off x="502920" y="4736592"/>
            <a:ext cx="4023360" cy="228600"/>
          </a:xfrm>
          <a:prstGeom prst="rect">
            <a:avLst/>
          </a:prstGeom>
          <a:noFill/>
          <a:ln/>
        </p:spPr>
        <p:txBody>
          <a:bodyPr wrap="square" rtlCol="0" anchor="ctr"/>
          <a:lstStyle/>
          <a:p>
            <a:pPr marL="0" indent="0" algn="ctr">
              <a:buNone/>
            </a:pPr>
            <a:r>
              <a:rPr lang="en-US" sz="1200" b="1" i="1" dirty="0"/>
              <a:t>Figure 10.  Top  10 variables by mean |SHAP| across 4,000 patients.</a:t>
            </a:r>
            <a:endParaRPr lang="en-US" sz="1200" b="1" dirty="0"/>
          </a:p>
        </p:txBody>
      </p:sp>
      <p:sp>
        <p:nvSpPr>
          <p:cNvPr id="19" name="Text 15"/>
          <p:cNvSpPr/>
          <p:nvPr/>
        </p:nvSpPr>
        <p:spPr>
          <a:xfrm>
            <a:off x="4800600" y="4050792"/>
            <a:ext cx="228600" cy="274320"/>
          </a:xfrm>
          <a:prstGeom prst="rect">
            <a:avLst/>
          </a:prstGeom>
          <a:noFill/>
          <a:ln/>
        </p:spPr>
        <p:txBody>
          <a:bodyPr wrap="square" rtlCol="0" anchor="ctr"/>
          <a:lstStyle/>
          <a:p>
            <a:pPr marL="0" indent="0" algn="ctr">
              <a:buNone/>
            </a:pPr>
            <a:endParaRPr lang="en-US" sz="1200" dirty="0"/>
          </a:p>
        </p:txBody>
      </p:sp>
      <p:sp>
        <p:nvSpPr>
          <p:cNvPr id="25" name="Freeform 11">
            <a:extLst>
              <a:ext uri="{FF2B5EF4-FFF2-40B4-BE49-F238E27FC236}">
                <a16:creationId xmlns:a16="http://schemas.microsoft.com/office/drawing/2014/main" id="{7758007A-30BA-7F3D-75CD-CFEE9902914C}"/>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pic>
        <p:nvPicPr>
          <p:cNvPr id="4" name="Picture" descr="Figure 3.2 — Top-ten variables by mean absolute SHAP attribution across the 600 test patients. Every entry of the list appears in at least one of the four classical severity scores (APACHE II, SAPS-I, SAPS-II, SOFA), providing prima-facie evidence that the model has learnt to weight clinically established prognostic variables.">
            <a:extLst>
              <a:ext uri="{FF2B5EF4-FFF2-40B4-BE49-F238E27FC236}">
                <a16:creationId xmlns:a16="http://schemas.microsoft.com/office/drawing/2014/main" id="{DA78E485-3813-0390-9FC3-4092253F265B}"/>
              </a:ext>
            </a:extLst>
          </p:cNvPr>
          <p:cNvPicPr/>
          <p:nvPr/>
        </p:nvPicPr>
        <p:blipFill>
          <a:blip r:embed="rId4"/>
          <a:stretch>
            <a:fillRect/>
          </a:stretch>
        </p:blipFill>
        <p:spPr bwMode="auto">
          <a:xfrm>
            <a:off x="429768" y="891540"/>
            <a:ext cx="4081272" cy="3747513"/>
          </a:xfrm>
          <a:prstGeom prst="rect">
            <a:avLst/>
          </a:prstGeom>
          <a:noFill/>
          <a:ln w="9525">
            <a:noFill/>
            <a:headEnd/>
            <a:tailEnd/>
          </a:ln>
        </p:spPr>
      </p:pic>
      <p:pic>
        <p:nvPicPr>
          <p:cNvPr id="26" name="Picture 25">
            <a:extLst>
              <a:ext uri="{FF2B5EF4-FFF2-40B4-BE49-F238E27FC236}">
                <a16:creationId xmlns:a16="http://schemas.microsoft.com/office/drawing/2014/main" id="{58BFE6DB-1FE2-A62F-8174-0684014C59DD}"/>
              </a:ext>
            </a:extLst>
          </p:cNvPr>
          <p:cNvPicPr>
            <a:picLocks noChangeAspect="1"/>
          </p:cNvPicPr>
          <p:nvPr/>
        </p:nvPicPr>
        <p:blipFill>
          <a:blip r:embed="rId5"/>
          <a:stretch>
            <a:fillRect/>
          </a:stretch>
        </p:blipFill>
        <p:spPr>
          <a:xfrm>
            <a:off x="4795420" y="777240"/>
            <a:ext cx="4010860" cy="3907533"/>
          </a:xfrm>
          <a:prstGeom prst="rect">
            <a:avLst/>
          </a:prstGeom>
        </p:spPr>
      </p:pic>
      <p:sp>
        <p:nvSpPr>
          <p:cNvPr id="28" name="Text 7">
            <a:extLst>
              <a:ext uri="{FF2B5EF4-FFF2-40B4-BE49-F238E27FC236}">
                <a16:creationId xmlns:a16="http://schemas.microsoft.com/office/drawing/2014/main" id="{658198A1-59C1-F6ED-E2CC-0C810DAF7A91}"/>
              </a:ext>
            </a:extLst>
          </p:cNvPr>
          <p:cNvSpPr/>
          <p:nvPr/>
        </p:nvSpPr>
        <p:spPr>
          <a:xfrm>
            <a:off x="4732020" y="4770116"/>
            <a:ext cx="4023360" cy="228600"/>
          </a:xfrm>
          <a:prstGeom prst="rect">
            <a:avLst/>
          </a:prstGeom>
          <a:noFill/>
          <a:ln/>
        </p:spPr>
        <p:txBody>
          <a:bodyPr wrap="square" rtlCol="0" anchor="ctr"/>
          <a:lstStyle/>
          <a:p>
            <a:pPr marL="0" indent="0" algn="ctr">
              <a:buNone/>
            </a:pPr>
            <a:r>
              <a:rPr lang="en-US" sz="1200" b="1" i="1" dirty="0"/>
              <a:t>Figure 11.  Top 15 variables by mean |SHAP| across 600 test  patients.</a:t>
            </a:r>
            <a:endParaRPr lang="en-US" sz="1200" b="1" dirty="0"/>
          </a:p>
        </p:txBody>
      </p:sp>
    </p:spTree>
    <p:extLst>
      <p:ext uri="{BB962C8B-B14F-4D97-AF65-F5344CB8AC3E}">
        <p14:creationId xmlns:p14="http://schemas.microsoft.com/office/powerpoint/2010/main" val="311275492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17</a:t>
            </a:r>
            <a:endParaRPr lang="en-US" sz="11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Clinical Validation  —  SHAP vs SOFA / SAPS-I</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pic>
        <p:nvPicPr>
          <p:cNvPr id="9" name="Image 0" descr="real_figs/concordance_distribution.png"/>
          <p:cNvPicPr>
            <a:picLocks noChangeAspect="1"/>
          </p:cNvPicPr>
          <p:nvPr/>
        </p:nvPicPr>
        <p:blipFill>
          <a:blip r:embed="rId3"/>
          <a:stretch>
            <a:fillRect/>
          </a:stretch>
        </p:blipFill>
        <p:spPr>
          <a:xfrm>
            <a:off x="409194" y="914400"/>
            <a:ext cx="5685282" cy="2071116"/>
          </a:xfrm>
          <a:prstGeom prst="rect">
            <a:avLst/>
          </a:prstGeom>
        </p:spPr>
      </p:pic>
      <p:sp>
        <p:nvSpPr>
          <p:cNvPr id="10" name="Text 7"/>
          <p:cNvSpPr/>
          <p:nvPr/>
        </p:nvSpPr>
        <p:spPr>
          <a:xfrm>
            <a:off x="240030" y="2985516"/>
            <a:ext cx="5840730" cy="182880"/>
          </a:xfrm>
          <a:prstGeom prst="rect">
            <a:avLst/>
          </a:prstGeom>
          <a:noFill/>
          <a:ln/>
        </p:spPr>
        <p:txBody>
          <a:bodyPr wrap="square" rtlCol="0" anchor="ctr"/>
          <a:lstStyle/>
          <a:p>
            <a:pPr marL="0" indent="0" algn="ctr">
              <a:buNone/>
            </a:pPr>
            <a:r>
              <a:rPr lang="en-US" sz="1200" b="1" i="1" dirty="0"/>
              <a:t>Figure 12.  SHAP–SOFA (μ=0.224) and SHAP–SAPS-I (μ=0.498) concordance distributions.</a:t>
            </a:r>
            <a:endParaRPr lang="en-US" sz="1200" b="1" dirty="0"/>
          </a:p>
        </p:txBody>
      </p:sp>
      <p:pic>
        <p:nvPicPr>
          <p:cNvPr id="11" name="Image 1" descr="real_figs/concordance_vs_calibration.png"/>
          <p:cNvPicPr>
            <a:picLocks noChangeAspect="1"/>
          </p:cNvPicPr>
          <p:nvPr/>
        </p:nvPicPr>
        <p:blipFill>
          <a:blip r:embed="rId4"/>
          <a:stretch>
            <a:fillRect/>
          </a:stretch>
        </p:blipFill>
        <p:spPr>
          <a:xfrm>
            <a:off x="409195" y="3214116"/>
            <a:ext cx="5731002" cy="1684020"/>
          </a:xfrm>
          <a:prstGeom prst="rect">
            <a:avLst/>
          </a:prstGeom>
        </p:spPr>
      </p:pic>
      <p:sp>
        <p:nvSpPr>
          <p:cNvPr id="12" name="Text 8"/>
          <p:cNvSpPr/>
          <p:nvPr/>
        </p:nvSpPr>
        <p:spPr>
          <a:xfrm>
            <a:off x="640080" y="4873752"/>
            <a:ext cx="5616704" cy="284988"/>
          </a:xfrm>
          <a:prstGeom prst="rect">
            <a:avLst/>
          </a:prstGeom>
          <a:noFill/>
          <a:ln/>
        </p:spPr>
        <p:txBody>
          <a:bodyPr wrap="square" rtlCol="0" anchor="ctr"/>
          <a:lstStyle/>
          <a:p>
            <a:pPr marL="0" indent="0" algn="ctr">
              <a:buNone/>
            </a:pPr>
            <a:r>
              <a:rPr lang="en-US" sz="1200" b="1" i="1" dirty="0"/>
              <a:t>Figure 13.  Concordance vs calibration error — SAPS-I trend is negative (good).</a:t>
            </a:r>
            <a:endParaRPr lang="en-US" sz="1200" b="1" dirty="0"/>
          </a:p>
        </p:txBody>
      </p:sp>
      <p:sp>
        <p:nvSpPr>
          <p:cNvPr id="13" name="Text 9"/>
          <p:cNvSpPr/>
          <p:nvPr/>
        </p:nvSpPr>
        <p:spPr>
          <a:xfrm>
            <a:off x="6446520" y="882396"/>
            <a:ext cx="2834640" cy="274320"/>
          </a:xfrm>
          <a:prstGeom prst="rect">
            <a:avLst/>
          </a:prstGeom>
          <a:noFill/>
          <a:ln/>
        </p:spPr>
        <p:txBody>
          <a:bodyPr wrap="square" rtlCol="0" anchor="ctr"/>
          <a:lstStyle/>
          <a:p>
            <a:pPr marL="0" indent="0">
              <a:buNone/>
            </a:pPr>
            <a:r>
              <a:rPr lang="en-US" sz="1000" b="1" kern="0" spc="150" dirty="0">
                <a:solidFill>
                  <a:srgbClr val="0F2C4F"/>
                </a:solidFill>
              </a:rPr>
              <a:t>HEADLINE NUMBERS</a:t>
            </a:r>
            <a:endParaRPr lang="en-US" sz="1000" dirty="0"/>
          </a:p>
        </p:txBody>
      </p:sp>
      <p:sp>
        <p:nvSpPr>
          <p:cNvPr id="14" name="Shape 10"/>
          <p:cNvSpPr/>
          <p:nvPr/>
        </p:nvSpPr>
        <p:spPr>
          <a:xfrm>
            <a:off x="6309360" y="1188720"/>
            <a:ext cx="548640" cy="27432"/>
          </a:xfrm>
          <a:prstGeom prst="rect">
            <a:avLst/>
          </a:prstGeom>
          <a:solidFill>
            <a:srgbClr val="2E75B6"/>
          </a:solidFill>
          <a:ln w="12700">
            <a:solidFill>
              <a:srgbClr val="2E75B6"/>
            </a:solidFill>
            <a:prstDash val="solid"/>
          </a:ln>
        </p:spPr>
      </p:sp>
      <p:sp>
        <p:nvSpPr>
          <p:cNvPr id="15" name="Shape 11"/>
          <p:cNvSpPr/>
          <p:nvPr/>
        </p:nvSpPr>
        <p:spPr>
          <a:xfrm>
            <a:off x="6309360" y="1280160"/>
            <a:ext cx="2834640" cy="1417320"/>
          </a:xfrm>
          <a:prstGeom prst="rect">
            <a:avLst/>
          </a:prstGeom>
          <a:solidFill>
            <a:srgbClr val="F5F8FC"/>
          </a:solidFill>
          <a:ln w="12700">
            <a:solidFill>
              <a:srgbClr val="D9E2F3"/>
            </a:solidFill>
            <a:prstDash val="solid"/>
          </a:ln>
        </p:spPr>
      </p:sp>
      <p:sp>
        <p:nvSpPr>
          <p:cNvPr id="16" name="Shape 12"/>
          <p:cNvSpPr/>
          <p:nvPr/>
        </p:nvSpPr>
        <p:spPr>
          <a:xfrm>
            <a:off x="6176772" y="1306068"/>
            <a:ext cx="64008" cy="1417320"/>
          </a:xfrm>
          <a:prstGeom prst="rect">
            <a:avLst/>
          </a:prstGeom>
          <a:solidFill>
            <a:srgbClr val="1B7A3F"/>
          </a:solidFill>
          <a:ln w="12700">
            <a:solidFill>
              <a:srgbClr val="1B7A3F"/>
            </a:solidFill>
            <a:prstDash val="solid"/>
          </a:ln>
        </p:spPr>
      </p:sp>
      <p:sp>
        <p:nvSpPr>
          <p:cNvPr id="17" name="Text 13"/>
          <p:cNvSpPr/>
          <p:nvPr/>
        </p:nvSpPr>
        <p:spPr>
          <a:xfrm>
            <a:off x="6446520" y="1371600"/>
            <a:ext cx="2651760" cy="256032"/>
          </a:xfrm>
          <a:prstGeom prst="rect">
            <a:avLst/>
          </a:prstGeom>
          <a:noFill/>
          <a:ln/>
        </p:spPr>
        <p:txBody>
          <a:bodyPr wrap="square" rtlCol="0" anchor="ctr"/>
          <a:lstStyle/>
          <a:p>
            <a:pPr marL="0" indent="0">
              <a:buNone/>
            </a:pPr>
            <a:r>
              <a:rPr lang="en-US" sz="900" b="1" kern="0" spc="120" dirty="0">
                <a:solidFill>
                  <a:srgbClr val="1B7A3F"/>
                </a:solidFill>
              </a:rPr>
              <a:t>SHAP–SAPS-I</a:t>
            </a:r>
            <a:endParaRPr lang="en-US" sz="900" dirty="0"/>
          </a:p>
        </p:txBody>
      </p:sp>
      <p:sp>
        <p:nvSpPr>
          <p:cNvPr id="18" name="Text 14"/>
          <p:cNvSpPr/>
          <p:nvPr/>
        </p:nvSpPr>
        <p:spPr>
          <a:xfrm>
            <a:off x="6446520" y="1645920"/>
            <a:ext cx="2651760" cy="548640"/>
          </a:xfrm>
          <a:prstGeom prst="rect">
            <a:avLst/>
          </a:prstGeom>
          <a:noFill/>
          <a:ln/>
        </p:spPr>
        <p:txBody>
          <a:bodyPr wrap="square" rtlCol="0" anchor="ctr"/>
          <a:lstStyle/>
          <a:p>
            <a:pPr marL="0" indent="0" algn="ctr">
              <a:buNone/>
            </a:pPr>
            <a:r>
              <a:rPr lang="en-US" sz="3400" b="1" dirty="0">
                <a:solidFill>
                  <a:srgbClr val="0F2C4F"/>
                </a:solidFill>
                <a:latin typeface="Georgia" pitchFamily="34" charset="0"/>
                <a:ea typeface="Georgia" pitchFamily="34" charset="-122"/>
                <a:cs typeface="Georgia" pitchFamily="34" charset="-120"/>
              </a:rPr>
              <a:t>0.498</a:t>
            </a:r>
            <a:endParaRPr lang="en-US" sz="3400" dirty="0"/>
          </a:p>
        </p:txBody>
      </p:sp>
      <p:sp>
        <p:nvSpPr>
          <p:cNvPr id="19" name="Text 15"/>
          <p:cNvSpPr/>
          <p:nvPr/>
        </p:nvSpPr>
        <p:spPr>
          <a:xfrm>
            <a:off x="6446520" y="2240280"/>
            <a:ext cx="2651760" cy="201168"/>
          </a:xfrm>
          <a:prstGeom prst="rect">
            <a:avLst/>
          </a:prstGeom>
          <a:noFill/>
          <a:ln/>
        </p:spPr>
        <p:txBody>
          <a:bodyPr wrap="square" rtlCol="0" anchor="ctr"/>
          <a:lstStyle/>
          <a:p>
            <a:pPr marL="0" indent="0" algn="ctr">
              <a:buNone/>
            </a:pPr>
            <a:r>
              <a:rPr lang="en-US" sz="1100" b="1" i="1" dirty="0"/>
              <a:t>mean concordance</a:t>
            </a:r>
            <a:endParaRPr lang="en-US" sz="1100" b="1" dirty="0"/>
          </a:p>
        </p:txBody>
      </p:sp>
      <p:sp>
        <p:nvSpPr>
          <p:cNvPr id="20" name="Text 16"/>
          <p:cNvSpPr/>
          <p:nvPr/>
        </p:nvSpPr>
        <p:spPr>
          <a:xfrm>
            <a:off x="6446520" y="2441448"/>
            <a:ext cx="2651760" cy="237744"/>
          </a:xfrm>
          <a:prstGeom prst="rect">
            <a:avLst/>
          </a:prstGeom>
          <a:noFill/>
          <a:ln/>
        </p:spPr>
        <p:txBody>
          <a:bodyPr wrap="square" rtlCol="0" anchor="ctr"/>
          <a:lstStyle/>
          <a:p>
            <a:pPr marL="0" indent="0" algn="ctr">
              <a:buNone/>
            </a:pPr>
            <a:r>
              <a:rPr lang="en-US" sz="1000" b="1" dirty="0">
                <a:solidFill>
                  <a:srgbClr val="1B7A3F"/>
                </a:solidFill>
              </a:rPr>
              <a:t>3.7×  above chance baseline</a:t>
            </a:r>
            <a:endParaRPr lang="en-US" sz="1000" dirty="0"/>
          </a:p>
        </p:txBody>
      </p:sp>
      <p:sp>
        <p:nvSpPr>
          <p:cNvPr id="21" name="Shape 17"/>
          <p:cNvSpPr/>
          <p:nvPr/>
        </p:nvSpPr>
        <p:spPr>
          <a:xfrm>
            <a:off x="6263640" y="2887980"/>
            <a:ext cx="2834640" cy="1417320"/>
          </a:xfrm>
          <a:prstGeom prst="rect">
            <a:avLst/>
          </a:prstGeom>
          <a:solidFill>
            <a:srgbClr val="F5F8FC"/>
          </a:solidFill>
          <a:ln w="12700">
            <a:solidFill>
              <a:srgbClr val="D9E2F3"/>
            </a:solidFill>
            <a:prstDash val="solid"/>
          </a:ln>
        </p:spPr>
      </p:sp>
      <p:sp>
        <p:nvSpPr>
          <p:cNvPr id="22" name="Shape 18"/>
          <p:cNvSpPr/>
          <p:nvPr/>
        </p:nvSpPr>
        <p:spPr>
          <a:xfrm>
            <a:off x="6140196" y="2904744"/>
            <a:ext cx="64008" cy="1417320"/>
          </a:xfrm>
          <a:prstGeom prst="rect">
            <a:avLst/>
          </a:prstGeom>
          <a:solidFill>
            <a:srgbClr val="C77700"/>
          </a:solidFill>
          <a:ln w="12700">
            <a:solidFill>
              <a:srgbClr val="C77700"/>
            </a:solidFill>
            <a:prstDash val="solid"/>
          </a:ln>
        </p:spPr>
      </p:sp>
      <p:sp>
        <p:nvSpPr>
          <p:cNvPr id="23" name="Text 19"/>
          <p:cNvSpPr/>
          <p:nvPr/>
        </p:nvSpPr>
        <p:spPr>
          <a:xfrm>
            <a:off x="6446520" y="2933700"/>
            <a:ext cx="2651760" cy="256032"/>
          </a:xfrm>
          <a:prstGeom prst="rect">
            <a:avLst/>
          </a:prstGeom>
          <a:noFill/>
          <a:ln/>
        </p:spPr>
        <p:txBody>
          <a:bodyPr wrap="square" rtlCol="0" anchor="ctr"/>
          <a:lstStyle/>
          <a:p>
            <a:pPr marL="0" indent="0">
              <a:buNone/>
            </a:pPr>
            <a:r>
              <a:rPr lang="en-US" sz="900" b="1" kern="0" spc="120" dirty="0">
                <a:solidFill>
                  <a:srgbClr val="C77700"/>
                </a:solidFill>
              </a:rPr>
              <a:t>SHAP–SOFA</a:t>
            </a:r>
            <a:endParaRPr lang="en-US" sz="900" dirty="0"/>
          </a:p>
        </p:txBody>
      </p:sp>
      <p:sp>
        <p:nvSpPr>
          <p:cNvPr id="24" name="Text 20"/>
          <p:cNvSpPr/>
          <p:nvPr/>
        </p:nvSpPr>
        <p:spPr>
          <a:xfrm>
            <a:off x="6446520" y="3185160"/>
            <a:ext cx="2651760" cy="548640"/>
          </a:xfrm>
          <a:prstGeom prst="rect">
            <a:avLst/>
          </a:prstGeom>
          <a:noFill/>
          <a:ln/>
        </p:spPr>
        <p:txBody>
          <a:bodyPr wrap="square" rtlCol="0" anchor="ctr"/>
          <a:lstStyle/>
          <a:p>
            <a:pPr marL="0" indent="0" algn="ctr">
              <a:buNone/>
            </a:pPr>
            <a:r>
              <a:rPr lang="en-US" sz="3400" b="1" dirty="0">
                <a:solidFill>
                  <a:srgbClr val="0F2C4F"/>
                </a:solidFill>
                <a:latin typeface="Georgia" pitchFamily="34" charset="0"/>
                <a:ea typeface="Georgia" pitchFamily="34" charset="-122"/>
                <a:cs typeface="Georgia" pitchFamily="34" charset="-120"/>
              </a:rPr>
              <a:t>0.224</a:t>
            </a:r>
            <a:endParaRPr lang="en-US" sz="3400" dirty="0"/>
          </a:p>
        </p:txBody>
      </p:sp>
      <p:sp>
        <p:nvSpPr>
          <p:cNvPr id="25" name="Text 21"/>
          <p:cNvSpPr/>
          <p:nvPr/>
        </p:nvSpPr>
        <p:spPr>
          <a:xfrm>
            <a:off x="6583680" y="3752088"/>
            <a:ext cx="2651760" cy="201168"/>
          </a:xfrm>
          <a:prstGeom prst="rect">
            <a:avLst/>
          </a:prstGeom>
          <a:noFill/>
          <a:ln/>
        </p:spPr>
        <p:txBody>
          <a:bodyPr wrap="square" rtlCol="0" anchor="ctr"/>
          <a:lstStyle/>
          <a:p>
            <a:pPr marL="0" indent="0" algn="ctr">
              <a:buNone/>
            </a:pPr>
            <a:r>
              <a:rPr lang="en-US" sz="1100" b="1" i="1" dirty="0"/>
              <a:t>mean concordance</a:t>
            </a:r>
            <a:endParaRPr lang="en-US" sz="1100" b="1" dirty="0"/>
          </a:p>
        </p:txBody>
      </p:sp>
      <p:sp>
        <p:nvSpPr>
          <p:cNvPr id="26" name="Text 22"/>
          <p:cNvSpPr/>
          <p:nvPr/>
        </p:nvSpPr>
        <p:spPr>
          <a:xfrm>
            <a:off x="6583680" y="3953256"/>
            <a:ext cx="2651760" cy="320040"/>
          </a:xfrm>
          <a:prstGeom prst="rect">
            <a:avLst/>
          </a:prstGeom>
          <a:noFill/>
          <a:ln/>
        </p:spPr>
        <p:txBody>
          <a:bodyPr wrap="square" rtlCol="0" anchor="ctr"/>
          <a:lstStyle/>
          <a:p>
            <a:pPr marL="0" indent="0" algn="ctr">
              <a:lnSpc>
                <a:spcPct val="120000"/>
              </a:lnSpc>
              <a:buNone/>
            </a:pPr>
            <a:r>
              <a:rPr lang="en-US" sz="1100" b="1" i="1" dirty="0"/>
              <a:t>weaker — SOFA includes vars</a:t>
            </a:r>
            <a:endParaRPr lang="en-US" sz="1100" b="1" dirty="0"/>
          </a:p>
          <a:p>
            <a:pPr marL="0" indent="0" algn="ctr">
              <a:lnSpc>
                <a:spcPct val="120000"/>
              </a:lnSpc>
              <a:buNone/>
            </a:pPr>
            <a:r>
              <a:rPr lang="en-US" sz="1100" b="1" i="1" dirty="0"/>
              <a:t>XGBoost does not weight highly</a:t>
            </a:r>
            <a:endParaRPr lang="en-US" sz="1100" b="1" dirty="0"/>
          </a:p>
        </p:txBody>
      </p:sp>
      <p:sp>
        <p:nvSpPr>
          <p:cNvPr id="27" name="Shape 23"/>
          <p:cNvSpPr/>
          <p:nvPr/>
        </p:nvSpPr>
        <p:spPr>
          <a:xfrm>
            <a:off x="6240780" y="4436364"/>
            <a:ext cx="2834640" cy="365760"/>
          </a:xfrm>
          <a:prstGeom prst="rect">
            <a:avLst/>
          </a:prstGeom>
          <a:solidFill>
            <a:srgbClr val="0F2C4F"/>
          </a:solidFill>
          <a:ln w="12700">
            <a:solidFill>
              <a:srgbClr val="0F2C4F"/>
            </a:solidFill>
            <a:prstDash val="solid"/>
          </a:ln>
        </p:spPr>
      </p:sp>
      <p:sp>
        <p:nvSpPr>
          <p:cNvPr id="28" name="Text 24"/>
          <p:cNvSpPr/>
          <p:nvPr/>
        </p:nvSpPr>
        <p:spPr>
          <a:xfrm>
            <a:off x="6240780" y="4436364"/>
            <a:ext cx="2834640" cy="365760"/>
          </a:xfrm>
          <a:prstGeom prst="rect">
            <a:avLst/>
          </a:prstGeom>
          <a:noFill/>
          <a:ln/>
        </p:spPr>
        <p:txBody>
          <a:bodyPr wrap="square" rtlCol="0" anchor="ctr"/>
          <a:lstStyle/>
          <a:p>
            <a:pPr marL="0" indent="0" algn="ctr">
              <a:lnSpc>
                <a:spcPct val="120000"/>
              </a:lnSpc>
              <a:buNone/>
            </a:pPr>
            <a:r>
              <a:rPr lang="en-US" sz="950" b="1" i="1" dirty="0">
                <a:solidFill>
                  <a:srgbClr val="FFFFFF"/>
                </a:solidFill>
              </a:rPr>
              <a:t>Attribution validated against</a:t>
            </a:r>
            <a:endParaRPr lang="en-US" sz="950" dirty="0"/>
          </a:p>
          <a:p>
            <a:pPr marL="0" indent="0" algn="ctr">
              <a:lnSpc>
                <a:spcPct val="120000"/>
              </a:lnSpc>
              <a:buNone/>
            </a:pPr>
            <a:r>
              <a:rPr lang="en-US" sz="950" b="1" i="1" dirty="0">
                <a:solidFill>
                  <a:srgbClr val="FFFFFF"/>
                </a:solidFill>
              </a:rPr>
              <a:t>established clinical scoring.</a:t>
            </a:r>
            <a:endParaRPr lang="en-US" sz="950" dirty="0"/>
          </a:p>
        </p:txBody>
      </p:sp>
      <p:sp>
        <p:nvSpPr>
          <p:cNvPr id="29" name="Freeform 11">
            <a:extLst>
              <a:ext uri="{FF2B5EF4-FFF2-40B4-BE49-F238E27FC236}">
                <a16:creationId xmlns:a16="http://schemas.microsoft.com/office/drawing/2014/main" id="{59AE0BDF-7F1D-1F48-B494-5595B37BF34F}"/>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5"/>
            <a:stretch>
              <a:fillRect r="-131319"/>
            </a:stretch>
          </a:blipFill>
        </p:spPr>
        <p:txBody>
          <a:bodyPr/>
          <a:lstStyle/>
          <a:p>
            <a:endParaRPr lang="zh-CN" altLang="en-US"/>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18</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Ablation Study  —  Component Contribution</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pic>
        <p:nvPicPr>
          <p:cNvPr id="9" name="Image 0" descr="real_figs/ablation_comparison.png"/>
          <p:cNvPicPr>
            <a:picLocks noChangeAspect="1"/>
          </p:cNvPicPr>
          <p:nvPr/>
        </p:nvPicPr>
        <p:blipFill>
          <a:blip r:embed="rId3"/>
          <a:stretch>
            <a:fillRect/>
          </a:stretch>
        </p:blipFill>
        <p:spPr>
          <a:xfrm>
            <a:off x="502920" y="1031928"/>
            <a:ext cx="5943600" cy="2325263"/>
          </a:xfrm>
          <a:prstGeom prst="rect">
            <a:avLst/>
          </a:prstGeom>
        </p:spPr>
      </p:pic>
      <p:sp>
        <p:nvSpPr>
          <p:cNvPr id="10" name="Text 7"/>
          <p:cNvSpPr/>
          <p:nvPr/>
        </p:nvSpPr>
        <p:spPr>
          <a:xfrm>
            <a:off x="502920" y="3447288"/>
            <a:ext cx="5943600" cy="201168"/>
          </a:xfrm>
          <a:prstGeom prst="rect">
            <a:avLst/>
          </a:prstGeom>
          <a:noFill/>
          <a:ln/>
        </p:spPr>
        <p:txBody>
          <a:bodyPr wrap="square" rtlCol="0" anchor="ctr"/>
          <a:lstStyle/>
          <a:p>
            <a:pPr marL="0" indent="0" algn="ctr">
              <a:buNone/>
            </a:pPr>
            <a:r>
              <a:rPr lang="en-US" sz="1200" b="1" i="1" dirty="0"/>
              <a:t>Figure 14.  Four-variant ablation — discrimination &amp; calibration metrics.</a:t>
            </a:r>
            <a:endParaRPr lang="en-US" sz="1200" b="1" dirty="0"/>
          </a:p>
        </p:txBody>
      </p:sp>
      <p:sp>
        <p:nvSpPr>
          <p:cNvPr id="11" name="Shape 8"/>
          <p:cNvSpPr/>
          <p:nvPr/>
        </p:nvSpPr>
        <p:spPr>
          <a:xfrm>
            <a:off x="502920" y="3794760"/>
            <a:ext cx="5943600" cy="274320"/>
          </a:xfrm>
          <a:prstGeom prst="rect">
            <a:avLst/>
          </a:prstGeom>
          <a:solidFill>
            <a:srgbClr val="1F4E79"/>
          </a:solidFill>
          <a:ln w="12700">
            <a:solidFill>
              <a:srgbClr val="1F4E79"/>
            </a:solidFill>
            <a:prstDash val="solid"/>
          </a:ln>
        </p:spPr>
      </p:sp>
      <p:sp>
        <p:nvSpPr>
          <p:cNvPr id="12" name="Text 9"/>
          <p:cNvSpPr/>
          <p:nvPr/>
        </p:nvSpPr>
        <p:spPr>
          <a:xfrm>
            <a:off x="502920" y="3794760"/>
            <a:ext cx="1828800" cy="274320"/>
          </a:xfrm>
          <a:prstGeom prst="rect">
            <a:avLst/>
          </a:prstGeom>
          <a:noFill/>
          <a:ln/>
        </p:spPr>
        <p:txBody>
          <a:bodyPr wrap="square" rtlCol="0" anchor="ctr"/>
          <a:lstStyle/>
          <a:p>
            <a:pPr marL="0" indent="0" algn="l">
              <a:buNone/>
            </a:pPr>
            <a:r>
              <a:rPr lang="en-US" sz="1100" b="1" dirty="0">
                <a:solidFill>
                  <a:srgbClr val="FFFFFF"/>
                </a:solidFill>
              </a:rPr>
              <a:t>Variant</a:t>
            </a:r>
            <a:endParaRPr lang="en-US" sz="900" dirty="0"/>
          </a:p>
        </p:txBody>
      </p:sp>
      <p:sp>
        <p:nvSpPr>
          <p:cNvPr id="13" name="Text 10"/>
          <p:cNvSpPr/>
          <p:nvPr/>
        </p:nvSpPr>
        <p:spPr>
          <a:xfrm>
            <a:off x="2377440" y="3794760"/>
            <a:ext cx="868680" cy="274320"/>
          </a:xfrm>
          <a:prstGeom prst="rect">
            <a:avLst/>
          </a:prstGeom>
          <a:noFill/>
          <a:ln/>
        </p:spPr>
        <p:txBody>
          <a:bodyPr wrap="square" rtlCol="0" anchor="ctr"/>
          <a:lstStyle/>
          <a:p>
            <a:pPr marL="0" indent="0" algn="ctr">
              <a:buNone/>
            </a:pPr>
            <a:r>
              <a:rPr lang="en-US" sz="1100" b="1" dirty="0">
                <a:solidFill>
                  <a:srgbClr val="FFFFFF"/>
                </a:solidFill>
              </a:rPr>
              <a:t>AUROC</a:t>
            </a:r>
            <a:endParaRPr lang="en-US" sz="900" dirty="0"/>
          </a:p>
        </p:txBody>
      </p:sp>
      <p:sp>
        <p:nvSpPr>
          <p:cNvPr id="14" name="Text 11"/>
          <p:cNvSpPr/>
          <p:nvPr/>
        </p:nvSpPr>
        <p:spPr>
          <a:xfrm>
            <a:off x="3246120" y="3794760"/>
            <a:ext cx="868680" cy="274320"/>
          </a:xfrm>
          <a:prstGeom prst="rect">
            <a:avLst/>
          </a:prstGeom>
          <a:noFill/>
          <a:ln/>
        </p:spPr>
        <p:txBody>
          <a:bodyPr wrap="square" rtlCol="0" anchor="ctr"/>
          <a:lstStyle/>
          <a:p>
            <a:pPr marL="0" indent="0" algn="ctr">
              <a:buNone/>
            </a:pPr>
            <a:r>
              <a:rPr lang="en-US" sz="1100" b="1" dirty="0">
                <a:solidFill>
                  <a:srgbClr val="FFFFFF"/>
                </a:solidFill>
              </a:rPr>
              <a:t>AUPRC</a:t>
            </a:r>
            <a:endParaRPr lang="en-US" sz="900" dirty="0"/>
          </a:p>
        </p:txBody>
      </p:sp>
      <p:sp>
        <p:nvSpPr>
          <p:cNvPr id="15" name="Text 12"/>
          <p:cNvSpPr/>
          <p:nvPr/>
        </p:nvSpPr>
        <p:spPr>
          <a:xfrm>
            <a:off x="4114800" y="3794760"/>
            <a:ext cx="960120" cy="274320"/>
          </a:xfrm>
          <a:prstGeom prst="rect">
            <a:avLst/>
          </a:prstGeom>
          <a:noFill/>
          <a:ln/>
        </p:spPr>
        <p:txBody>
          <a:bodyPr wrap="square" rtlCol="0" anchor="ctr"/>
          <a:lstStyle/>
          <a:p>
            <a:pPr marL="0" indent="0" algn="ctr">
              <a:buNone/>
            </a:pPr>
            <a:r>
              <a:rPr lang="en-US" sz="1100" b="1" dirty="0">
                <a:solidFill>
                  <a:srgbClr val="FFFFFF"/>
                </a:solidFill>
              </a:rPr>
              <a:t>Score₁</a:t>
            </a:r>
            <a:endParaRPr lang="en-US" sz="900" dirty="0"/>
          </a:p>
        </p:txBody>
      </p:sp>
      <p:sp>
        <p:nvSpPr>
          <p:cNvPr id="16" name="Text 13"/>
          <p:cNvSpPr/>
          <p:nvPr/>
        </p:nvSpPr>
        <p:spPr>
          <a:xfrm>
            <a:off x="5120640" y="3794760"/>
            <a:ext cx="1280160" cy="274320"/>
          </a:xfrm>
          <a:prstGeom prst="rect">
            <a:avLst/>
          </a:prstGeom>
          <a:noFill/>
          <a:ln/>
        </p:spPr>
        <p:txBody>
          <a:bodyPr wrap="square" rtlCol="0" anchor="ctr"/>
          <a:lstStyle/>
          <a:p>
            <a:pPr marL="0" indent="0" algn="ctr">
              <a:buNone/>
            </a:pPr>
            <a:r>
              <a:rPr lang="en-US" sz="1100" b="1" dirty="0">
                <a:solidFill>
                  <a:srgbClr val="FFFFFF"/>
                </a:solidFill>
              </a:rPr>
              <a:t>HL-H</a:t>
            </a:r>
            <a:endParaRPr lang="en-US" sz="900" dirty="0"/>
          </a:p>
        </p:txBody>
      </p:sp>
      <p:sp>
        <p:nvSpPr>
          <p:cNvPr id="17" name="Shape 14"/>
          <p:cNvSpPr/>
          <p:nvPr/>
        </p:nvSpPr>
        <p:spPr>
          <a:xfrm>
            <a:off x="502920" y="4069080"/>
            <a:ext cx="5943600" cy="246888"/>
          </a:xfrm>
          <a:prstGeom prst="rect">
            <a:avLst/>
          </a:prstGeom>
          <a:solidFill>
            <a:srgbClr val="FFFFFF"/>
          </a:solidFill>
          <a:ln w="6350">
            <a:solidFill>
              <a:srgbClr val="D9E2F3"/>
            </a:solidFill>
            <a:prstDash val="solid"/>
          </a:ln>
        </p:spPr>
      </p:sp>
      <p:sp>
        <p:nvSpPr>
          <p:cNvPr id="18" name="Text 15"/>
          <p:cNvSpPr/>
          <p:nvPr/>
        </p:nvSpPr>
        <p:spPr>
          <a:xfrm>
            <a:off x="594360" y="4069080"/>
            <a:ext cx="1828800" cy="246888"/>
          </a:xfrm>
          <a:prstGeom prst="rect">
            <a:avLst/>
          </a:prstGeom>
          <a:noFill/>
          <a:ln/>
        </p:spPr>
        <p:txBody>
          <a:bodyPr wrap="square" rtlCol="0" anchor="ctr"/>
          <a:lstStyle/>
          <a:p>
            <a:pPr marL="0" indent="0" algn="l">
              <a:buNone/>
            </a:pPr>
            <a:r>
              <a:rPr lang="en-US" sz="1100" b="1" dirty="0">
                <a:solidFill>
                  <a:srgbClr val="374151"/>
                </a:solidFill>
              </a:rPr>
              <a:t>Full Model (proposed)</a:t>
            </a:r>
            <a:endParaRPr lang="en-US" sz="850" dirty="0"/>
          </a:p>
        </p:txBody>
      </p:sp>
      <p:sp>
        <p:nvSpPr>
          <p:cNvPr id="19" name="Text 16"/>
          <p:cNvSpPr/>
          <p:nvPr/>
        </p:nvSpPr>
        <p:spPr>
          <a:xfrm>
            <a:off x="2377440" y="4069080"/>
            <a:ext cx="868680" cy="246888"/>
          </a:xfrm>
          <a:prstGeom prst="rect">
            <a:avLst/>
          </a:prstGeom>
          <a:noFill/>
          <a:ln/>
        </p:spPr>
        <p:txBody>
          <a:bodyPr wrap="square" rtlCol="0" anchor="ctr"/>
          <a:lstStyle/>
          <a:p>
            <a:pPr marL="0" indent="0" algn="ctr">
              <a:buNone/>
            </a:pPr>
            <a:r>
              <a:rPr lang="en-US" sz="1100" b="1" dirty="0">
                <a:solidFill>
                  <a:srgbClr val="374151"/>
                </a:solidFill>
              </a:rPr>
              <a:t>0.854</a:t>
            </a:r>
            <a:endParaRPr lang="en-US" sz="850" dirty="0"/>
          </a:p>
        </p:txBody>
      </p:sp>
      <p:sp>
        <p:nvSpPr>
          <p:cNvPr id="20" name="Text 17"/>
          <p:cNvSpPr/>
          <p:nvPr/>
        </p:nvSpPr>
        <p:spPr>
          <a:xfrm>
            <a:off x="3246120" y="4069080"/>
            <a:ext cx="868680" cy="246888"/>
          </a:xfrm>
          <a:prstGeom prst="rect">
            <a:avLst/>
          </a:prstGeom>
          <a:noFill/>
          <a:ln/>
        </p:spPr>
        <p:txBody>
          <a:bodyPr wrap="square" rtlCol="0" anchor="ctr"/>
          <a:lstStyle/>
          <a:p>
            <a:pPr marL="0" indent="0" algn="ctr">
              <a:buNone/>
            </a:pPr>
            <a:r>
              <a:rPr lang="en-US" sz="1100" b="1" dirty="0">
                <a:solidFill>
                  <a:srgbClr val="374151"/>
                </a:solidFill>
              </a:rPr>
              <a:t>0.477</a:t>
            </a:r>
            <a:endParaRPr lang="en-US" sz="850" dirty="0"/>
          </a:p>
        </p:txBody>
      </p:sp>
      <p:sp>
        <p:nvSpPr>
          <p:cNvPr id="21" name="Text 18"/>
          <p:cNvSpPr/>
          <p:nvPr/>
        </p:nvSpPr>
        <p:spPr>
          <a:xfrm>
            <a:off x="4114800" y="4069080"/>
            <a:ext cx="960120" cy="246888"/>
          </a:xfrm>
          <a:prstGeom prst="rect">
            <a:avLst/>
          </a:prstGeom>
          <a:noFill/>
          <a:ln/>
        </p:spPr>
        <p:txBody>
          <a:bodyPr wrap="square" rtlCol="0" anchor="ctr"/>
          <a:lstStyle/>
          <a:p>
            <a:pPr marL="0" indent="0" algn="ctr">
              <a:buNone/>
            </a:pPr>
            <a:r>
              <a:rPr lang="en-US" sz="1100" b="1" dirty="0">
                <a:solidFill>
                  <a:srgbClr val="374151"/>
                </a:solidFill>
              </a:rPr>
              <a:t>0.500</a:t>
            </a:r>
            <a:endParaRPr lang="en-US" sz="850" dirty="0"/>
          </a:p>
        </p:txBody>
      </p:sp>
      <p:sp>
        <p:nvSpPr>
          <p:cNvPr id="22" name="Text 19"/>
          <p:cNvSpPr/>
          <p:nvPr/>
        </p:nvSpPr>
        <p:spPr>
          <a:xfrm>
            <a:off x="5120640" y="4069080"/>
            <a:ext cx="1280160" cy="246888"/>
          </a:xfrm>
          <a:prstGeom prst="rect">
            <a:avLst/>
          </a:prstGeom>
          <a:noFill/>
          <a:ln/>
        </p:spPr>
        <p:txBody>
          <a:bodyPr wrap="square" rtlCol="0" anchor="ctr"/>
          <a:lstStyle/>
          <a:p>
            <a:pPr marL="0" indent="0" algn="ctr">
              <a:buNone/>
            </a:pPr>
            <a:r>
              <a:rPr lang="en-US" sz="1100" b="1" dirty="0">
                <a:solidFill>
                  <a:srgbClr val="374151"/>
                </a:solidFill>
              </a:rPr>
              <a:t>257.3</a:t>
            </a:r>
            <a:endParaRPr lang="en-US" sz="850" dirty="0"/>
          </a:p>
        </p:txBody>
      </p:sp>
      <p:sp>
        <p:nvSpPr>
          <p:cNvPr id="23" name="Shape 20"/>
          <p:cNvSpPr/>
          <p:nvPr/>
        </p:nvSpPr>
        <p:spPr>
          <a:xfrm>
            <a:off x="502920" y="4315968"/>
            <a:ext cx="5943600" cy="246888"/>
          </a:xfrm>
          <a:prstGeom prst="rect">
            <a:avLst/>
          </a:prstGeom>
          <a:solidFill>
            <a:srgbClr val="F5F8FC"/>
          </a:solidFill>
          <a:ln w="6350">
            <a:solidFill>
              <a:srgbClr val="D9E2F3"/>
            </a:solidFill>
            <a:prstDash val="solid"/>
          </a:ln>
        </p:spPr>
      </p:sp>
      <p:sp>
        <p:nvSpPr>
          <p:cNvPr id="24" name="Text 21"/>
          <p:cNvSpPr/>
          <p:nvPr/>
        </p:nvSpPr>
        <p:spPr>
          <a:xfrm>
            <a:off x="594360" y="4315968"/>
            <a:ext cx="1828800" cy="246888"/>
          </a:xfrm>
          <a:prstGeom prst="rect">
            <a:avLst/>
          </a:prstGeom>
          <a:noFill/>
          <a:ln/>
        </p:spPr>
        <p:txBody>
          <a:bodyPr wrap="square" rtlCol="0" anchor="ctr"/>
          <a:lstStyle/>
          <a:p>
            <a:pPr marL="0" indent="0" algn="l">
              <a:buNone/>
            </a:pPr>
            <a:r>
              <a:rPr lang="en-US" sz="1100" b="1" dirty="0">
                <a:solidFill>
                  <a:srgbClr val="374151"/>
                </a:solidFill>
              </a:rPr>
              <a:t>w/o Time-aware PE</a:t>
            </a:r>
            <a:endParaRPr lang="en-US" sz="850" dirty="0"/>
          </a:p>
        </p:txBody>
      </p:sp>
      <p:sp>
        <p:nvSpPr>
          <p:cNvPr id="25" name="Text 22"/>
          <p:cNvSpPr/>
          <p:nvPr/>
        </p:nvSpPr>
        <p:spPr>
          <a:xfrm>
            <a:off x="2377440" y="4315968"/>
            <a:ext cx="868680" cy="246888"/>
          </a:xfrm>
          <a:prstGeom prst="rect">
            <a:avLst/>
          </a:prstGeom>
          <a:noFill/>
          <a:ln/>
        </p:spPr>
        <p:txBody>
          <a:bodyPr wrap="square" rtlCol="0" anchor="ctr"/>
          <a:lstStyle/>
          <a:p>
            <a:pPr marL="0" indent="0" algn="ctr">
              <a:buNone/>
            </a:pPr>
            <a:r>
              <a:rPr lang="en-US" sz="1100" b="1" dirty="0">
                <a:solidFill>
                  <a:srgbClr val="374151"/>
                </a:solidFill>
              </a:rPr>
              <a:t>0.859</a:t>
            </a:r>
            <a:endParaRPr lang="en-US" sz="850" dirty="0"/>
          </a:p>
        </p:txBody>
      </p:sp>
      <p:sp>
        <p:nvSpPr>
          <p:cNvPr id="26" name="Text 23"/>
          <p:cNvSpPr/>
          <p:nvPr/>
        </p:nvSpPr>
        <p:spPr>
          <a:xfrm>
            <a:off x="3246120" y="4315968"/>
            <a:ext cx="868680" cy="246888"/>
          </a:xfrm>
          <a:prstGeom prst="rect">
            <a:avLst/>
          </a:prstGeom>
          <a:noFill/>
          <a:ln/>
        </p:spPr>
        <p:txBody>
          <a:bodyPr wrap="square" rtlCol="0" anchor="ctr"/>
          <a:lstStyle/>
          <a:p>
            <a:pPr marL="0" indent="0" algn="ctr">
              <a:buNone/>
            </a:pPr>
            <a:r>
              <a:rPr lang="en-US" sz="1100" b="1" dirty="0">
                <a:solidFill>
                  <a:srgbClr val="374151"/>
                </a:solidFill>
              </a:rPr>
              <a:t>0.508</a:t>
            </a:r>
            <a:endParaRPr lang="en-US" sz="850" dirty="0"/>
          </a:p>
        </p:txBody>
      </p:sp>
      <p:sp>
        <p:nvSpPr>
          <p:cNvPr id="27" name="Text 24"/>
          <p:cNvSpPr/>
          <p:nvPr/>
        </p:nvSpPr>
        <p:spPr>
          <a:xfrm>
            <a:off x="4114800" y="4315968"/>
            <a:ext cx="960120" cy="246888"/>
          </a:xfrm>
          <a:prstGeom prst="rect">
            <a:avLst/>
          </a:prstGeom>
          <a:noFill/>
          <a:ln/>
        </p:spPr>
        <p:txBody>
          <a:bodyPr wrap="square" rtlCol="0" anchor="ctr"/>
          <a:lstStyle/>
          <a:p>
            <a:pPr marL="0" indent="0" algn="ctr">
              <a:buNone/>
            </a:pPr>
            <a:r>
              <a:rPr lang="en-US" sz="1100" b="1" dirty="0">
                <a:solidFill>
                  <a:srgbClr val="374151"/>
                </a:solidFill>
              </a:rPr>
              <a:t>0.530</a:t>
            </a:r>
            <a:endParaRPr lang="en-US" sz="850" dirty="0"/>
          </a:p>
        </p:txBody>
      </p:sp>
      <p:sp>
        <p:nvSpPr>
          <p:cNvPr id="28" name="Text 25"/>
          <p:cNvSpPr/>
          <p:nvPr/>
        </p:nvSpPr>
        <p:spPr>
          <a:xfrm>
            <a:off x="5120640" y="4315968"/>
            <a:ext cx="1280160" cy="246888"/>
          </a:xfrm>
          <a:prstGeom prst="rect">
            <a:avLst/>
          </a:prstGeom>
          <a:noFill/>
          <a:ln/>
        </p:spPr>
        <p:txBody>
          <a:bodyPr wrap="square" rtlCol="0" anchor="ctr"/>
          <a:lstStyle/>
          <a:p>
            <a:pPr marL="0" indent="0" algn="ctr">
              <a:buNone/>
            </a:pPr>
            <a:r>
              <a:rPr lang="en-US" sz="1100" b="1" dirty="0">
                <a:solidFill>
                  <a:srgbClr val="374151"/>
                </a:solidFill>
              </a:rPr>
              <a:t>249.8</a:t>
            </a:r>
            <a:endParaRPr lang="en-US" sz="850" dirty="0"/>
          </a:p>
        </p:txBody>
      </p:sp>
      <p:sp>
        <p:nvSpPr>
          <p:cNvPr id="29" name="Shape 26"/>
          <p:cNvSpPr/>
          <p:nvPr/>
        </p:nvSpPr>
        <p:spPr>
          <a:xfrm>
            <a:off x="502920" y="4562856"/>
            <a:ext cx="5943600" cy="246888"/>
          </a:xfrm>
          <a:prstGeom prst="rect">
            <a:avLst/>
          </a:prstGeom>
          <a:solidFill>
            <a:srgbClr val="FEF3E2"/>
          </a:solidFill>
          <a:ln w="6350">
            <a:solidFill>
              <a:srgbClr val="D9E2F3"/>
            </a:solidFill>
            <a:prstDash val="solid"/>
          </a:ln>
        </p:spPr>
      </p:sp>
      <p:sp>
        <p:nvSpPr>
          <p:cNvPr id="30" name="Shape 27"/>
          <p:cNvSpPr/>
          <p:nvPr/>
        </p:nvSpPr>
        <p:spPr>
          <a:xfrm>
            <a:off x="502920" y="4562856"/>
            <a:ext cx="45720" cy="246888"/>
          </a:xfrm>
          <a:prstGeom prst="rect">
            <a:avLst/>
          </a:prstGeom>
          <a:solidFill>
            <a:srgbClr val="C77700"/>
          </a:solidFill>
          <a:ln w="12700">
            <a:solidFill>
              <a:srgbClr val="C77700"/>
            </a:solidFill>
            <a:prstDash val="solid"/>
          </a:ln>
        </p:spPr>
      </p:sp>
      <p:sp>
        <p:nvSpPr>
          <p:cNvPr id="31" name="Text 28"/>
          <p:cNvSpPr/>
          <p:nvPr/>
        </p:nvSpPr>
        <p:spPr>
          <a:xfrm>
            <a:off x="594360" y="4562856"/>
            <a:ext cx="1828800" cy="246888"/>
          </a:xfrm>
          <a:prstGeom prst="rect">
            <a:avLst/>
          </a:prstGeom>
          <a:noFill/>
          <a:ln/>
        </p:spPr>
        <p:txBody>
          <a:bodyPr wrap="square" rtlCol="0" anchor="ctr"/>
          <a:lstStyle/>
          <a:p>
            <a:pPr marL="0" indent="0" algn="l">
              <a:buNone/>
            </a:pPr>
            <a:r>
              <a:rPr lang="en-US" sz="1100" b="1" dirty="0">
                <a:solidFill>
                  <a:srgbClr val="374151"/>
                </a:solidFill>
              </a:rPr>
              <a:t>w/o Missingness</a:t>
            </a:r>
            <a:endParaRPr lang="en-US" sz="850" dirty="0"/>
          </a:p>
        </p:txBody>
      </p:sp>
      <p:sp>
        <p:nvSpPr>
          <p:cNvPr id="32" name="Text 29"/>
          <p:cNvSpPr/>
          <p:nvPr/>
        </p:nvSpPr>
        <p:spPr>
          <a:xfrm>
            <a:off x="2377440" y="4562856"/>
            <a:ext cx="868680" cy="246888"/>
          </a:xfrm>
          <a:prstGeom prst="rect">
            <a:avLst/>
          </a:prstGeom>
          <a:noFill/>
          <a:ln/>
        </p:spPr>
        <p:txBody>
          <a:bodyPr wrap="square" rtlCol="0" anchor="ctr"/>
          <a:lstStyle/>
          <a:p>
            <a:pPr marL="0" indent="0" algn="ctr">
              <a:buNone/>
            </a:pPr>
            <a:r>
              <a:rPr lang="en-US" sz="1100" b="1" dirty="0">
                <a:solidFill>
                  <a:srgbClr val="C77700"/>
                </a:solidFill>
              </a:rPr>
              <a:t>0.824</a:t>
            </a:r>
            <a:endParaRPr lang="en-US" sz="850" dirty="0"/>
          </a:p>
        </p:txBody>
      </p:sp>
      <p:sp>
        <p:nvSpPr>
          <p:cNvPr id="33" name="Text 30"/>
          <p:cNvSpPr/>
          <p:nvPr/>
        </p:nvSpPr>
        <p:spPr>
          <a:xfrm>
            <a:off x="3246120" y="4562856"/>
            <a:ext cx="868680" cy="246888"/>
          </a:xfrm>
          <a:prstGeom prst="rect">
            <a:avLst/>
          </a:prstGeom>
          <a:noFill/>
          <a:ln/>
        </p:spPr>
        <p:txBody>
          <a:bodyPr wrap="square" rtlCol="0" anchor="ctr"/>
          <a:lstStyle/>
          <a:p>
            <a:pPr marL="0" indent="0" algn="ctr">
              <a:buNone/>
            </a:pPr>
            <a:r>
              <a:rPr lang="en-US" sz="1100" b="1" dirty="0">
                <a:solidFill>
                  <a:srgbClr val="C77700"/>
                </a:solidFill>
              </a:rPr>
              <a:t>0.458</a:t>
            </a:r>
            <a:endParaRPr lang="en-US" sz="850" dirty="0"/>
          </a:p>
        </p:txBody>
      </p:sp>
      <p:sp>
        <p:nvSpPr>
          <p:cNvPr id="34" name="Text 31"/>
          <p:cNvSpPr/>
          <p:nvPr/>
        </p:nvSpPr>
        <p:spPr>
          <a:xfrm>
            <a:off x="4114800" y="4562856"/>
            <a:ext cx="960120" cy="246888"/>
          </a:xfrm>
          <a:prstGeom prst="rect">
            <a:avLst/>
          </a:prstGeom>
          <a:noFill/>
          <a:ln/>
        </p:spPr>
        <p:txBody>
          <a:bodyPr wrap="square" rtlCol="0" anchor="ctr"/>
          <a:lstStyle/>
          <a:p>
            <a:pPr marL="0" indent="0" algn="ctr">
              <a:buNone/>
            </a:pPr>
            <a:r>
              <a:rPr lang="en-US" sz="1100" b="1" dirty="0">
                <a:solidFill>
                  <a:srgbClr val="C77700"/>
                </a:solidFill>
              </a:rPr>
              <a:t>0.434</a:t>
            </a:r>
            <a:endParaRPr lang="en-US" sz="850" dirty="0"/>
          </a:p>
        </p:txBody>
      </p:sp>
      <p:sp>
        <p:nvSpPr>
          <p:cNvPr id="35" name="Text 32"/>
          <p:cNvSpPr/>
          <p:nvPr/>
        </p:nvSpPr>
        <p:spPr>
          <a:xfrm>
            <a:off x="5120640" y="4562856"/>
            <a:ext cx="1280160" cy="246888"/>
          </a:xfrm>
          <a:prstGeom prst="rect">
            <a:avLst/>
          </a:prstGeom>
          <a:noFill/>
          <a:ln/>
        </p:spPr>
        <p:txBody>
          <a:bodyPr wrap="square" rtlCol="0" anchor="ctr"/>
          <a:lstStyle/>
          <a:p>
            <a:pPr marL="0" indent="0" algn="ctr">
              <a:buNone/>
            </a:pPr>
            <a:r>
              <a:rPr lang="en-US" sz="1100" b="1" dirty="0">
                <a:solidFill>
                  <a:srgbClr val="C77700"/>
                </a:solidFill>
              </a:rPr>
              <a:t>114.7</a:t>
            </a:r>
            <a:endParaRPr lang="en-US" sz="850" dirty="0"/>
          </a:p>
        </p:txBody>
      </p:sp>
      <p:sp>
        <p:nvSpPr>
          <p:cNvPr id="36" name="Shape 33"/>
          <p:cNvSpPr/>
          <p:nvPr/>
        </p:nvSpPr>
        <p:spPr>
          <a:xfrm>
            <a:off x="502920" y="4809744"/>
            <a:ext cx="5943600" cy="246888"/>
          </a:xfrm>
          <a:prstGeom prst="rect">
            <a:avLst/>
          </a:prstGeom>
          <a:solidFill>
            <a:srgbClr val="F5F8FC"/>
          </a:solidFill>
          <a:ln w="6350">
            <a:solidFill>
              <a:srgbClr val="D9E2F3"/>
            </a:solidFill>
            <a:prstDash val="solid"/>
          </a:ln>
        </p:spPr>
      </p:sp>
      <p:sp>
        <p:nvSpPr>
          <p:cNvPr id="37" name="Text 34"/>
          <p:cNvSpPr/>
          <p:nvPr/>
        </p:nvSpPr>
        <p:spPr>
          <a:xfrm>
            <a:off x="594360" y="4809744"/>
            <a:ext cx="1828800" cy="246888"/>
          </a:xfrm>
          <a:prstGeom prst="rect">
            <a:avLst/>
          </a:prstGeom>
          <a:noFill/>
          <a:ln/>
        </p:spPr>
        <p:txBody>
          <a:bodyPr wrap="square" rtlCol="0" anchor="ctr"/>
          <a:lstStyle/>
          <a:p>
            <a:pPr marL="0" indent="0" algn="l">
              <a:buNone/>
            </a:pPr>
            <a:r>
              <a:rPr lang="en-US" sz="1100" b="1" dirty="0">
                <a:solidFill>
                  <a:srgbClr val="374151"/>
                </a:solidFill>
              </a:rPr>
              <a:t>w/o Focal Loss</a:t>
            </a:r>
            <a:endParaRPr lang="en-US" sz="850" dirty="0"/>
          </a:p>
        </p:txBody>
      </p:sp>
      <p:sp>
        <p:nvSpPr>
          <p:cNvPr id="38" name="Text 35"/>
          <p:cNvSpPr/>
          <p:nvPr/>
        </p:nvSpPr>
        <p:spPr>
          <a:xfrm>
            <a:off x="2377440" y="4809744"/>
            <a:ext cx="868680" cy="246888"/>
          </a:xfrm>
          <a:prstGeom prst="rect">
            <a:avLst/>
          </a:prstGeom>
          <a:noFill/>
          <a:ln/>
        </p:spPr>
        <p:txBody>
          <a:bodyPr wrap="square" rtlCol="0" anchor="ctr"/>
          <a:lstStyle/>
          <a:p>
            <a:pPr marL="0" indent="0" algn="ctr">
              <a:buNone/>
            </a:pPr>
            <a:r>
              <a:rPr lang="en-US" sz="1100" b="1" dirty="0">
                <a:solidFill>
                  <a:srgbClr val="374151"/>
                </a:solidFill>
              </a:rPr>
              <a:t>0.844</a:t>
            </a:r>
            <a:endParaRPr lang="en-US" sz="850" dirty="0"/>
          </a:p>
        </p:txBody>
      </p:sp>
      <p:sp>
        <p:nvSpPr>
          <p:cNvPr id="39" name="Text 36"/>
          <p:cNvSpPr/>
          <p:nvPr/>
        </p:nvSpPr>
        <p:spPr>
          <a:xfrm>
            <a:off x="3246120" y="4809744"/>
            <a:ext cx="868680" cy="246888"/>
          </a:xfrm>
          <a:prstGeom prst="rect">
            <a:avLst/>
          </a:prstGeom>
          <a:noFill/>
          <a:ln/>
        </p:spPr>
        <p:txBody>
          <a:bodyPr wrap="square" rtlCol="0" anchor="ctr"/>
          <a:lstStyle/>
          <a:p>
            <a:pPr marL="0" indent="0" algn="ctr">
              <a:buNone/>
            </a:pPr>
            <a:r>
              <a:rPr lang="en-US" sz="1100" b="1" dirty="0">
                <a:solidFill>
                  <a:srgbClr val="374151"/>
                </a:solidFill>
              </a:rPr>
              <a:t>0.471</a:t>
            </a:r>
            <a:endParaRPr lang="en-US" sz="850" dirty="0"/>
          </a:p>
        </p:txBody>
      </p:sp>
      <p:sp>
        <p:nvSpPr>
          <p:cNvPr id="40" name="Text 37"/>
          <p:cNvSpPr/>
          <p:nvPr/>
        </p:nvSpPr>
        <p:spPr>
          <a:xfrm>
            <a:off x="4114800" y="4809744"/>
            <a:ext cx="960120" cy="246888"/>
          </a:xfrm>
          <a:prstGeom prst="rect">
            <a:avLst/>
          </a:prstGeom>
          <a:noFill/>
          <a:ln/>
        </p:spPr>
        <p:txBody>
          <a:bodyPr wrap="square" rtlCol="0" anchor="ctr"/>
          <a:lstStyle/>
          <a:p>
            <a:pPr marL="0" indent="0" algn="ctr">
              <a:buNone/>
            </a:pPr>
            <a:r>
              <a:rPr lang="en-US" sz="1100" b="1" dirty="0">
                <a:solidFill>
                  <a:srgbClr val="374151"/>
                </a:solidFill>
              </a:rPr>
              <a:t>0.518</a:t>
            </a:r>
            <a:endParaRPr lang="en-US" sz="850" dirty="0"/>
          </a:p>
        </p:txBody>
      </p:sp>
      <p:sp>
        <p:nvSpPr>
          <p:cNvPr id="41" name="Text 38"/>
          <p:cNvSpPr/>
          <p:nvPr/>
        </p:nvSpPr>
        <p:spPr>
          <a:xfrm>
            <a:off x="5120640" y="4809744"/>
            <a:ext cx="1280160" cy="246888"/>
          </a:xfrm>
          <a:prstGeom prst="rect">
            <a:avLst/>
          </a:prstGeom>
          <a:noFill/>
          <a:ln/>
        </p:spPr>
        <p:txBody>
          <a:bodyPr wrap="square" rtlCol="0" anchor="ctr"/>
          <a:lstStyle/>
          <a:p>
            <a:pPr marL="0" indent="0" algn="ctr">
              <a:buNone/>
            </a:pPr>
            <a:r>
              <a:rPr lang="en-US" sz="1100" b="1" dirty="0">
                <a:solidFill>
                  <a:srgbClr val="374151"/>
                </a:solidFill>
              </a:rPr>
              <a:t>26.3</a:t>
            </a:r>
            <a:endParaRPr lang="en-US" sz="850" dirty="0"/>
          </a:p>
        </p:txBody>
      </p:sp>
      <p:sp>
        <p:nvSpPr>
          <p:cNvPr id="42" name="Shape 39"/>
          <p:cNvSpPr/>
          <p:nvPr/>
        </p:nvSpPr>
        <p:spPr>
          <a:xfrm>
            <a:off x="6629400" y="960120"/>
            <a:ext cx="1874520" cy="4069080"/>
          </a:xfrm>
          <a:prstGeom prst="rect">
            <a:avLst/>
          </a:prstGeom>
          <a:solidFill>
            <a:srgbClr val="C77700"/>
          </a:solidFill>
          <a:ln w="12700">
            <a:solidFill>
              <a:srgbClr val="C77700"/>
            </a:solidFill>
            <a:prstDash val="solid"/>
          </a:ln>
        </p:spPr>
      </p:sp>
      <p:sp>
        <p:nvSpPr>
          <p:cNvPr id="43" name="Text 40"/>
          <p:cNvSpPr/>
          <p:nvPr/>
        </p:nvSpPr>
        <p:spPr>
          <a:xfrm>
            <a:off x="6720840" y="1051560"/>
            <a:ext cx="1691640" cy="274320"/>
          </a:xfrm>
          <a:prstGeom prst="rect">
            <a:avLst/>
          </a:prstGeom>
          <a:noFill/>
          <a:ln/>
        </p:spPr>
        <p:txBody>
          <a:bodyPr wrap="square" rtlCol="0" anchor="ctr"/>
          <a:lstStyle/>
          <a:p>
            <a:pPr marL="0" indent="0">
              <a:buNone/>
            </a:pPr>
            <a:r>
              <a:rPr lang="en-US" sz="1100" b="1" kern="0" spc="150" dirty="0">
                <a:solidFill>
                  <a:srgbClr val="FFFFFF"/>
                </a:solidFill>
              </a:rPr>
              <a:t>★  HEADLINE</a:t>
            </a:r>
            <a:endParaRPr lang="en-US" sz="900" dirty="0"/>
          </a:p>
        </p:txBody>
      </p:sp>
      <p:sp>
        <p:nvSpPr>
          <p:cNvPr id="44" name="Shape 41"/>
          <p:cNvSpPr/>
          <p:nvPr/>
        </p:nvSpPr>
        <p:spPr>
          <a:xfrm>
            <a:off x="6720840" y="1325880"/>
            <a:ext cx="457200" cy="27432"/>
          </a:xfrm>
          <a:prstGeom prst="rect">
            <a:avLst/>
          </a:prstGeom>
          <a:solidFill>
            <a:srgbClr val="FFFFFF"/>
          </a:solidFill>
          <a:ln w="12700">
            <a:solidFill>
              <a:srgbClr val="FFFFFF"/>
            </a:solidFill>
            <a:prstDash val="solid"/>
          </a:ln>
        </p:spPr>
      </p:sp>
      <p:sp>
        <p:nvSpPr>
          <p:cNvPr id="45" name="Text 42"/>
          <p:cNvSpPr/>
          <p:nvPr/>
        </p:nvSpPr>
        <p:spPr>
          <a:xfrm>
            <a:off x="6720840" y="1463040"/>
            <a:ext cx="1691640" cy="54864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−6.6 pp</a:t>
            </a:r>
            <a:endParaRPr lang="en-US" sz="2400" dirty="0"/>
          </a:p>
        </p:txBody>
      </p:sp>
      <p:sp>
        <p:nvSpPr>
          <p:cNvPr id="46" name="Text 43"/>
          <p:cNvSpPr/>
          <p:nvPr/>
        </p:nvSpPr>
        <p:spPr>
          <a:xfrm>
            <a:off x="6720840" y="2011680"/>
            <a:ext cx="1691640" cy="502920"/>
          </a:xfrm>
          <a:prstGeom prst="rect">
            <a:avLst/>
          </a:prstGeom>
          <a:noFill/>
          <a:ln/>
        </p:spPr>
        <p:txBody>
          <a:bodyPr wrap="square" rtlCol="0" anchor="ctr"/>
          <a:lstStyle/>
          <a:p>
            <a:pPr marL="0" indent="0" algn="ctr">
              <a:lnSpc>
                <a:spcPct val="130000"/>
              </a:lnSpc>
              <a:buNone/>
            </a:pPr>
            <a:r>
              <a:rPr lang="en-US" sz="1100" b="1" i="1" dirty="0">
                <a:solidFill>
                  <a:srgbClr val="FFFFFF"/>
                </a:solidFill>
              </a:rPr>
              <a:t>Score₁ drop when removing</a:t>
            </a:r>
            <a:endParaRPr lang="en-US" sz="900" dirty="0"/>
          </a:p>
          <a:p>
            <a:pPr marL="0" indent="0" algn="ctr">
              <a:lnSpc>
                <a:spcPct val="130000"/>
              </a:lnSpc>
              <a:buNone/>
            </a:pPr>
            <a:r>
              <a:rPr lang="en-US" sz="1100" b="1" i="1" dirty="0">
                <a:solidFill>
                  <a:srgbClr val="FFFFFF"/>
                </a:solidFill>
              </a:rPr>
              <a:t>missingness encoding</a:t>
            </a:r>
            <a:endParaRPr lang="en-US" sz="900" dirty="0"/>
          </a:p>
        </p:txBody>
      </p:sp>
      <p:sp>
        <p:nvSpPr>
          <p:cNvPr id="47" name="Shape 44"/>
          <p:cNvSpPr/>
          <p:nvPr/>
        </p:nvSpPr>
        <p:spPr>
          <a:xfrm>
            <a:off x="6720840" y="2606040"/>
            <a:ext cx="1691640" cy="27432"/>
          </a:xfrm>
          <a:prstGeom prst="rect">
            <a:avLst/>
          </a:prstGeom>
          <a:solidFill>
            <a:srgbClr val="FFFFFF">
              <a:alpha val="50000"/>
            </a:srgbClr>
          </a:solidFill>
          <a:ln w="12700">
            <a:solidFill>
              <a:srgbClr val="FFFFFF"/>
            </a:solidFill>
            <a:prstDash val="solid"/>
          </a:ln>
        </p:spPr>
      </p:sp>
      <p:sp>
        <p:nvSpPr>
          <p:cNvPr id="48" name="Text 45"/>
          <p:cNvSpPr/>
          <p:nvPr/>
        </p:nvSpPr>
        <p:spPr>
          <a:xfrm>
            <a:off x="6720840" y="2743200"/>
            <a:ext cx="1691640" cy="228600"/>
          </a:xfrm>
          <a:prstGeom prst="rect">
            <a:avLst/>
          </a:prstGeom>
          <a:noFill/>
          <a:ln/>
        </p:spPr>
        <p:txBody>
          <a:bodyPr wrap="square" rtlCol="0" anchor="ctr"/>
          <a:lstStyle/>
          <a:p>
            <a:pPr marL="0" indent="0" algn="ctr">
              <a:buNone/>
            </a:pPr>
            <a:r>
              <a:rPr lang="en-US" sz="1100" b="1" kern="0" spc="100" dirty="0">
                <a:solidFill>
                  <a:srgbClr val="FFFFFF"/>
                </a:solidFill>
              </a:rPr>
              <a:t>KEY  INSIGHT</a:t>
            </a:r>
            <a:endParaRPr lang="en-US" sz="850" dirty="0"/>
          </a:p>
        </p:txBody>
      </p:sp>
      <p:sp>
        <p:nvSpPr>
          <p:cNvPr id="49" name="Text 46"/>
          <p:cNvSpPr/>
          <p:nvPr/>
        </p:nvSpPr>
        <p:spPr>
          <a:xfrm>
            <a:off x="6720840" y="3017520"/>
            <a:ext cx="1691640" cy="1920240"/>
          </a:xfrm>
          <a:prstGeom prst="rect">
            <a:avLst/>
          </a:prstGeom>
          <a:noFill/>
          <a:ln/>
        </p:spPr>
        <p:txBody>
          <a:bodyPr wrap="square" rtlCol="0" anchor="t"/>
          <a:lstStyle/>
          <a:p>
            <a:pPr marL="0" indent="0" algn="ctr">
              <a:lnSpc>
                <a:spcPct val="135000"/>
              </a:lnSpc>
              <a:buNone/>
            </a:pPr>
            <a:r>
              <a:rPr lang="en-US" sz="1100" b="1" i="1" dirty="0">
                <a:solidFill>
                  <a:srgbClr val="FFFFFF"/>
                </a:solidFill>
              </a:rPr>
              <a:t>Encoding WHEN a measurement was taken is the single most informative design choice in the entire pipeline.</a:t>
            </a:r>
            <a:endParaRPr lang="en-US" sz="900" dirty="0"/>
          </a:p>
        </p:txBody>
      </p:sp>
      <p:sp>
        <p:nvSpPr>
          <p:cNvPr id="50" name="Freeform 11">
            <a:extLst>
              <a:ext uri="{FF2B5EF4-FFF2-40B4-BE49-F238E27FC236}">
                <a16:creationId xmlns:a16="http://schemas.microsoft.com/office/drawing/2014/main" id="{34F0F8AB-7B64-C787-611D-7FC6F769C53D}"/>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19</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Scientific Novelty  —  Three Pillars</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9" name="Shape 7"/>
          <p:cNvSpPr/>
          <p:nvPr/>
        </p:nvSpPr>
        <p:spPr>
          <a:xfrm>
            <a:off x="640080" y="1097280"/>
            <a:ext cx="2468880" cy="3291840"/>
          </a:xfrm>
          <a:prstGeom prst="rect">
            <a:avLst/>
          </a:prstGeom>
          <a:solidFill>
            <a:srgbClr val="FFFFFF"/>
          </a:solidFill>
          <a:ln w="12700">
            <a:solidFill>
              <a:srgbClr val="D9E2F3"/>
            </a:solidFill>
            <a:prstDash val="solid"/>
          </a:ln>
        </p:spPr>
      </p:sp>
      <p:sp>
        <p:nvSpPr>
          <p:cNvPr id="10" name="Shape 8"/>
          <p:cNvSpPr/>
          <p:nvPr/>
        </p:nvSpPr>
        <p:spPr>
          <a:xfrm>
            <a:off x="640080" y="1097280"/>
            <a:ext cx="2468880" cy="594360"/>
          </a:xfrm>
          <a:prstGeom prst="rect">
            <a:avLst/>
          </a:prstGeom>
          <a:solidFill>
            <a:srgbClr val="2E75B6"/>
          </a:solidFill>
          <a:ln w="12700">
            <a:solidFill>
              <a:srgbClr val="2E75B6"/>
            </a:solidFill>
            <a:prstDash val="solid"/>
          </a:ln>
        </p:spPr>
      </p:sp>
      <p:sp>
        <p:nvSpPr>
          <p:cNvPr id="11" name="Text 9"/>
          <p:cNvSpPr/>
          <p:nvPr/>
        </p:nvSpPr>
        <p:spPr>
          <a:xfrm>
            <a:off x="640080" y="1097280"/>
            <a:ext cx="2468880" cy="59436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I</a:t>
            </a:r>
            <a:endParaRPr lang="en-US" sz="2600" dirty="0"/>
          </a:p>
        </p:txBody>
      </p:sp>
      <p:sp>
        <p:nvSpPr>
          <p:cNvPr id="12" name="Text 10"/>
          <p:cNvSpPr/>
          <p:nvPr/>
        </p:nvSpPr>
        <p:spPr>
          <a:xfrm>
            <a:off x="777240" y="1828800"/>
            <a:ext cx="2194560" cy="868680"/>
          </a:xfrm>
          <a:prstGeom prst="rect">
            <a:avLst/>
          </a:prstGeom>
          <a:noFill/>
          <a:ln/>
        </p:spPr>
        <p:txBody>
          <a:bodyPr wrap="square" rtlCol="0" anchor="ctr"/>
          <a:lstStyle/>
          <a:p>
            <a:pPr marL="0" indent="0" algn="ctr">
              <a:lnSpc>
                <a:spcPct val="120000"/>
              </a:lnSpc>
              <a:buNone/>
            </a:pPr>
            <a:r>
              <a:rPr lang="en-US" sz="1300" b="1" dirty="0">
                <a:solidFill>
                  <a:srgbClr val="0F2C4F"/>
                </a:solidFill>
                <a:latin typeface="Georgia" pitchFamily="34" charset="0"/>
                <a:ea typeface="Georgia" pitchFamily="34" charset="-122"/>
                <a:cs typeface="Georgia" pitchFamily="34" charset="-120"/>
              </a:rPr>
              <a:t>Missingness-aware</a:t>
            </a:r>
            <a:endParaRPr lang="en-US" sz="1300" dirty="0"/>
          </a:p>
          <a:p>
            <a:pPr marL="0" indent="0" algn="ctr">
              <a:lnSpc>
                <a:spcPct val="120000"/>
              </a:lnSpc>
              <a:buNone/>
            </a:pPr>
            <a:r>
              <a:rPr lang="en-US" sz="1300" b="1" dirty="0">
                <a:solidFill>
                  <a:srgbClr val="0F2C4F"/>
                </a:solidFill>
                <a:latin typeface="Georgia" pitchFamily="34" charset="0"/>
                <a:ea typeface="Georgia" pitchFamily="34" charset="-122"/>
                <a:cs typeface="Georgia" pitchFamily="34" charset="-120"/>
              </a:rPr>
              <a:t>Time-Aware Transformer</a:t>
            </a:r>
            <a:endParaRPr lang="en-US" sz="1300" dirty="0"/>
          </a:p>
        </p:txBody>
      </p:sp>
      <p:sp>
        <p:nvSpPr>
          <p:cNvPr id="13" name="Shape 11"/>
          <p:cNvSpPr/>
          <p:nvPr/>
        </p:nvSpPr>
        <p:spPr>
          <a:xfrm>
            <a:off x="1280160" y="2743200"/>
            <a:ext cx="1188720" cy="18288"/>
          </a:xfrm>
          <a:prstGeom prst="rect">
            <a:avLst/>
          </a:prstGeom>
          <a:solidFill>
            <a:srgbClr val="E5E7EB"/>
          </a:solidFill>
          <a:ln w="12700">
            <a:solidFill>
              <a:srgbClr val="E5E7EB"/>
            </a:solidFill>
            <a:prstDash val="solid"/>
          </a:ln>
        </p:spPr>
      </p:sp>
      <p:sp>
        <p:nvSpPr>
          <p:cNvPr id="14" name="Text 12"/>
          <p:cNvSpPr/>
          <p:nvPr/>
        </p:nvSpPr>
        <p:spPr>
          <a:xfrm>
            <a:off x="804672" y="2880360"/>
            <a:ext cx="2139696" cy="1417320"/>
          </a:xfrm>
          <a:prstGeom prst="rect">
            <a:avLst/>
          </a:prstGeom>
          <a:noFill/>
          <a:ln/>
        </p:spPr>
        <p:txBody>
          <a:bodyPr wrap="square" rtlCol="0" anchor="ctr"/>
          <a:lstStyle/>
          <a:p>
            <a:pPr marL="0" indent="0">
              <a:lnSpc>
                <a:spcPct val="140000"/>
              </a:lnSpc>
              <a:buNone/>
            </a:pPr>
            <a:r>
              <a:rPr lang="en-US" sz="1200" b="1" dirty="0">
                <a:solidFill>
                  <a:srgbClr val="374151"/>
                </a:solidFill>
              </a:rPr>
              <a:t>Encodes missingness as a parallel input channel + learnable sinusoidal positional encoding suited to irregularly-sampled ICU data.</a:t>
            </a:r>
            <a:endParaRPr lang="en-US" sz="1200" b="1" dirty="0"/>
          </a:p>
        </p:txBody>
      </p:sp>
      <p:sp>
        <p:nvSpPr>
          <p:cNvPr id="15" name="Shape 13"/>
          <p:cNvSpPr/>
          <p:nvPr/>
        </p:nvSpPr>
        <p:spPr>
          <a:xfrm>
            <a:off x="3246120" y="1097280"/>
            <a:ext cx="2468880" cy="3291840"/>
          </a:xfrm>
          <a:prstGeom prst="rect">
            <a:avLst/>
          </a:prstGeom>
          <a:solidFill>
            <a:srgbClr val="FFFFFF"/>
          </a:solidFill>
          <a:ln w="12700">
            <a:solidFill>
              <a:srgbClr val="D9E2F3"/>
            </a:solidFill>
            <a:prstDash val="solid"/>
          </a:ln>
        </p:spPr>
      </p:sp>
      <p:sp>
        <p:nvSpPr>
          <p:cNvPr id="16" name="Shape 14"/>
          <p:cNvSpPr/>
          <p:nvPr/>
        </p:nvSpPr>
        <p:spPr>
          <a:xfrm>
            <a:off x="3246120" y="1097280"/>
            <a:ext cx="2468880" cy="594360"/>
          </a:xfrm>
          <a:prstGeom prst="rect">
            <a:avLst/>
          </a:prstGeom>
          <a:solidFill>
            <a:srgbClr val="1F4E79"/>
          </a:solidFill>
          <a:ln w="12700">
            <a:solidFill>
              <a:srgbClr val="1F4E79"/>
            </a:solidFill>
            <a:prstDash val="solid"/>
          </a:ln>
        </p:spPr>
      </p:sp>
      <p:sp>
        <p:nvSpPr>
          <p:cNvPr id="17" name="Text 15"/>
          <p:cNvSpPr/>
          <p:nvPr/>
        </p:nvSpPr>
        <p:spPr>
          <a:xfrm>
            <a:off x="3246120" y="1097280"/>
            <a:ext cx="2468880" cy="59436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II</a:t>
            </a:r>
            <a:endParaRPr lang="en-US" sz="2600" dirty="0"/>
          </a:p>
        </p:txBody>
      </p:sp>
      <p:sp>
        <p:nvSpPr>
          <p:cNvPr id="18" name="Text 16"/>
          <p:cNvSpPr/>
          <p:nvPr/>
        </p:nvSpPr>
        <p:spPr>
          <a:xfrm>
            <a:off x="3383280" y="1828800"/>
            <a:ext cx="2194560" cy="868680"/>
          </a:xfrm>
          <a:prstGeom prst="rect">
            <a:avLst/>
          </a:prstGeom>
          <a:noFill/>
          <a:ln/>
        </p:spPr>
        <p:txBody>
          <a:bodyPr wrap="square" rtlCol="0" anchor="ctr"/>
          <a:lstStyle/>
          <a:p>
            <a:pPr marL="0" indent="0" algn="ctr">
              <a:lnSpc>
                <a:spcPct val="120000"/>
              </a:lnSpc>
              <a:buNone/>
            </a:pPr>
            <a:r>
              <a:rPr lang="en-US" sz="1300" b="1" dirty="0">
                <a:solidFill>
                  <a:srgbClr val="0F2C4F"/>
                </a:solidFill>
                <a:latin typeface="Georgia" pitchFamily="34" charset="0"/>
                <a:ea typeface="Georgia" pitchFamily="34" charset="-122"/>
                <a:cs typeface="Georgia" pitchFamily="34" charset="-120"/>
              </a:rPr>
              <a:t>Time-Step SHAP</a:t>
            </a:r>
            <a:endParaRPr lang="en-US" sz="1300" dirty="0"/>
          </a:p>
          <a:p>
            <a:pPr marL="0" indent="0" algn="ctr">
              <a:lnSpc>
                <a:spcPct val="120000"/>
              </a:lnSpc>
              <a:buNone/>
            </a:pPr>
            <a:r>
              <a:rPr lang="en-US" sz="1300" b="1" dirty="0">
                <a:solidFill>
                  <a:srgbClr val="0F2C4F"/>
                </a:solidFill>
                <a:latin typeface="Georgia" pitchFamily="34" charset="0"/>
                <a:ea typeface="Georgia" pitchFamily="34" charset="-122"/>
                <a:cs typeface="Georgia" pitchFamily="34" charset="-120"/>
              </a:rPr>
              <a:t>Redistribution</a:t>
            </a:r>
            <a:endParaRPr lang="en-US" sz="1300" dirty="0"/>
          </a:p>
        </p:txBody>
      </p:sp>
      <p:sp>
        <p:nvSpPr>
          <p:cNvPr id="19" name="Shape 17"/>
          <p:cNvSpPr/>
          <p:nvPr/>
        </p:nvSpPr>
        <p:spPr>
          <a:xfrm>
            <a:off x="3886200" y="2743200"/>
            <a:ext cx="1188720" cy="18288"/>
          </a:xfrm>
          <a:prstGeom prst="rect">
            <a:avLst/>
          </a:prstGeom>
          <a:solidFill>
            <a:srgbClr val="E5E7EB"/>
          </a:solidFill>
          <a:ln w="12700">
            <a:solidFill>
              <a:srgbClr val="E5E7EB"/>
            </a:solidFill>
            <a:prstDash val="solid"/>
          </a:ln>
        </p:spPr>
      </p:sp>
      <p:sp>
        <p:nvSpPr>
          <p:cNvPr id="20" name="Text 18"/>
          <p:cNvSpPr/>
          <p:nvPr/>
        </p:nvSpPr>
        <p:spPr>
          <a:xfrm>
            <a:off x="3410712" y="2880360"/>
            <a:ext cx="2139696" cy="1417320"/>
          </a:xfrm>
          <a:prstGeom prst="rect">
            <a:avLst/>
          </a:prstGeom>
          <a:noFill/>
          <a:ln/>
        </p:spPr>
        <p:txBody>
          <a:bodyPr wrap="square" rtlCol="0" anchor="ctr"/>
          <a:lstStyle/>
          <a:p>
            <a:pPr marL="0" indent="0">
              <a:lnSpc>
                <a:spcPct val="140000"/>
              </a:lnSpc>
              <a:buNone/>
            </a:pPr>
            <a:r>
              <a:rPr lang="en-US" sz="1200" b="1" dirty="0">
                <a:solidFill>
                  <a:srgbClr val="374151"/>
                </a:solidFill>
              </a:rPr>
              <a:t>Novel algorithm returning attributions on the (hour × variable) axis without retraining, preserving Shapley conservation and locality.</a:t>
            </a:r>
            <a:endParaRPr lang="en-US" sz="1200" b="1" dirty="0"/>
          </a:p>
        </p:txBody>
      </p:sp>
      <p:sp>
        <p:nvSpPr>
          <p:cNvPr id="21" name="Shape 19"/>
          <p:cNvSpPr/>
          <p:nvPr/>
        </p:nvSpPr>
        <p:spPr>
          <a:xfrm>
            <a:off x="5852160" y="1097280"/>
            <a:ext cx="2468880" cy="3291840"/>
          </a:xfrm>
          <a:prstGeom prst="rect">
            <a:avLst/>
          </a:prstGeom>
          <a:solidFill>
            <a:srgbClr val="FFFFFF"/>
          </a:solidFill>
          <a:ln w="12700">
            <a:solidFill>
              <a:srgbClr val="D9E2F3"/>
            </a:solidFill>
            <a:prstDash val="solid"/>
          </a:ln>
        </p:spPr>
      </p:sp>
      <p:sp>
        <p:nvSpPr>
          <p:cNvPr id="22" name="Shape 20"/>
          <p:cNvSpPr/>
          <p:nvPr/>
        </p:nvSpPr>
        <p:spPr>
          <a:xfrm>
            <a:off x="5852160" y="1097280"/>
            <a:ext cx="2468880" cy="594360"/>
          </a:xfrm>
          <a:prstGeom prst="rect">
            <a:avLst/>
          </a:prstGeom>
          <a:solidFill>
            <a:srgbClr val="0E7C7B"/>
          </a:solidFill>
          <a:ln w="12700">
            <a:solidFill>
              <a:srgbClr val="0E7C7B"/>
            </a:solidFill>
            <a:prstDash val="solid"/>
          </a:ln>
        </p:spPr>
      </p:sp>
      <p:sp>
        <p:nvSpPr>
          <p:cNvPr id="23" name="Text 21"/>
          <p:cNvSpPr/>
          <p:nvPr/>
        </p:nvSpPr>
        <p:spPr>
          <a:xfrm>
            <a:off x="5852160" y="1097280"/>
            <a:ext cx="2468880" cy="59436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III</a:t>
            </a:r>
            <a:endParaRPr lang="en-US" sz="2600" dirty="0"/>
          </a:p>
        </p:txBody>
      </p:sp>
      <p:sp>
        <p:nvSpPr>
          <p:cNvPr id="24" name="Text 22"/>
          <p:cNvSpPr/>
          <p:nvPr/>
        </p:nvSpPr>
        <p:spPr>
          <a:xfrm>
            <a:off x="5989320" y="1828800"/>
            <a:ext cx="2194560" cy="868680"/>
          </a:xfrm>
          <a:prstGeom prst="rect">
            <a:avLst/>
          </a:prstGeom>
          <a:noFill/>
          <a:ln/>
        </p:spPr>
        <p:txBody>
          <a:bodyPr wrap="square" rtlCol="0" anchor="ctr"/>
          <a:lstStyle/>
          <a:p>
            <a:pPr marL="0" indent="0" algn="ctr">
              <a:lnSpc>
                <a:spcPct val="120000"/>
              </a:lnSpc>
              <a:buNone/>
            </a:pPr>
            <a:r>
              <a:rPr lang="en-US" sz="1300" b="1" dirty="0">
                <a:solidFill>
                  <a:srgbClr val="0F2C4F"/>
                </a:solidFill>
                <a:latin typeface="Georgia" pitchFamily="34" charset="0"/>
                <a:ea typeface="Georgia" pitchFamily="34" charset="-122"/>
                <a:cs typeface="Georgia" pitchFamily="34" charset="-120"/>
              </a:rPr>
              <a:t>Statistical Clinical</a:t>
            </a:r>
            <a:endParaRPr lang="en-US" sz="1300" dirty="0"/>
          </a:p>
          <a:p>
            <a:pPr marL="0" indent="0" algn="ctr">
              <a:lnSpc>
                <a:spcPct val="120000"/>
              </a:lnSpc>
              <a:buNone/>
            </a:pPr>
            <a:r>
              <a:rPr lang="en-US" sz="1300" b="1" dirty="0">
                <a:solidFill>
                  <a:srgbClr val="0F2C4F"/>
                </a:solidFill>
                <a:latin typeface="Georgia" pitchFamily="34" charset="0"/>
                <a:ea typeface="Georgia" pitchFamily="34" charset="-122"/>
                <a:cs typeface="Georgia" pitchFamily="34" charset="-120"/>
              </a:rPr>
              <a:t>Validation</a:t>
            </a:r>
            <a:endParaRPr lang="en-US" sz="1300" dirty="0"/>
          </a:p>
        </p:txBody>
      </p:sp>
      <p:sp>
        <p:nvSpPr>
          <p:cNvPr id="25" name="Shape 23"/>
          <p:cNvSpPr/>
          <p:nvPr/>
        </p:nvSpPr>
        <p:spPr>
          <a:xfrm>
            <a:off x="6492240" y="2743200"/>
            <a:ext cx="1188720" cy="18288"/>
          </a:xfrm>
          <a:prstGeom prst="rect">
            <a:avLst/>
          </a:prstGeom>
          <a:solidFill>
            <a:srgbClr val="E5E7EB"/>
          </a:solidFill>
          <a:ln w="12700">
            <a:solidFill>
              <a:srgbClr val="E5E7EB"/>
            </a:solidFill>
            <a:prstDash val="solid"/>
          </a:ln>
        </p:spPr>
      </p:sp>
      <p:sp>
        <p:nvSpPr>
          <p:cNvPr id="26" name="Text 24"/>
          <p:cNvSpPr/>
          <p:nvPr/>
        </p:nvSpPr>
        <p:spPr>
          <a:xfrm>
            <a:off x="6016752" y="2880360"/>
            <a:ext cx="2139696" cy="1417320"/>
          </a:xfrm>
          <a:prstGeom prst="rect">
            <a:avLst/>
          </a:prstGeom>
          <a:noFill/>
          <a:ln/>
        </p:spPr>
        <p:txBody>
          <a:bodyPr wrap="square" rtlCol="0" anchor="ctr"/>
          <a:lstStyle/>
          <a:p>
            <a:pPr marL="0" indent="0">
              <a:lnSpc>
                <a:spcPct val="140000"/>
              </a:lnSpc>
              <a:buNone/>
            </a:pPr>
            <a:r>
              <a:rPr lang="en-US" sz="1200" b="1" dirty="0">
                <a:solidFill>
                  <a:srgbClr val="374151"/>
                </a:solidFill>
              </a:rPr>
              <a:t>Quantitative SHAP–SOFA / SHAP–SAPS-I concordance proves attributions agree with established clinical severity scoring.</a:t>
            </a:r>
            <a:endParaRPr lang="en-US" sz="1200" b="1" dirty="0"/>
          </a:p>
        </p:txBody>
      </p:sp>
      <p:sp>
        <p:nvSpPr>
          <p:cNvPr id="27" name="Shape 25"/>
          <p:cNvSpPr/>
          <p:nvPr/>
        </p:nvSpPr>
        <p:spPr>
          <a:xfrm>
            <a:off x="640080" y="4572000"/>
            <a:ext cx="7772400" cy="292608"/>
          </a:xfrm>
          <a:prstGeom prst="rect">
            <a:avLst/>
          </a:prstGeom>
          <a:solidFill>
            <a:srgbClr val="0F2C4F"/>
          </a:solidFill>
          <a:ln w="12700">
            <a:solidFill>
              <a:srgbClr val="0F2C4F"/>
            </a:solidFill>
            <a:prstDash val="solid"/>
          </a:ln>
        </p:spPr>
      </p:sp>
      <p:sp>
        <p:nvSpPr>
          <p:cNvPr id="28" name="Text 26"/>
          <p:cNvSpPr/>
          <p:nvPr/>
        </p:nvSpPr>
        <p:spPr>
          <a:xfrm>
            <a:off x="640080" y="4572000"/>
            <a:ext cx="7772400" cy="292608"/>
          </a:xfrm>
          <a:prstGeom prst="rect">
            <a:avLst/>
          </a:prstGeom>
          <a:noFill/>
          <a:ln/>
        </p:spPr>
        <p:txBody>
          <a:bodyPr wrap="square" rtlCol="0" anchor="ctr"/>
          <a:lstStyle/>
          <a:p>
            <a:pPr marL="0" indent="0" algn="ctr">
              <a:buNone/>
            </a:pPr>
            <a:r>
              <a:rPr lang="en-US" sz="1200" b="1" i="1" dirty="0">
                <a:solidFill>
                  <a:srgbClr val="FFFFFF"/>
                </a:solidFill>
              </a:rPr>
              <a:t>Together:  A predictor whose explanation is temporally resolved AND statistically validated.</a:t>
            </a:r>
            <a:endParaRPr lang="en-US" sz="1200" dirty="0"/>
          </a:p>
        </p:txBody>
      </p:sp>
      <p:sp>
        <p:nvSpPr>
          <p:cNvPr id="29" name="Freeform 11">
            <a:extLst>
              <a:ext uri="{FF2B5EF4-FFF2-40B4-BE49-F238E27FC236}">
                <a16:creationId xmlns:a16="http://schemas.microsoft.com/office/drawing/2014/main" id="{3636FAFD-7BBA-9354-7B34-775E1250353A}"/>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8503920" y="4818888"/>
            <a:ext cx="502920" cy="274320"/>
          </a:xfrm>
          <a:prstGeom prst="rect">
            <a:avLst/>
          </a:prstGeom>
          <a:noFill/>
          <a:ln/>
        </p:spPr>
        <p:txBody>
          <a:bodyPr wrap="square" rtlCol="0" anchor="ctr"/>
          <a:lstStyle/>
          <a:p>
            <a:pPr marL="0" indent="0" algn="r">
              <a:buNone/>
            </a:pPr>
            <a:r>
              <a:rPr lang="en-US" sz="1100" b="1" dirty="0">
                <a:solidFill>
                  <a:srgbClr val="6B7280"/>
                </a:solidFill>
              </a:rPr>
              <a:t>20</a:t>
            </a:r>
            <a:endParaRPr lang="en-US" sz="1100" dirty="0"/>
          </a:p>
        </p:txBody>
      </p:sp>
      <p:sp>
        <p:nvSpPr>
          <p:cNvPr id="5" name="Text 3"/>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7" name="Text 5"/>
          <p:cNvSpPr/>
          <p:nvPr/>
        </p:nvSpPr>
        <p:spPr>
          <a:xfrm>
            <a:off x="640080" y="228600"/>
            <a:ext cx="7498080" cy="502920"/>
          </a:xfrm>
          <a:prstGeom prst="rect">
            <a:avLst/>
          </a:prstGeom>
          <a:noFill/>
          <a:ln/>
        </p:spPr>
        <p:txBody>
          <a:bodyPr wrap="square" rtlCol="0" anchor="ctr"/>
          <a:lstStyle/>
          <a:p>
            <a:pPr marL="0" indent="0">
              <a:buNone/>
            </a:pPr>
            <a:r>
              <a:rPr lang="en-US" sz="2200" b="1" dirty="0">
                <a:solidFill>
                  <a:srgbClr val="0F2C4F"/>
                </a:solidFill>
                <a:latin typeface="Georgia" pitchFamily="34" charset="0"/>
                <a:ea typeface="Georgia" pitchFamily="34" charset="-122"/>
                <a:cs typeface="Georgia" pitchFamily="34" charset="-120"/>
              </a:rPr>
              <a:t>Scientific Novelty  —  Three Pillars</a:t>
            </a:r>
            <a:endParaRPr lang="en-US" sz="2200" dirty="0"/>
          </a:p>
        </p:txBody>
      </p:sp>
      <p:sp>
        <p:nvSpPr>
          <p:cNvPr id="8" name="Shape 6"/>
          <p:cNvSpPr/>
          <p:nvPr/>
        </p:nvSpPr>
        <p:spPr>
          <a:xfrm>
            <a:off x="640080" y="768096"/>
            <a:ext cx="1005840" cy="45720"/>
          </a:xfrm>
          <a:prstGeom prst="rect">
            <a:avLst/>
          </a:prstGeom>
          <a:solidFill>
            <a:srgbClr val="2E75B6"/>
          </a:solidFill>
          <a:ln w="12700">
            <a:solidFill>
              <a:srgbClr val="2E75B6"/>
            </a:solidFill>
            <a:prstDash val="solid"/>
          </a:ln>
        </p:spPr>
      </p:sp>
      <p:sp>
        <p:nvSpPr>
          <p:cNvPr id="21" name="Shape 19"/>
          <p:cNvSpPr/>
          <p:nvPr/>
        </p:nvSpPr>
        <p:spPr>
          <a:xfrm>
            <a:off x="5852160" y="1097280"/>
            <a:ext cx="2468880" cy="3291840"/>
          </a:xfrm>
          <a:prstGeom prst="rect">
            <a:avLst/>
          </a:prstGeom>
          <a:solidFill>
            <a:srgbClr val="FFFFFF"/>
          </a:solidFill>
          <a:ln w="12700">
            <a:solidFill>
              <a:srgbClr val="D9E2F3"/>
            </a:solidFill>
            <a:prstDash val="solid"/>
          </a:ln>
        </p:spPr>
      </p:sp>
      <p:sp>
        <p:nvSpPr>
          <p:cNvPr id="28" name="Text 26"/>
          <p:cNvSpPr/>
          <p:nvPr/>
        </p:nvSpPr>
        <p:spPr>
          <a:xfrm>
            <a:off x="640080" y="4572000"/>
            <a:ext cx="7772400" cy="292608"/>
          </a:xfrm>
          <a:prstGeom prst="rect">
            <a:avLst/>
          </a:prstGeom>
          <a:noFill/>
          <a:ln/>
        </p:spPr>
        <p:txBody>
          <a:bodyPr wrap="square" rtlCol="0" anchor="ctr"/>
          <a:lstStyle/>
          <a:p>
            <a:pPr marL="0" indent="0" algn="ctr">
              <a:buNone/>
            </a:pPr>
            <a:r>
              <a:rPr lang="en-US" sz="1100" b="1" i="1" dirty="0">
                <a:solidFill>
                  <a:srgbClr val="FFFFFF"/>
                </a:solidFill>
              </a:rPr>
              <a:t>Together:  A predictor whose explanation is temporally resolved AND statistically validated.</a:t>
            </a:r>
            <a:endParaRPr lang="en-US" sz="1100" dirty="0"/>
          </a:p>
        </p:txBody>
      </p:sp>
      <p:sp>
        <p:nvSpPr>
          <p:cNvPr id="29" name="Freeform 11">
            <a:extLst>
              <a:ext uri="{FF2B5EF4-FFF2-40B4-BE49-F238E27FC236}">
                <a16:creationId xmlns:a16="http://schemas.microsoft.com/office/drawing/2014/main" id="{3636FAFD-7BBA-9354-7B34-775E1250353A}"/>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pic>
        <p:nvPicPr>
          <p:cNvPr id="2" name="Picture 1" descr="novelty_visual.png">
            <a:extLst>
              <a:ext uri="{FF2B5EF4-FFF2-40B4-BE49-F238E27FC236}">
                <a16:creationId xmlns:a16="http://schemas.microsoft.com/office/drawing/2014/main" id="{B9A55EE5-B2E8-BD63-3EBD-BE49B35E11DF}"/>
              </a:ext>
            </a:extLst>
          </p:cNvPr>
          <p:cNvPicPr>
            <a:picLocks noChangeAspect="1"/>
          </p:cNvPicPr>
          <p:nvPr/>
        </p:nvPicPr>
        <p:blipFill>
          <a:blip r:embed="rId4"/>
          <a:stretch>
            <a:fillRect/>
          </a:stretch>
        </p:blipFill>
        <p:spPr>
          <a:xfrm>
            <a:off x="129540" y="813817"/>
            <a:ext cx="8877300" cy="4101084"/>
          </a:xfrm>
          <a:prstGeom prst="rect">
            <a:avLst/>
          </a:prstGeom>
        </p:spPr>
      </p:pic>
    </p:spTree>
    <p:extLst>
      <p:ext uri="{BB962C8B-B14F-4D97-AF65-F5344CB8AC3E}">
        <p14:creationId xmlns:p14="http://schemas.microsoft.com/office/powerpoint/2010/main" val="3312003865"/>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2E5C8A"/>
          </a:solidFill>
          <a:ln w="12700">
            <a:solidFill>
              <a:srgbClr val="2E5C8A"/>
            </a:solidFill>
            <a:prstDash val="solid"/>
          </a:ln>
        </p:spPr>
      </p:sp>
      <p:sp>
        <p:nvSpPr>
          <p:cNvPr id="4" name="Text 2"/>
          <p:cNvSpPr/>
          <p:nvPr/>
        </p:nvSpPr>
        <p:spPr>
          <a:xfrm>
            <a:off x="8275320" y="182880"/>
            <a:ext cx="658368" cy="41148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U</a:t>
            </a:r>
            <a:endParaRPr lang="en-US" sz="2200" dirty="0"/>
          </a:p>
        </p:txBody>
      </p:sp>
      <p:sp>
        <p:nvSpPr>
          <p:cNvPr id="6" name="Text 4"/>
          <p:cNvSpPr/>
          <p:nvPr/>
        </p:nvSpPr>
        <p:spPr>
          <a:xfrm>
            <a:off x="640080" y="201168"/>
            <a:ext cx="7406640" cy="502920"/>
          </a:xfrm>
          <a:prstGeom prst="rect">
            <a:avLst/>
          </a:prstGeom>
          <a:noFill/>
          <a:ln/>
        </p:spPr>
        <p:txBody>
          <a:bodyPr wrap="square" rtlCol="0" anchor="ctr"/>
          <a:lstStyle/>
          <a:p>
            <a:pPr marL="0" indent="0">
              <a:buNone/>
            </a:pPr>
            <a:r>
              <a:rPr lang="en-US" sz="2400" b="1" dirty="0">
                <a:solidFill>
                  <a:srgbClr val="0F2C4F"/>
                </a:solidFill>
                <a:latin typeface="Georgia" pitchFamily="34" charset="0"/>
                <a:ea typeface="Georgia" pitchFamily="34" charset="-122"/>
                <a:cs typeface="Georgia" pitchFamily="34" charset="-120"/>
              </a:rPr>
              <a:t>Conclusion</a:t>
            </a:r>
            <a:endParaRPr lang="en-US" sz="2400" dirty="0"/>
          </a:p>
        </p:txBody>
      </p:sp>
      <p:sp>
        <p:nvSpPr>
          <p:cNvPr id="7" name="Shape 5"/>
          <p:cNvSpPr/>
          <p:nvPr/>
        </p:nvSpPr>
        <p:spPr>
          <a:xfrm>
            <a:off x="640080" y="758952"/>
            <a:ext cx="1005840" cy="45720"/>
          </a:xfrm>
          <a:prstGeom prst="rect">
            <a:avLst/>
          </a:prstGeom>
          <a:solidFill>
            <a:srgbClr val="2E75B6"/>
          </a:solidFill>
          <a:ln w="12700">
            <a:solidFill>
              <a:srgbClr val="2E75B6"/>
            </a:solidFill>
            <a:prstDash val="solid"/>
          </a:ln>
        </p:spPr>
      </p:sp>
      <p:sp>
        <p:nvSpPr>
          <p:cNvPr id="8" name="Text 6"/>
          <p:cNvSpPr/>
          <p:nvPr/>
        </p:nvSpPr>
        <p:spPr>
          <a:xfrm>
            <a:off x="8686800" y="4832604"/>
            <a:ext cx="411480" cy="256032"/>
          </a:xfrm>
          <a:prstGeom prst="rect">
            <a:avLst/>
          </a:prstGeom>
          <a:noFill/>
          <a:ln/>
        </p:spPr>
        <p:txBody>
          <a:bodyPr wrap="square" rtlCol="0" anchor="ctr"/>
          <a:lstStyle/>
          <a:p>
            <a:pPr marL="0" indent="0" algn="r">
              <a:buNone/>
            </a:pPr>
            <a:r>
              <a:rPr lang="en-US" sz="1100" b="1" dirty="0">
                <a:solidFill>
                  <a:srgbClr val="6B7280"/>
                </a:solidFill>
              </a:rPr>
              <a:t>21</a:t>
            </a:r>
            <a:endParaRPr lang="en-US" sz="1100" dirty="0"/>
          </a:p>
        </p:txBody>
      </p:sp>
      <p:sp>
        <p:nvSpPr>
          <p:cNvPr id="9" name="Shape 7"/>
          <p:cNvSpPr/>
          <p:nvPr/>
        </p:nvSpPr>
        <p:spPr>
          <a:xfrm>
            <a:off x="640080" y="923544"/>
            <a:ext cx="8138160" cy="384048"/>
          </a:xfrm>
          <a:prstGeom prst="rect">
            <a:avLst/>
          </a:prstGeom>
          <a:solidFill>
            <a:srgbClr val="F5F8FC"/>
          </a:solidFill>
          <a:ln w="6350">
            <a:solidFill>
              <a:srgbClr val="D9E2F3"/>
            </a:solidFill>
            <a:prstDash val="solid"/>
          </a:ln>
        </p:spPr>
      </p:sp>
      <p:sp>
        <p:nvSpPr>
          <p:cNvPr id="10" name="Shape 8"/>
          <p:cNvSpPr/>
          <p:nvPr/>
        </p:nvSpPr>
        <p:spPr>
          <a:xfrm>
            <a:off x="640080" y="923544"/>
            <a:ext cx="54864" cy="384048"/>
          </a:xfrm>
          <a:prstGeom prst="rect">
            <a:avLst/>
          </a:prstGeom>
          <a:solidFill>
            <a:srgbClr val="2E75B6"/>
          </a:solidFill>
          <a:ln w="12700">
            <a:solidFill>
              <a:srgbClr val="2E75B6"/>
            </a:solidFill>
            <a:prstDash val="solid"/>
          </a:ln>
        </p:spPr>
      </p:sp>
      <p:sp>
        <p:nvSpPr>
          <p:cNvPr id="11" name="Text 9"/>
          <p:cNvSpPr/>
          <p:nvPr/>
        </p:nvSpPr>
        <p:spPr>
          <a:xfrm>
            <a:off x="777240" y="923544"/>
            <a:ext cx="7909560" cy="384048"/>
          </a:xfrm>
          <a:prstGeom prst="rect">
            <a:avLst/>
          </a:prstGeom>
          <a:noFill/>
          <a:ln/>
        </p:spPr>
        <p:txBody>
          <a:bodyPr wrap="square" rtlCol="0" anchor="ctr"/>
          <a:lstStyle/>
          <a:p>
            <a:pPr marL="0" indent="0">
              <a:buNone/>
            </a:pPr>
            <a:r>
              <a:rPr lang="en-US" sz="1200" b="1" i="1" dirty="0"/>
              <a:t>Research question answered:  Can ML predict ICU mortality AND explain itself well enough for a clinician to trust it?  —  YES.</a:t>
            </a:r>
            <a:endParaRPr lang="en-US" sz="1200" b="1" dirty="0"/>
          </a:p>
        </p:txBody>
      </p:sp>
      <p:sp>
        <p:nvSpPr>
          <p:cNvPr id="12" name="Shape 10"/>
          <p:cNvSpPr/>
          <p:nvPr/>
        </p:nvSpPr>
        <p:spPr>
          <a:xfrm>
            <a:off x="640080" y="1444752"/>
            <a:ext cx="3858768" cy="1508760"/>
          </a:xfrm>
          <a:prstGeom prst="rect">
            <a:avLst/>
          </a:prstGeom>
          <a:solidFill>
            <a:srgbClr val="EAF3DE"/>
          </a:solidFill>
          <a:ln w="10160">
            <a:solidFill>
              <a:srgbClr val="5DCAA5"/>
            </a:solidFill>
            <a:prstDash val="solid"/>
          </a:ln>
        </p:spPr>
      </p:sp>
      <p:sp>
        <p:nvSpPr>
          <p:cNvPr id="13" name="Shape 11"/>
          <p:cNvSpPr/>
          <p:nvPr/>
        </p:nvSpPr>
        <p:spPr>
          <a:xfrm>
            <a:off x="768096" y="1572768"/>
            <a:ext cx="411480" cy="292608"/>
          </a:xfrm>
          <a:prstGeom prst="roundRect">
            <a:avLst>
              <a:gd name="adj" fmla="val 15625"/>
            </a:avLst>
          </a:prstGeom>
          <a:solidFill>
            <a:srgbClr val="1B7A3F"/>
          </a:solidFill>
          <a:ln w="12700">
            <a:solidFill>
              <a:srgbClr val="1B7A3F"/>
            </a:solidFill>
            <a:prstDash val="solid"/>
          </a:ln>
        </p:spPr>
      </p:sp>
      <p:sp>
        <p:nvSpPr>
          <p:cNvPr id="14" name="Text 12"/>
          <p:cNvSpPr/>
          <p:nvPr/>
        </p:nvSpPr>
        <p:spPr>
          <a:xfrm>
            <a:off x="768096" y="1572768"/>
            <a:ext cx="411480" cy="292608"/>
          </a:xfrm>
          <a:prstGeom prst="rect">
            <a:avLst/>
          </a:prstGeom>
          <a:noFill/>
          <a:ln/>
        </p:spPr>
        <p:txBody>
          <a:bodyPr wrap="square" rtlCol="0" anchor="ctr"/>
          <a:lstStyle/>
          <a:p>
            <a:pPr marL="0" indent="0" algn="ctr">
              <a:buNone/>
            </a:pPr>
            <a:r>
              <a:rPr lang="en-US" sz="1000" b="1" dirty="0">
                <a:solidFill>
                  <a:srgbClr val="FFFFFF"/>
                </a:solidFill>
              </a:rPr>
              <a:t>01</a:t>
            </a:r>
            <a:endParaRPr lang="en-US" sz="1000" dirty="0"/>
          </a:p>
        </p:txBody>
      </p:sp>
      <p:sp>
        <p:nvSpPr>
          <p:cNvPr id="15" name="Text 13"/>
          <p:cNvSpPr/>
          <p:nvPr/>
        </p:nvSpPr>
        <p:spPr>
          <a:xfrm>
            <a:off x="1261872" y="1554480"/>
            <a:ext cx="3300984" cy="347472"/>
          </a:xfrm>
          <a:prstGeom prst="rect">
            <a:avLst/>
          </a:prstGeom>
          <a:noFill/>
          <a:ln/>
        </p:spPr>
        <p:txBody>
          <a:bodyPr wrap="square" rtlCol="0" anchor="ctr"/>
          <a:lstStyle/>
          <a:p>
            <a:pPr marL="0" indent="0">
              <a:lnSpc>
                <a:spcPct val="110000"/>
              </a:lnSpc>
              <a:buNone/>
            </a:pPr>
            <a:r>
              <a:rPr lang="en-US" sz="1300" b="1" dirty="0">
                <a:solidFill>
                  <a:srgbClr val="0F2C4F"/>
                </a:solidFill>
              </a:rPr>
              <a:t>ML substantially outperforms clinical scoring</a:t>
            </a:r>
            <a:endParaRPr lang="en-US" sz="1300" dirty="0"/>
          </a:p>
        </p:txBody>
      </p:sp>
      <p:sp>
        <p:nvSpPr>
          <p:cNvPr id="16" name="Shape 14"/>
          <p:cNvSpPr/>
          <p:nvPr/>
        </p:nvSpPr>
        <p:spPr>
          <a:xfrm>
            <a:off x="768096" y="1947672"/>
            <a:ext cx="3648456" cy="219456"/>
          </a:xfrm>
          <a:prstGeom prst="rect">
            <a:avLst/>
          </a:prstGeom>
          <a:solidFill>
            <a:srgbClr val="1B7A3F">
              <a:alpha val="15000"/>
            </a:srgbClr>
          </a:solidFill>
          <a:ln w="6350">
            <a:solidFill>
              <a:srgbClr val="1B7A3F"/>
            </a:solidFill>
            <a:prstDash val="solid"/>
          </a:ln>
        </p:spPr>
      </p:sp>
      <p:sp>
        <p:nvSpPr>
          <p:cNvPr id="17" name="Text 15"/>
          <p:cNvSpPr/>
          <p:nvPr/>
        </p:nvSpPr>
        <p:spPr>
          <a:xfrm>
            <a:off x="841248" y="1947672"/>
            <a:ext cx="3566160" cy="219456"/>
          </a:xfrm>
          <a:prstGeom prst="rect">
            <a:avLst/>
          </a:prstGeom>
          <a:noFill/>
          <a:ln/>
        </p:spPr>
        <p:txBody>
          <a:bodyPr wrap="square" rtlCol="0" anchor="ctr"/>
          <a:lstStyle/>
          <a:p>
            <a:pPr marL="0" indent="0">
              <a:buNone/>
            </a:pPr>
            <a:r>
              <a:rPr lang="en-US" sz="1100" b="1" dirty="0">
                <a:solidFill>
                  <a:srgbClr val="1B7A3F"/>
                </a:solidFill>
              </a:rPr>
              <a:t>Score₁  0.31 → 0.54  (+75%)</a:t>
            </a:r>
            <a:endParaRPr lang="en-US" sz="1100" dirty="0"/>
          </a:p>
        </p:txBody>
      </p:sp>
      <p:sp>
        <p:nvSpPr>
          <p:cNvPr id="18" name="Text 16"/>
          <p:cNvSpPr/>
          <p:nvPr/>
        </p:nvSpPr>
        <p:spPr>
          <a:xfrm>
            <a:off x="768096" y="2212848"/>
            <a:ext cx="3648456" cy="685800"/>
          </a:xfrm>
          <a:prstGeom prst="rect">
            <a:avLst/>
          </a:prstGeom>
          <a:noFill/>
          <a:ln/>
        </p:spPr>
        <p:txBody>
          <a:bodyPr wrap="square" rtlCol="0" anchor="t"/>
          <a:lstStyle/>
          <a:p>
            <a:pPr marL="0" indent="0">
              <a:lnSpc>
                <a:spcPct val="130000"/>
              </a:lnSpc>
              <a:buNone/>
            </a:pPr>
            <a:r>
              <a:rPr lang="en-US" sz="1100" b="1" dirty="0"/>
              <a:t>XGBoost: AUROC 0.8798 · AUPRC 0.5384 · Score₁ 0.5422 on 600 unseen test patients. The 40-year-old SAPS-I baseline scored only 0.3097. Every ML model exceeded it.</a:t>
            </a:r>
          </a:p>
        </p:txBody>
      </p:sp>
      <p:sp>
        <p:nvSpPr>
          <p:cNvPr id="19" name="Shape 17"/>
          <p:cNvSpPr/>
          <p:nvPr/>
        </p:nvSpPr>
        <p:spPr>
          <a:xfrm>
            <a:off x="4727448" y="1440180"/>
            <a:ext cx="3858768" cy="1508760"/>
          </a:xfrm>
          <a:prstGeom prst="rect">
            <a:avLst/>
          </a:prstGeom>
          <a:solidFill>
            <a:srgbClr val="EEF4FB"/>
          </a:solidFill>
          <a:ln w="10160">
            <a:solidFill>
              <a:srgbClr val="5B9BD5"/>
            </a:solidFill>
            <a:prstDash val="solid"/>
          </a:ln>
        </p:spPr>
      </p:sp>
      <p:sp>
        <p:nvSpPr>
          <p:cNvPr id="20" name="Shape 18"/>
          <p:cNvSpPr/>
          <p:nvPr/>
        </p:nvSpPr>
        <p:spPr>
          <a:xfrm>
            <a:off x="4791456" y="1572768"/>
            <a:ext cx="411480" cy="292608"/>
          </a:xfrm>
          <a:prstGeom prst="roundRect">
            <a:avLst>
              <a:gd name="adj" fmla="val 15625"/>
            </a:avLst>
          </a:prstGeom>
          <a:solidFill>
            <a:srgbClr val="1F4E79"/>
          </a:solidFill>
          <a:ln w="12700">
            <a:solidFill>
              <a:srgbClr val="1F4E79"/>
            </a:solidFill>
            <a:prstDash val="solid"/>
          </a:ln>
        </p:spPr>
      </p:sp>
      <p:sp>
        <p:nvSpPr>
          <p:cNvPr id="21" name="Text 19"/>
          <p:cNvSpPr/>
          <p:nvPr/>
        </p:nvSpPr>
        <p:spPr>
          <a:xfrm>
            <a:off x="4791456" y="1572768"/>
            <a:ext cx="411480" cy="292608"/>
          </a:xfrm>
          <a:prstGeom prst="rect">
            <a:avLst/>
          </a:prstGeom>
          <a:noFill/>
          <a:ln/>
        </p:spPr>
        <p:txBody>
          <a:bodyPr wrap="square" rtlCol="0" anchor="ctr"/>
          <a:lstStyle/>
          <a:p>
            <a:pPr marL="0" indent="0" algn="ctr">
              <a:buNone/>
            </a:pPr>
            <a:r>
              <a:rPr lang="en-US" sz="1000" b="1" dirty="0">
                <a:solidFill>
                  <a:srgbClr val="FFFFFF"/>
                </a:solidFill>
              </a:rPr>
              <a:t>02</a:t>
            </a:r>
            <a:endParaRPr lang="en-US" sz="1000" dirty="0"/>
          </a:p>
        </p:txBody>
      </p:sp>
      <p:sp>
        <p:nvSpPr>
          <p:cNvPr id="22" name="Text 20"/>
          <p:cNvSpPr/>
          <p:nvPr/>
        </p:nvSpPr>
        <p:spPr>
          <a:xfrm>
            <a:off x="5266944" y="1554480"/>
            <a:ext cx="3320796" cy="347472"/>
          </a:xfrm>
          <a:prstGeom prst="rect">
            <a:avLst/>
          </a:prstGeom>
          <a:noFill/>
          <a:ln/>
        </p:spPr>
        <p:txBody>
          <a:bodyPr wrap="square" rtlCol="0" anchor="ctr"/>
          <a:lstStyle/>
          <a:p>
            <a:pPr marL="0" indent="0">
              <a:lnSpc>
                <a:spcPct val="110000"/>
              </a:lnSpc>
              <a:buNone/>
            </a:pPr>
            <a:r>
              <a:rPr lang="en-US" sz="1300" b="1" dirty="0">
                <a:solidFill>
                  <a:srgbClr val="0F2C4F"/>
                </a:solidFill>
              </a:rPr>
              <a:t>Consciousness level is the dominant mortality predictor</a:t>
            </a:r>
            <a:endParaRPr lang="en-US" sz="1300" dirty="0"/>
          </a:p>
        </p:txBody>
      </p:sp>
      <p:sp>
        <p:nvSpPr>
          <p:cNvPr id="23" name="Shape 21"/>
          <p:cNvSpPr/>
          <p:nvPr/>
        </p:nvSpPr>
        <p:spPr>
          <a:xfrm>
            <a:off x="4791456" y="1947672"/>
            <a:ext cx="3648456" cy="219456"/>
          </a:xfrm>
          <a:prstGeom prst="rect">
            <a:avLst/>
          </a:prstGeom>
          <a:solidFill>
            <a:srgbClr val="1F4E79">
              <a:alpha val="15000"/>
            </a:srgbClr>
          </a:solidFill>
          <a:ln w="6350">
            <a:solidFill>
              <a:srgbClr val="1F4E79"/>
            </a:solidFill>
            <a:prstDash val="solid"/>
          </a:ln>
        </p:spPr>
      </p:sp>
      <p:sp>
        <p:nvSpPr>
          <p:cNvPr id="24" name="Text 22"/>
          <p:cNvSpPr/>
          <p:nvPr/>
        </p:nvSpPr>
        <p:spPr>
          <a:xfrm>
            <a:off x="4864608" y="1947672"/>
            <a:ext cx="3566160" cy="219456"/>
          </a:xfrm>
          <a:prstGeom prst="rect">
            <a:avLst/>
          </a:prstGeom>
          <a:noFill/>
          <a:ln/>
        </p:spPr>
        <p:txBody>
          <a:bodyPr wrap="square" rtlCol="0" anchor="ctr"/>
          <a:lstStyle/>
          <a:p>
            <a:pPr marL="0" indent="0">
              <a:buNone/>
            </a:pPr>
            <a:r>
              <a:rPr lang="en-US" sz="950" b="1" dirty="0">
                <a:solidFill>
                  <a:srgbClr val="1F4E79"/>
                </a:solidFill>
              </a:rPr>
              <a:t>GCS mean |SHAP| = 0.99</a:t>
            </a:r>
            <a:endParaRPr lang="en-US" sz="950" dirty="0"/>
          </a:p>
        </p:txBody>
      </p:sp>
      <p:sp>
        <p:nvSpPr>
          <p:cNvPr id="25" name="Text 23"/>
          <p:cNvSpPr/>
          <p:nvPr/>
        </p:nvSpPr>
        <p:spPr>
          <a:xfrm>
            <a:off x="4791456" y="2212848"/>
            <a:ext cx="3796284" cy="786384"/>
          </a:xfrm>
          <a:prstGeom prst="rect">
            <a:avLst/>
          </a:prstGeom>
          <a:noFill/>
          <a:ln/>
        </p:spPr>
        <p:txBody>
          <a:bodyPr wrap="square" rtlCol="0" anchor="t"/>
          <a:lstStyle/>
          <a:p>
            <a:pPr marL="0" indent="0">
              <a:lnSpc>
                <a:spcPct val="130000"/>
              </a:lnSpc>
              <a:buNone/>
            </a:pPr>
            <a:r>
              <a:rPr lang="en-US" sz="1100" b="1" dirty="0"/>
              <a:t>GCS ranked #1 across all 4,000 patients — SHAP value nearly 2× the second-ranked variable (BUN = 0.50). The model independently rediscovered what clinicians already know.</a:t>
            </a:r>
          </a:p>
        </p:txBody>
      </p:sp>
      <p:sp>
        <p:nvSpPr>
          <p:cNvPr id="26" name="Shape 24"/>
          <p:cNvSpPr/>
          <p:nvPr/>
        </p:nvSpPr>
        <p:spPr>
          <a:xfrm>
            <a:off x="640080" y="3090672"/>
            <a:ext cx="4014216" cy="1508760"/>
          </a:xfrm>
          <a:prstGeom prst="rect">
            <a:avLst/>
          </a:prstGeom>
          <a:solidFill>
            <a:srgbClr val="FEF3E2"/>
          </a:solidFill>
          <a:ln w="10160">
            <a:solidFill>
              <a:srgbClr val="EF9F27"/>
            </a:solidFill>
            <a:prstDash val="solid"/>
          </a:ln>
        </p:spPr>
      </p:sp>
      <p:sp>
        <p:nvSpPr>
          <p:cNvPr id="27" name="Shape 25"/>
          <p:cNvSpPr/>
          <p:nvPr/>
        </p:nvSpPr>
        <p:spPr>
          <a:xfrm>
            <a:off x="768096" y="3218688"/>
            <a:ext cx="411480" cy="292608"/>
          </a:xfrm>
          <a:prstGeom prst="roundRect">
            <a:avLst>
              <a:gd name="adj" fmla="val 15625"/>
            </a:avLst>
          </a:prstGeom>
          <a:solidFill>
            <a:srgbClr val="C77700"/>
          </a:solidFill>
          <a:ln w="12700">
            <a:solidFill>
              <a:srgbClr val="C77700"/>
            </a:solidFill>
            <a:prstDash val="solid"/>
          </a:ln>
        </p:spPr>
      </p:sp>
      <p:sp>
        <p:nvSpPr>
          <p:cNvPr id="28" name="Text 26"/>
          <p:cNvSpPr/>
          <p:nvPr/>
        </p:nvSpPr>
        <p:spPr>
          <a:xfrm>
            <a:off x="768096" y="3218688"/>
            <a:ext cx="411480" cy="292608"/>
          </a:xfrm>
          <a:prstGeom prst="rect">
            <a:avLst/>
          </a:prstGeom>
          <a:noFill/>
          <a:ln/>
        </p:spPr>
        <p:txBody>
          <a:bodyPr wrap="square" rtlCol="0" anchor="ctr"/>
          <a:lstStyle/>
          <a:p>
            <a:pPr marL="0" indent="0" algn="ctr">
              <a:buNone/>
            </a:pPr>
            <a:r>
              <a:rPr lang="en-US" sz="1000" b="1" dirty="0">
                <a:solidFill>
                  <a:srgbClr val="FFFFFF"/>
                </a:solidFill>
              </a:rPr>
              <a:t>03</a:t>
            </a:r>
            <a:endParaRPr lang="en-US" sz="1000" dirty="0"/>
          </a:p>
        </p:txBody>
      </p:sp>
      <p:sp>
        <p:nvSpPr>
          <p:cNvPr id="29" name="Text 27"/>
          <p:cNvSpPr/>
          <p:nvPr/>
        </p:nvSpPr>
        <p:spPr>
          <a:xfrm>
            <a:off x="1261872" y="3200400"/>
            <a:ext cx="3364992" cy="347472"/>
          </a:xfrm>
          <a:prstGeom prst="rect">
            <a:avLst/>
          </a:prstGeom>
          <a:noFill/>
          <a:ln/>
        </p:spPr>
        <p:txBody>
          <a:bodyPr wrap="square" rtlCol="0" anchor="ctr"/>
          <a:lstStyle/>
          <a:p>
            <a:pPr marL="0" indent="0">
              <a:lnSpc>
                <a:spcPct val="110000"/>
              </a:lnSpc>
              <a:buNone/>
            </a:pPr>
            <a:r>
              <a:rPr lang="en-US" sz="1300" b="1" dirty="0">
                <a:solidFill>
                  <a:srgbClr val="0F2C4F"/>
                </a:solidFill>
              </a:rPr>
              <a:t>Missing data encodes clinical decision-making</a:t>
            </a:r>
            <a:endParaRPr lang="en-US" sz="1300" dirty="0"/>
          </a:p>
        </p:txBody>
      </p:sp>
      <p:sp>
        <p:nvSpPr>
          <p:cNvPr id="30" name="Shape 28"/>
          <p:cNvSpPr/>
          <p:nvPr/>
        </p:nvSpPr>
        <p:spPr>
          <a:xfrm>
            <a:off x="768096" y="3593592"/>
            <a:ext cx="3648456" cy="219456"/>
          </a:xfrm>
          <a:prstGeom prst="rect">
            <a:avLst/>
          </a:prstGeom>
          <a:solidFill>
            <a:srgbClr val="C77700">
              <a:alpha val="15000"/>
            </a:srgbClr>
          </a:solidFill>
          <a:ln w="6350">
            <a:solidFill>
              <a:srgbClr val="C77700"/>
            </a:solidFill>
            <a:prstDash val="solid"/>
          </a:ln>
        </p:spPr>
      </p:sp>
      <p:sp>
        <p:nvSpPr>
          <p:cNvPr id="31" name="Text 29"/>
          <p:cNvSpPr/>
          <p:nvPr/>
        </p:nvSpPr>
        <p:spPr>
          <a:xfrm>
            <a:off x="841248" y="3593592"/>
            <a:ext cx="3566160" cy="219456"/>
          </a:xfrm>
          <a:prstGeom prst="rect">
            <a:avLst/>
          </a:prstGeom>
          <a:noFill/>
          <a:ln/>
        </p:spPr>
        <p:txBody>
          <a:bodyPr wrap="square" rtlCol="0" anchor="ctr"/>
          <a:lstStyle/>
          <a:p>
            <a:pPr marL="0" indent="0">
              <a:buNone/>
            </a:pPr>
            <a:r>
              <a:rPr lang="en-US" sz="1100" b="1" dirty="0">
                <a:solidFill>
                  <a:srgbClr val="C77700"/>
                </a:solidFill>
              </a:rPr>
              <a:t>−6.6 pp Score₁ without missingness</a:t>
            </a:r>
            <a:endParaRPr lang="en-US" sz="1100" dirty="0"/>
          </a:p>
        </p:txBody>
      </p:sp>
      <p:sp>
        <p:nvSpPr>
          <p:cNvPr id="32" name="Text 30"/>
          <p:cNvSpPr/>
          <p:nvPr/>
        </p:nvSpPr>
        <p:spPr>
          <a:xfrm>
            <a:off x="768096" y="3858768"/>
            <a:ext cx="4023360" cy="685800"/>
          </a:xfrm>
          <a:prstGeom prst="rect">
            <a:avLst/>
          </a:prstGeom>
          <a:noFill/>
          <a:ln/>
        </p:spPr>
        <p:txBody>
          <a:bodyPr wrap="square" rtlCol="0" anchor="t"/>
          <a:lstStyle/>
          <a:p>
            <a:pPr marL="0" indent="0">
              <a:lnSpc>
                <a:spcPct val="130000"/>
              </a:lnSpc>
              <a:buNone/>
            </a:pPr>
            <a:r>
              <a:rPr lang="en-US" sz="1100" b="1" dirty="0"/>
              <a:t>Removing the missingness channel caused the single largest drop in the ablation study. When a doctor does not order a test, that silence is itself a diagnostic signal — and the model learns it.</a:t>
            </a:r>
          </a:p>
        </p:txBody>
      </p:sp>
      <p:sp>
        <p:nvSpPr>
          <p:cNvPr id="33" name="Shape 31"/>
          <p:cNvSpPr/>
          <p:nvPr/>
        </p:nvSpPr>
        <p:spPr>
          <a:xfrm>
            <a:off x="4727448" y="3067812"/>
            <a:ext cx="3858768" cy="1508760"/>
          </a:xfrm>
          <a:prstGeom prst="rect">
            <a:avLst/>
          </a:prstGeom>
          <a:solidFill>
            <a:srgbClr val="E1F5F4"/>
          </a:solidFill>
          <a:ln w="10160">
            <a:solidFill>
              <a:srgbClr val="5DCAA5"/>
            </a:solidFill>
            <a:prstDash val="solid"/>
          </a:ln>
        </p:spPr>
      </p:sp>
      <p:sp>
        <p:nvSpPr>
          <p:cNvPr id="34" name="Shape 32"/>
          <p:cNvSpPr/>
          <p:nvPr/>
        </p:nvSpPr>
        <p:spPr>
          <a:xfrm>
            <a:off x="4791456" y="3218688"/>
            <a:ext cx="411480" cy="292608"/>
          </a:xfrm>
          <a:prstGeom prst="roundRect">
            <a:avLst>
              <a:gd name="adj" fmla="val 15625"/>
            </a:avLst>
          </a:prstGeom>
          <a:solidFill>
            <a:srgbClr val="0E7C7B"/>
          </a:solidFill>
          <a:ln w="12700">
            <a:solidFill>
              <a:srgbClr val="0E7C7B"/>
            </a:solidFill>
            <a:prstDash val="solid"/>
          </a:ln>
        </p:spPr>
      </p:sp>
      <p:sp>
        <p:nvSpPr>
          <p:cNvPr id="35" name="Text 33"/>
          <p:cNvSpPr/>
          <p:nvPr/>
        </p:nvSpPr>
        <p:spPr>
          <a:xfrm>
            <a:off x="4791456" y="3218688"/>
            <a:ext cx="411480" cy="292608"/>
          </a:xfrm>
          <a:prstGeom prst="rect">
            <a:avLst/>
          </a:prstGeom>
          <a:noFill/>
          <a:ln/>
        </p:spPr>
        <p:txBody>
          <a:bodyPr wrap="square" rtlCol="0" anchor="ctr"/>
          <a:lstStyle/>
          <a:p>
            <a:pPr marL="0" indent="0" algn="ctr">
              <a:buNone/>
            </a:pPr>
            <a:r>
              <a:rPr lang="en-US" sz="1000" b="1" dirty="0">
                <a:solidFill>
                  <a:srgbClr val="FFFFFF"/>
                </a:solidFill>
              </a:rPr>
              <a:t>04</a:t>
            </a:r>
            <a:endParaRPr lang="en-US" sz="1000" dirty="0"/>
          </a:p>
        </p:txBody>
      </p:sp>
      <p:sp>
        <p:nvSpPr>
          <p:cNvPr id="36" name="Text 34"/>
          <p:cNvSpPr/>
          <p:nvPr/>
        </p:nvSpPr>
        <p:spPr>
          <a:xfrm>
            <a:off x="5285232" y="3200400"/>
            <a:ext cx="3154680" cy="347472"/>
          </a:xfrm>
          <a:prstGeom prst="rect">
            <a:avLst/>
          </a:prstGeom>
          <a:noFill/>
          <a:ln/>
        </p:spPr>
        <p:txBody>
          <a:bodyPr wrap="square" rtlCol="0" anchor="ctr"/>
          <a:lstStyle/>
          <a:p>
            <a:pPr marL="0" indent="0">
              <a:lnSpc>
                <a:spcPct val="110000"/>
              </a:lnSpc>
              <a:buNone/>
            </a:pPr>
            <a:r>
              <a:rPr lang="en-US" sz="1300" b="1" dirty="0">
                <a:solidFill>
                  <a:srgbClr val="0F2C4F"/>
                </a:solidFill>
              </a:rPr>
              <a:t>SHAP explanations are clinically validated</a:t>
            </a:r>
            <a:endParaRPr lang="en-US" sz="1300" dirty="0"/>
          </a:p>
        </p:txBody>
      </p:sp>
      <p:sp>
        <p:nvSpPr>
          <p:cNvPr id="37" name="Shape 35"/>
          <p:cNvSpPr/>
          <p:nvPr/>
        </p:nvSpPr>
        <p:spPr>
          <a:xfrm>
            <a:off x="4791456" y="3593592"/>
            <a:ext cx="3648456" cy="219456"/>
          </a:xfrm>
          <a:prstGeom prst="rect">
            <a:avLst/>
          </a:prstGeom>
          <a:solidFill>
            <a:srgbClr val="0E7C7B">
              <a:alpha val="15000"/>
            </a:srgbClr>
          </a:solidFill>
          <a:ln w="6350">
            <a:solidFill>
              <a:srgbClr val="0E7C7B"/>
            </a:solidFill>
            <a:prstDash val="solid"/>
          </a:ln>
        </p:spPr>
      </p:sp>
      <p:sp>
        <p:nvSpPr>
          <p:cNvPr id="38" name="Text 36"/>
          <p:cNvSpPr/>
          <p:nvPr/>
        </p:nvSpPr>
        <p:spPr>
          <a:xfrm>
            <a:off x="4864608" y="3593592"/>
            <a:ext cx="3566160" cy="219456"/>
          </a:xfrm>
          <a:prstGeom prst="rect">
            <a:avLst/>
          </a:prstGeom>
          <a:noFill/>
          <a:ln/>
        </p:spPr>
        <p:txBody>
          <a:bodyPr wrap="square" rtlCol="0" anchor="ctr"/>
          <a:lstStyle/>
          <a:p>
            <a:pPr marL="0" indent="0">
              <a:buNone/>
            </a:pPr>
            <a:r>
              <a:rPr lang="en-US" sz="1200" b="1" dirty="0">
                <a:solidFill>
                  <a:srgbClr val="0E7C7B"/>
                </a:solidFill>
              </a:rPr>
              <a:t>SHAP–SAPS-I concordance = 0.498  (3.7× chance)</a:t>
            </a:r>
            <a:endParaRPr lang="en-US" sz="1200" dirty="0"/>
          </a:p>
        </p:txBody>
      </p:sp>
      <p:sp>
        <p:nvSpPr>
          <p:cNvPr id="39" name="Text 37"/>
          <p:cNvSpPr/>
          <p:nvPr/>
        </p:nvSpPr>
        <p:spPr>
          <a:xfrm>
            <a:off x="4791456" y="3858768"/>
            <a:ext cx="3895344" cy="685800"/>
          </a:xfrm>
          <a:prstGeom prst="rect">
            <a:avLst/>
          </a:prstGeom>
          <a:noFill/>
          <a:ln/>
        </p:spPr>
        <p:txBody>
          <a:bodyPr wrap="square" rtlCol="0" anchor="t"/>
          <a:lstStyle/>
          <a:p>
            <a:pPr marL="0" indent="0">
              <a:lnSpc>
                <a:spcPct val="130000"/>
              </a:lnSpc>
              <a:buNone/>
            </a:pPr>
            <a:r>
              <a:rPr lang="en-US" sz="1100" b="1" dirty="0"/>
              <a:t>Time-step SHAP attribution statistically agrees with SAPS-I severity scoring. Explanations are not arbitrary — they match the physiological reasoning clinicians have trusted since 1984.</a:t>
            </a:r>
          </a:p>
        </p:txBody>
      </p:sp>
      <p:sp>
        <p:nvSpPr>
          <p:cNvPr id="40" name="Shape 38"/>
          <p:cNvSpPr/>
          <p:nvPr/>
        </p:nvSpPr>
        <p:spPr>
          <a:xfrm>
            <a:off x="640080" y="4727448"/>
            <a:ext cx="8138160" cy="256032"/>
          </a:xfrm>
          <a:prstGeom prst="rect">
            <a:avLst/>
          </a:prstGeom>
          <a:solidFill>
            <a:srgbClr val="0F2C4F"/>
          </a:solidFill>
          <a:ln w="12700">
            <a:solidFill>
              <a:srgbClr val="0F2C4F"/>
            </a:solidFill>
            <a:prstDash val="solid"/>
          </a:ln>
        </p:spPr>
        <p:txBody>
          <a:bodyPr/>
          <a:lstStyle/>
          <a:p>
            <a:endParaRPr lang="en-PK" dirty="0"/>
          </a:p>
        </p:txBody>
      </p:sp>
      <p:sp>
        <p:nvSpPr>
          <p:cNvPr id="41" name="Text 39"/>
          <p:cNvSpPr/>
          <p:nvPr/>
        </p:nvSpPr>
        <p:spPr>
          <a:xfrm>
            <a:off x="472440" y="4645152"/>
            <a:ext cx="8616696" cy="443484"/>
          </a:xfrm>
          <a:prstGeom prst="rect">
            <a:avLst/>
          </a:prstGeom>
          <a:noFill/>
          <a:ln/>
        </p:spPr>
        <p:txBody>
          <a:bodyPr wrap="square" rtlCol="0" anchor="ctr"/>
          <a:lstStyle/>
          <a:p>
            <a:pPr marL="0" indent="0" algn="ctr">
              <a:buNone/>
            </a:pPr>
            <a:r>
              <a:rPr lang="en-US" sz="1050" b="1" i="1" dirty="0">
                <a:solidFill>
                  <a:srgbClr val="FFFFFF"/>
                </a:solidFill>
              </a:rPr>
              <a:t>This research proves ICU mortality can be predicted AND explained — hour by hour, variable by variable, in the clinician's own coordinate system.</a:t>
            </a:r>
            <a:endParaRPr lang="en-US" sz="1050" dirty="0"/>
          </a:p>
        </p:txBody>
      </p:sp>
      <p:sp>
        <p:nvSpPr>
          <p:cNvPr id="42" name="Freeform 11">
            <a:extLst>
              <a:ext uri="{FF2B5EF4-FFF2-40B4-BE49-F238E27FC236}">
                <a16:creationId xmlns:a16="http://schemas.microsoft.com/office/drawing/2014/main" id="{871DDFC1-FE93-A2F5-44A6-A35F4C2FC05A}"/>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3"/>
            <a:stretch>
              <a:fillRect r="-131319"/>
            </a:stretch>
          </a:blipFill>
        </p:spPr>
        <p:txBody>
          <a:bodyP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08610" cy="5143500"/>
          </a:xfrm>
          <a:prstGeom prst="rect">
            <a:avLst/>
          </a:prstGeom>
          <a:solidFill>
            <a:srgbClr val="1F6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TextBox 2"/>
          <p:cNvSpPr txBox="1"/>
          <p:nvPr/>
        </p:nvSpPr>
        <p:spPr>
          <a:xfrm>
            <a:off x="308610" y="205741"/>
            <a:ext cx="7886700" cy="327782"/>
          </a:xfrm>
          <a:prstGeom prst="rect">
            <a:avLst/>
          </a:prstGeom>
          <a:noFill/>
        </p:spPr>
        <p:txBody>
          <a:bodyPr wrap="square" lIns="34290" tIns="13716" rIns="34290" bIns="13716" anchor="t">
            <a:spAutoFit/>
          </a:bodyPr>
          <a:lstStyle/>
          <a:p>
            <a:pPr algn="l"/>
            <a:r>
              <a:rPr sz="1950" b="1">
                <a:solidFill>
                  <a:srgbClr val="144C82"/>
                </a:solidFill>
                <a:latin typeface="Calibri"/>
              </a:rPr>
              <a:t>Reproducibility &amp; Resources</a:t>
            </a:r>
          </a:p>
        </p:txBody>
      </p:sp>
      <p:sp>
        <p:nvSpPr>
          <p:cNvPr id="4" name="Rectangle 3"/>
          <p:cNvSpPr/>
          <p:nvPr/>
        </p:nvSpPr>
        <p:spPr>
          <a:xfrm>
            <a:off x="308610" y="630936"/>
            <a:ext cx="1783080" cy="41148"/>
          </a:xfrm>
          <a:prstGeom prst="rect">
            <a:avLst/>
          </a:prstGeom>
          <a:solidFill>
            <a:srgbClr val="1F6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8538210" y="4834890"/>
            <a:ext cx="582930" cy="166199"/>
          </a:xfrm>
          <a:prstGeom prst="rect">
            <a:avLst/>
          </a:prstGeom>
          <a:noFill/>
        </p:spPr>
        <p:txBody>
          <a:bodyPr wrap="square" lIns="34290" tIns="13716" rIns="34290" bIns="13716" anchor="t">
            <a:spAutoFit/>
          </a:bodyPr>
          <a:lstStyle/>
          <a:p>
            <a:pPr algn="r"/>
            <a:r>
              <a:rPr lang="en-US" sz="900" b="1" dirty="0">
                <a:solidFill>
                  <a:srgbClr val="555555"/>
                </a:solidFill>
                <a:latin typeface="Calibri"/>
              </a:rPr>
              <a:t>22</a:t>
            </a:r>
            <a:endParaRPr sz="900" b="1" dirty="0">
              <a:solidFill>
                <a:srgbClr val="555555"/>
              </a:solidFill>
              <a:latin typeface="Calibri"/>
            </a:endParaRPr>
          </a:p>
        </p:txBody>
      </p:sp>
      <p:sp>
        <p:nvSpPr>
          <p:cNvPr id="9" name="Rectangle 8"/>
          <p:cNvSpPr/>
          <p:nvPr/>
        </p:nvSpPr>
        <p:spPr>
          <a:xfrm>
            <a:off x="308610" y="4834890"/>
            <a:ext cx="7886700" cy="7144"/>
          </a:xfrm>
          <a:prstGeom prst="rect">
            <a:avLst/>
          </a:prstGeom>
          <a:solidFill>
            <a:srgbClr val="D6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ounded Rectangle 9"/>
          <p:cNvSpPr/>
          <p:nvPr/>
        </p:nvSpPr>
        <p:spPr>
          <a:xfrm>
            <a:off x="377190" y="891540"/>
            <a:ext cx="4046220" cy="3634740"/>
          </a:xfrm>
          <a:prstGeom prst="roundRect">
            <a:avLst>
              <a:gd name="adj" fmla="val 10000"/>
            </a:avLst>
          </a:prstGeom>
          <a:solidFill>
            <a:srgbClr val="FFFFFF"/>
          </a:solidFill>
          <a:ln>
            <a:solidFill>
              <a:srgbClr val="144C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377190" y="891540"/>
            <a:ext cx="4046220" cy="445770"/>
          </a:xfrm>
          <a:prstGeom prst="rect">
            <a:avLst/>
          </a:prstGeom>
          <a:solidFill>
            <a:srgbClr val="144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548640" y="996701"/>
            <a:ext cx="3703320" cy="235449"/>
          </a:xfrm>
          <a:prstGeom prst="rect">
            <a:avLst/>
          </a:prstGeom>
          <a:noFill/>
        </p:spPr>
        <p:txBody>
          <a:bodyPr wrap="square" lIns="34290" tIns="13716" rIns="34290" bIns="13716" anchor="ctr">
            <a:spAutoFit/>
          </a:bodyPr>
          <a:lstStyle/>
          <a:p>
            <a:pPr algn="l"/>
            <a:r>
              <a:rPr sz="1350" b="1">
                <a:solidFill>
                  <a:srgbClr val="FFFFFF"/>
                </a:solidFill>
                <a:latin typeface="Calibri"/>
              </a:rPr>
              <a:t>Project repository (GitHub)</a:t>
            </a:r>
          </a:p>
        </p:txBody>
      </p:sp>
      <p:pic>
        <p:nvPicPr>
          <p:cNvPr id="13" name="Picture 12" descr="qr_github.png"/>
          <p:cNvPicPr>
            <a:picLocks noChangeAspect="1"/>
          </p:cNvPicPr>
          <p:nvPr/>
        </p:nvPicPr>
        <p:blipFill>
          <a:blip r:embed="rId2"/>
          <a:stretch>
            <a:fillRect/>
          </a:stretch>
        </p:blipFill>
        <p:spPr>
          <a:xfrm>
            <a:off x="1200150" y="1543050"/>
            <a:ext cx="2400300" cy="2400300"/>
          </a:xfrm>
          <a:prstGeom prst="rect">
            <a:avLst/>
          </a:prstGeom>
        </p:spPr>
      </p:pic>
      <p:sp>
        <p:nvSpPr>
          <p:cNvPr id="14" name="TextBox 13"/>
          <p:cNvSpPr txBox="1"/>
          <p:nvPr/>
        </p:nvSpPr>
        <p:spPr>
          <a:xfrm>
            <a:off x="548640" y="4011930"/>
            <a:ext cx="3703320" cy="366254"/>
          </a:xfrm>
          <a:prstGeom prst="rect">
            <a:avLst/>
          </a:prstGeom>
          <a:noFill/>
        </p:spPr>
        <p:txBody>
          <a:bodyPr wrap="square" lIns="34290" tIns="13716" rIns="34290" bIns="13716" anchor="t">
            <a:spAutoFit/>
          </a:bodyPr>
          <a:lstStyle/>
          <a:p>
            <a:pPr algn="ctr"/>
            <a:r>
              <a:rPr sz="1100" b="1" dirty="0">
                <a:latin typeface="Calibri"/>
              </a:rPr>
              <a:t>github.com/</a:t>
            </a:r>
            <a:r>
              <a:rPr sz="1100" b="1" dirty="0" err="1">
                <a:latin typeface="Calibri"/>
              </a:rPr>
              <a:t>ihsaanNaqvi</a:t>
            </a:r>
            <a:r>
              <a:rPr sz="1100" b="1" dirty="0">
                <a:latin typeface="Calibri"/>
              </a:rPr>
              <a:t>/Explainable-ML-for-ICU-Mortality-Prediction</a:t>
            </a:r>
          </a:p>
        </p:txBody>
      </p:sp>
      <p:sp>
        <p:nvSpPr>
          <p:cNvPr id="15" name="Rounded Rectangle 14"/>
          <p:cNvSpPr/>
          <p:nvPr/>
        </p:nvSpPr>
        <p:spPr>
          <a:xfrm>
            <a:off x="4697730" y="891540"/>
            <a:ext cx="4046220" cy="3634740"/>
          </a:xfrm>
          <a:prstGeom prst="roundRect">
            <a:avLst>
              <a:gd name="adj" fmla="val 10000"/>
            </a:avLst>
          </a:prstGeom>
          <a:solidFill>
            <a:srgbClr val="FFFFFF"/>
          </a:solidFill>
          <a:ln>
            <a:solidFill>
              <a:srgbClr val="0A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4697730" y="891540"/>
            <a:ext cx="4046220" cy="445770"/>
          </a:xfrm>
          <a:prstGeom prst="rect">
            <a:avLst/>
          </a:prstGeom>
          <a:solidFill>
            <a:srgbClr val="0A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p:cNvSpPr txBox="1"/>
          <p:nvPr/>
        </p:nvSpPr>
        <p:spPr>
          <a:xfrm>
            <a:off x="4869180" y="996701"/>
            <a:ext cx="3703320" cy="235449"/>
          </a:xfrm>
          <a:prstGeom prst="rect">
            <a:avLst/>
          </a:prstGeom>
          <a:noFill/>
        </p:spPr>
        <p:txBody>
          <a:bodyPr wrap="square" lIns="34290" tIns="13716" rIns="34290" bIns="13716" anchor="ctr">
            <a:spAutoFit/>
          </a:bodyPr>
          <a:lstStyle/>
          <a:p>
            <a:pPr algn="l"/>
            <a:r>
              <a:rPr sz="1350" b="1">
                <a:solidFill>
                  <a:srgbClr val="FFFFFF"/>
                </a:solidFill>
                <a:latin typeface="Calibri"/>
              </a:rPr>
              <a:t>Dataset — PhysioNet 2012</a:t>
            </a:r>
          </a:p>
        </p:txBody>
      </p:sp>
      <p:pic>
        <p:nvPicPr>
          <p:cNvPr id="18" name="Picture 17" descr="qr_physionet.png"/>
          <p:cNvPicPr>
            <a:picLocks noChangeAspect="1"/>
          </p:cNvPicPr>
          <p:nvPr/>
        </p:nvPicPr>
        <p:blipFill>
          <a:blip r:embed="rId3"/>
          <a:stretch>
            <a:fillRect/>
          </a:stretch>
        </p:blipFill>
        <p:spPr>
          <a:xfrm>
            <a:off x="5520690" y="1543050"/>
            <a:ext cx="2400300" cy="2400300"/>
          </a:xfrm>
          <a:prstGeom prst="rect">
            <a:avLst/>
          </a:prstGeom>
        </p:spPr>
      </p:pic>
      <p:sp>
        <p:nvSpPr>
          <p:cNvPr id="19" name="TextBox 18"/>
          <p:cNvSpPr txBox="1"/>
          <p:nvPr/>
        </p:nvSpPr>
        <p:spPr>
          <a:xfrm>
            <a:off x="4869180" y="4011930"/>
            <a:ext cx="3703320" cy="196977"/>
          </a:xfrm>
          <a:prstGeom prst="rect">
            <a:avLst/>
          </a:prstGeom>
          <a:noFill/>
        </p:spPr>
        <p:txBody>
          <a:bodyPr wrap="square" lIns="34290" tIns="13716" rIns="34290" bIns="13716" anchor="t">
            <a:spAutoFit/>
          </a:bodyPr>
          <a:lstStyle/>
          <a:p>
            <a:pPr algn="ctr"/>
            <a:r>
              <a:rPr lang="en-US" sz="1100" b="1" dirty="0">
                <a:latin typeface="Calibri"/>
              </a:rPr>
              <a:t>physionet.org/content/challenge-2012/1.0.0/</a:t>
            </a:r>
            <a:endParaRPr sz="1100" b="1" dirty="0">
              <a:latin typeface="Calibri"/>
            </a:endParaRPr>
          </a:p>
        </p:txBody>
      </p:sp>
      <p:sp>
        <p:nvSpPr>
          <p:cNvPr id="20" name="Rounded Rectangle 19"/>
          <p:cNvSpPr/>
          <p:nvPr/>
        </p:nvSpPr>
        <p:spPr>
          <a:xfrm>
            <a:off x="377190" y="4594860"/>
            <a:ext cx="8366760" cy="274320"/>
          </a:xfrm>
          <a:prstGeom prst="roundRect">
            <a:avLst>
              <a:gd name="adj" fmla="val 10000"/>
            </a:avLst>
          </a:prstGeom>
          <a:solidFill>
            <a:srgbClr val="D6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TextBox 20"/>
          <p:cNvSpPr txBox="1"/>
          <p:nvPr/>
        </p:nvSpPr>
        <p:spPr>
          <a:xfrm>
            <a:off x="514350" y="4548894"/>
            <a:ext cx="8321040" cy="366254"/>
          </a:xfrm>
          <a:prstGeom prst="rect">
            <a:avLst/>
          </a:prstGeom>
          <a:noFill/>
        </p:spPr>
        <p:txBody>
          <a:bodyPr wrap="square" lIns="34290" tIns="13716" rIns="34290" bIns="13716" anchor="ctr">
            <a:spAutoFit/>
          </a:bodyPr>
          <a:lstStyle/>
          <a:p>
            <a:pPr algn="ctr"/>
            <a:r>
              <a:rPr sz="1100" b="1" dirty="0">
                <a:latin typeface="Calibri"/>
              </a:rPr>
              <a:t>Both QR codes resolve in any phone camera. Repo contains code, models, result JSONs, and the full thesis. Dataset is free under the PhysioNet license.</a:t>
            </a:r>
          </a:p>
        </p:txBody>
      </p:sp>
      <p:sp>
        <p:nvSpPr>
          <p:cNvPr id="22" name="Shape 0">
            <a:extLst>
              <a:ext uri="{FF2B5EF4-FFF2-40B4-BE49-F238E27FC236}">
                <a16:creationId xmlns:a16="http://schemas.microsoft.com/office/drawing/2014/main" id="{8E845127-3E6A-317D-F654-DD4247C0DDA3}"/>
              </a:ext>
            </a:extLst>
          </p:cNvPr>
          <p:cNvSpPr/>
          <p:nvPr/>
        </p:nvSpPr>
        <p:spPr>
          <a:xfrm>
            <a:off x="0" y="0"/>
            <a:ext cx="292608" cy="5143500"/>
          </a:xfrm>
          <a:prstGeom prst="rect">
            <a:avLst/>
          </a:prstGeom>
          <a:solidFill>
            <a:srgbClr val="2E5C8A"/>
          </a:solidFill>
          <a:ln w="12700">
            <a:solidFill>
              <a:srgbClr val="2E5C8A"/>
            </a:solidFill>
            <a:prstDash val="solid"/>
          </a:ln>
        </p:spPr>
      </p:sp>
      <p:sp>
        <p:nvSpPr>
          <p:cNvPr id="23" name="Freeform 11">
            <a:extLst>
              <a:ext uri="{FF2B5EF4-FFF2-40B4-BE49-F238E27FC236}">
                <a16:creationId xmlns:a16="http://schemas.microsoft.com/office/drawing/2014/main" id="{3D6CC7E2-DB95-4710-AE36-095815B2C981}"/>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1F4E79"/>
        </a:solidFill>
        <a:effectLst/>
      </p:bgPr>
    </p:bg>
    <p:spTree>
      <p:nvGrpSpPr>
        <p:cNvPr id="1" name=""/>
        <p:cNvGrpSpPr/>
        <p:nvPr/>
      </p:nvGrpSpPr>
      <p:grpSpPr>
        <a:xfrm>
          <a:off x="0" y="0"/>
          <a:ext cx="0" cy="0"/>
          <a:chOff x="0" y="0"/>
          <a:chExt cx="0" cy="0"/>
        </a:xfrm>
      </p:grpSpPr>
      <p:sp>
        <p:nvSpPr>
          <p:cNvPr id="6" name="Text 4"/>
          <p:cNvSpPr/>
          <p:nvPr/>
        </p:nvSpPr>
        <p:spPr>
          <a:xfrm>
            <a:off x="4808220" y="1219200"/>
            <a:ext cx="4754880" cy="91440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7" name="Shape 5"/>
          <p:cNvSpPr/>
          <p:nvPr/>
        </p:nvSpPr>
        <p:spPr>
          <a:xfrm>
            <a:off x="6179820" y="2029955"/>
            <a:ext cx="1371600" cy="45720"/>
          </a:xfrm>
          <a:prstGeom prst="rect">
            <a:avLst/>
          </a:prstGeom>
          <a:solidFill>
            <a:srgbClr val="5B9BD5"/>
          </a:solidFill>
          <a:ln w="12700">
            <a:solidFill>
              <a:srgbClr val="5B9BD5"/>
            </a:solidFill>
            <a:prstDash val="solid"/>
          </a:ln>
        </p:spPr>
      </p:sp>
      <p:sp>
        <p:nvSpPr>
          <p:cNvPr id="8" name="Text 6"/>
          <p:cNvSpPr/>
          <p:nvPr/>
        </p:nvSpPr>
        <p:spPr>
          <a:xfrm>
            <a:off x="5303522" y="2324100"/>
            <a:ext cx="4754880" cy="365760"/>
          </a:xfrm>
          <a:prstGeom prst="rect">
            <a:avLst/>
          </a:prstGeom>
          <a:noFill/>
          <a:ln/>
        </p:spPr>
        <p:txBody>
          <a:bodyPr wrap="square" rtlCol="0" anchor="ctr"/>
          <a:lstStyle/>
          <a:p>
            <a:pPr marL="0" indent="0">
              <a:buNone/>
            </a:pPr>
            <a:r>
              <a:rPr lang="en-US" sz="1800" b="1" i="1" dirty="0">
                <a:solidFill>
                  <a:srgbClr val="B4C7E7"/>
                </a:solidFill>
              </a:rPr>
              <a:t>Questions are welcome.</a:t>
            </a:r>
            <a:endParaRPr lang="en-US" sz="1800" b="1" dirty="0"/>
          </a:p>
        </p:txBody>
      </p:sp>
      <p:sp>
        <p:nvSpPr>
          <p:cNvPr id="9" name="Shape 7"/>
          <p:cNvSpPr/>
          <p:nvPr/>
        </p:nvSpPr>
        <p:spPr>
          <a:xfrm>
            <a:off x="4297680" y="4160520"/>
            <a:ext cx="4206240" cy="18288"/>
          </a:xfrm>
          <a:prstGeom prst="rect">
            <a:avLst/>
          </a:prstGeom>
          <a:solidFill>
            <a:srgbClr val="2E75B6"/>
          </a:solidFill>
          <a:ln w="12700">
            <a:solidFill>
              <a:srgbClr val="2E75B6"/>
            </a:solidFill>
            <a:prstDash val="solid"/>
          </a:ln>
        </p:spPr>
      </p:sp>
      <p:sp>
        <p:nvSpPr>
          <p:cNvPr id="10" name="Text 8"/>
          <p:cNvSpPr/>
          <p:nvPr/>
        </p:nvSpPr>
        <p:spPr>
          <a:xfrm>
            <a:off x="4937762" y="4251960"/>
            <a:ext cx="4206240" cy="320040"/>
          </a:xfrm>
          <a:prstGeom prst="rect">
            <a:avLst/>
          </a:prstGeom>
          <a:noFill/>
          <a:ln/>
        </p:spPr>
        <p:txBody>
          <a:bodyPr wrap="square" rtlCol="0" anchor="ctr"/>
          <a:lstStyle/>
          <a:p>
            <a:pPr marL="0" indent="0">
              <a:buNone/>
            </a:pPr>
            <a:r>
              <a:rPr lang="en-US" sz="1400" b="1" dirty="0">
                <a:solidFill>
                  <a:srgbClr val="FFFFFF"/>
                </a:solidFill>
              </a:rPr>
              <a:t>Ihsan Naqvi</a:t>
            </a:r>
            <a:endParaRPr lang="en-US" sz="1400" dirty="0"/>
          </a:p>
        </p:txBody>
      </p:sp>
      <p:sp>
        <p:nvSpPr>
          <p:cNvPr id="11" name="Text 9"/>
          <p:cNvSpPr/>
          <p:nvPr/>
        </p:nvSpPr>
        <p:spPr>
          <a:xfrm>
            <a:off x="4884420" y="4645152"/>
            <a:ext cx="4206240" cy="274320"/>
          </a:xfrm>
          <a:prstGeom prst="rect">
            <a:avLst/>
          </a:prstGeom>
          <a:noFill/>
          <a:ln/>
        </p:spPr>
        <p:txBody>
          <a:bodyPr wrap="square" rtlCol="0" anchor="ctr"/>
          <a:lstStyle/>
          <a:p>
            <a:pPr marL="0" indent="0">
              <a:buNone/>
            </a:pPr>
            <a:r>
              <a:rPr lang="en-US" sz="1100" b="1" i="1" dirty="0">
                <a:solidFill>
                  <a:srgbClr val="B4C7E7"/>
                </a:solidFill>
              </a:rPr>
              <a:t>Tomsk State University  ·  Tomsk  ·  2026</a:t>
            </a:r>
            <a:endParaRPr lang="en-US" sz="1100" b="1" dirty="0"/>
          </a:p>
        </p:txBody>
      </p:sp>
      <p:sp>
        <p:nvSpPr>
          <p:cNvPr id="13" name="Freeform 7">
            <a:extLst>
              <a:ext uri="{FF2B5EF4-FFF2-40B4-BE49-F238E27FC236}">
                <a16:creationId xmlns:a16="http://schemas.microsoft.com/office/drawing/2014/main" id="{F476CDFA-3683-9880-55DF-1F66123D4C3D}"/>
              </a:ext>
            </a:extLst>
          </p:cNvPr>
          <p:cNvSpPr/>
          <p:nvPr/>
        </p:nvSpPr>
        <p:spPr>
          <a:xfrm>
            <a:off x="0" y="0"/>
            <a:ext cx="4808220" cy="5172431"/>
          </a:xfrm>
          <a:custGeom>
            <a:avLst/>
            <a:gdLst/>
            <a:ahLst/>
            <a:cxnLst/>
            <a:rect l="l" t="t" r="r" b="b"/>
            <a:pathLst>
              <a:path w="11504162" h="4913478">
                <a:moveTo>
                  <a:pt x="0" y="0"/>
                </a:moveTo>
                <a:lnTo>
                  <a:pt x="11504162" y="0"/>
                </a:lnTo>
                <a:lnTo>
                  <a:pt x="11504162" y="4913479"/>
                </a:lnTo>
                <a:lnTo>
                  <a:pt x="0" y="4913479"/>
                </a:lnTo>
                <a:lnTo>
                  <a:pt x="0" y="0"/>
                </a:lnTo>
                <a:close/>
              </a:path>
            </a:pathLst>
          </a:custGeom>
          <a:blipFill>
            <a:blip r:embed="rId3"/>
            <a:stretch>
              <a:fillRect t="-777" b="-777"/>
            </a:stretch>
          </a:blipFill>
        </p:spPr>
        <p:txBody>
          <a:bodyPr/>
          <a:lstStyle/>
          <a:p>
            <a:endParaRPr lang="zh-CN" altLang="en-US" dirty="0"/>
          </a:p>
        </p:txBody>
      </p:sp>
      <p:sp>
        <p:nvSpPr>
          <p:cNvPr id="4" name="Freeform 11">
            <a:extLst>
              <a:ext uri="{FF2B5EF4-FFF2-40B4-BE49-F238E27FC236}">
                <a16:creationId xmlns:a16="http://schemas.microsoft.com/office/drawing/2014/main" id="{63A6C9C6-5FB0-3731-3514-4A77AFD8560B}"/>
              </a:ext>
            </a:extLst>
          </p:cNvPr>
          <p:cNvSpPr/>
          <p:nvPr/>
        </p:nvSpPr>
        <p:spPr>
          <a:xfrm>
            <a:off x="8412480" y="0"/>
            <a:ext cx="731520" cy="662940"/>
          </a:xfrm>
          <a:custGeom>
            <a:avLst/>
            <a:gdLst/>
            <a:ahLst/>
            <a:cxnLst/>
            <a:rect l="l" t="t" r="r" b="b"/>
            <a:pathLst>
              <a:path w="2082919" h="2138973">
                <a:moveTo>
                  <a:pt x="0" y="0"/>
                </a:moveTo>
                <a:lnTo>
                  <a:pt x="2082919" y="0"/>
                </a:lnTo>
                <a:lnTo>
                  <a:pt x="2082919" y="2138973"/>
                </a:lnTo>
                <a:lnTo>
                  <a:pt x="0" y="2138973"/>
                </a:lnTo>
                <a:lnTo>
                  <a:pt x="0" y="0"/>
                </a:lnTo>
                <a:close/>
              </a:path>
            </a:pathLst>
          </a:custGeom>
          <a:blipFill>
            <a:blip r:embed="rId4"/>
            <a:stretch>
              <a:fillRect r="-131319"/>
            </a:stretch>
          </a:blipFill>
        </p:spPr>
        <p:txBody>
          <a:bodyPr/>
          <a:lstStyle/>
          <a:p>
            <a:endParaRPr lang="zh-CN" altLang="en-US"/>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2331</TotalTime>
  <Words>2633</Words>
  <Application>Microsoft Office PowerPoint</Application>
  <PresentationFormat>On-screen Show (16:9)</PresentationFormat>
  <Paragraphs>502</Paragraphs>
  <Slides>23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-apple-system</vt:lpstr>
      <vt:lpstr>Arial</vt:lpstr>
      <vt:lpstr>Calibri</vt:lpstr>
      <vt:lpstr>Cambria Math</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ML for ICU Mortality Prediction — Final Defence</dc:title>
  <dc:subject>PptxGenJS Presentation</dc:subject>
  <dc:creator>PptxGenJS</dc:creator>
  <cp:lastModifiedBy>dell</cp:lastModifiedBy>
  <cp:revision>71</cp:revision>
  <dcterms:created xsi:type="dcterms:W3CDTF">2026-05-23T16:41:44Z</dcterms:created>
  <dcterms:modified xsi:type="dcterms:W3CDTF">2026-06-08T02:21:20Z</dcterms:modified>
</cp:coreProperties>
</file>